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76" r:id="rId26"/>
    <p:sldId id="277" r:id="rId27"/>
    <p:sldId id="257" r:id="rId6"/>
    <p:sldId id="258" r:id="rId7"/>
    <p:sldId id="259" r:id="rId8"/>
    <p:sldId id="260" r:id="rId9"/>
    <p:sldId id="278" r:id="rId28"/>
    <p:sldId id="261" r:id="rId10"/>
    <p:sldId id="262" r:id="rId11"/>
    <p:sldId id="263" r:id="rId12"/>
    <p:sldId id="264" r:id="rId13"/>
    <p:sldId id="279" r:id="rId29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1MPUrSH8+F3XVJC1MDRxV7pMy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customschemas.google.com/relationships/presentationmetadata" Target="metadata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0" name="Google Shape;64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1" name="Google Shape;75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9" name="Google Shape;87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4" name="Google Shape;106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5" name="Google Shape;111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6" name="Google Shape;119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5" name="Google Shape;129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0" name="Google Shape;135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34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2000" cy="1965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566928"/>
            <a:ext cx="8686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21792"/>
            <a:ext cx="868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EA5E9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6692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MediSync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088" y="107899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tos"/>
              </a:defRPr>
            </a:pPr>
            <a:r>
              <a:t>Doctor-Patient Appointment and Healthcare Management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423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827"/>
                </a:solidFill>
                <a:latin typeface="Aptos"/>
              </a:defRPr>
            </a:pPr>
            <a:r>
              <a:t>Software Engineering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944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97D"/>
                </a:solidFill>
                <a:latin typeface="Aptos"/>
              </a:defRPr>
            </a:pPr>
            <a:r>
              <a:t>Course: Software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EA5E9"/>
                </a:solidFill>
                <a:latin typeface="Aptos"/>
              </a:defRPr>
            </a:pPr>
            <a:r>
              <a:t>Team Members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77240" y="3794760"/>
          <a:ext cx="557784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</a:tblGrid>
              <a:tr h="381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USN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____________________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____________________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____________________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____________________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77240" y="523036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97D"/>
                </a:solidFill>
                <a:latin typeface="Aptos"/>
              </a:defRPr>
            </a:pPr>
            <a:r>
              <a:t>Guide: ____________________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5595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97D"/>
                </a:solidFill>
                <a:latin typeface="Aptos"/>
              </a:defRPr>
            </a:pPr>
            <a:r>
              <a:t>Academic Year: 2024-25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5257800"/>
            <a:ext cx="4892040" cy="438912"/>
          </a:xfrm>
          <a:prstGeom prst="roundRect">
            <a:avLst/>
          </a:prstGeom>
          <a:solidFill>
            <a:srgbClr val="E8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5294376"/>
            <a:ext cx="4892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EA5E9"/>
                </a:solidFill>
                <a:latin typeface="Aptos"/>
              </a:defRPr>
            </a:pPr>
            <a:r>
              <a:t>Android • Kotlin • Jetpack Compose • Node.js • TypeScript • PostgreSQL • MinIO • WebRTC • FCM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C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Introduction &amp; Problem Statement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" y="868680"/>
            <a:ext cx="109728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457200" y="1097280"/>
            <a:ext cx="5577840" cy="2103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457200" y="1097280"/>
            <a:ext cx="64008" cy="21031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640080" y="123444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Long Wait Times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40080" y="1691640"/>
            <a:ext cx="52120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Patients spend hours queuing; no way to check doctor availability in advance.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57200" y="3474720"/>
            <a:ext cx="5577840" cy="2103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57200" y="3474720"/>
            <a:ext cx="64008" cy="21031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40080" y="361188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No Digital Records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40080" y="4069080"/>
            <a:ext cx="52120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Medical history scattered across physical files; no unified digital access.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263640" y="1097280"/>
            <a:ext cx="5577840" cy="2103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6263640" y="1097280"/>
            <a:ext cx="64008" cy="21031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446520" y="123444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Poor Communication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446520" y="1691640"/>
            <a:ext cx="52120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direct channel between patient and doctor post-appointment.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263640" y="3474720"/>
            <a:ext cx="5577840" cy="2103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263640" y="3474720"/>
            <a:ext cx="64008" cy="21031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6446520" y="361188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Slot Management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446520" y="4069080"/>
            <a:ext cx="52120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Doctors manually manage schedules — error-prone and inefficient.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MediSync bridges the gap between patients and doctors through a unified, real-time Android platform.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C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Project Scope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57200" y="868680"/>
            <a:ext cx="109728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457200" y="1051560"/>
            <a:ext cx="5394960" cy="38404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457200" y="1051560"/>
            <a:ext cx="5394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✔  IN SCOPE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48640" y="1508760"/>
            <a:ext cx="521208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OTP-based phone authentication (Firebase)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Patient: search doctors by speciality &amp; location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Appointment booking &amp; slot management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Real-time chat (WebSockets + FCM push)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Video call signaling (WebRTC + WebSockets)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health assistant (Google Gemini API)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Medical records upload &amp; management (MinIO)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Doctor ratings &amp; reviews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Doctor: weekly schedule templates &amp; custom slots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Admin: clinic location management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309360" y="1051560"/>
            <a:ext cx="5394960" cy="384048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6309360" y="1051560"/>
            <a:ext cx="5394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  OUT OF SCOPE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400800" y="1508760"/>
            <a:ext cx="521208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Prescription generation &amp; e-pharmacy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Lab report ordering &amp; results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Insurance claim processing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Web-based patient/doctor portal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Payment gateway integration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Multi-language (i18n) support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ML-based doctor recommendation engine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iOS / cross-platform support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C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Software Development Life Cycle (SDLC)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57200" y="868680"/>
            <a:ext cx="109728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57200" y="100584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Model Adopted: Agile (Iterative &amp; Incremental)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914400" y="1600200"/>
            <a:ext cx="2011680" cy="1005840"/>
          </a:xfrm>
          <a:prstGeom prst="rect">
            <a:avLst/>
          </a:prstGeom>
          <a:solidFill>
            <a:srgbClr val="0284C7"/>
          </a:solidFill>
          <a:ln cap="flat" cmpd="sng" w="127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914400" y="1600200"/>
            <a:ext cx="2011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Elicitation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2926080" y="2011680"/>
            <a:ext cx="274320" cy="73152"/>
          </a:xfrm>
          <a:prstGeom prst="rect">
            <a:avLst/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3200400" y="1600200"/>
            <a:ext cx="2011680" cy="10058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3200400" y="1600200"/>
            <a:ext cx="2011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212080" y="2011680"/>
            <a:ext cx="274320" cy="73152"/>
          </a:xfrm>
          <a:prstGeom prst="rect">
            <a:avLst/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5486400" y="1600200"/>
            <a:ext cx="2011680" cy="10058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5486400" y="1600200"/>
            <a:ext cx="2011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(Sprint)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7498080" y="2011680"/>
            <a:ext cx="274320" cy="73152"/>
          </a:xfrm>
          <a:prstGeom prst="rect">
            <a:avLst/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7772400" y="1600200"/>
            <a:ext cx="2011680" cy="10058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7772400" y="1600200"/>
            <a:ext cx="2011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 &amp;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9784080" y="2011680"/>
            <a:ext cx="274320" cy="73152"/>
          </a:xfrm>
          <a:prstGeom prst="rect">
            <a:avLst/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10058400" y="1600200"/>
            <a:ext cx="2011680" cy="1005840"/>
          </a:xfrm>
          <a:prstGeom prst="rect">
            <a:avLst/>
          </a:prstGeom>
          <a:solidFill>
            <a:srgbClr val="BE185D"/>
          </a:solidFill>
          <a:ln cap="flat" cmpd="sng" w="12700">
            <a:solidFill>
              <a:srgbClr val="BE185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10058400" y="1600200"/>
            <a:ext cx="2011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Feedback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57200" y="27889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Justification for Agile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57200" y="3200400"/>
            <a:ext cx="64008" cy="5486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640080" y="32004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Iterative Development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40080" y="3456432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MediSync features were built in 4 sprints — auth, booking, chat/video, AI &amp; records.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57200" y="3977640"/>
            <a:ext cx="64008" cy="5486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640080" y="39776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Changing Requirements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640080" y="4233672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Real-time chat &amp; video call features were added based on interim feedback — Agile accommodates this. (Pressman, Ch.26)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57200" y="4754880"/>
            <a:ext cx="64008" cy="5486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640080" y="47548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Continuous Testing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40080" y="5010912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Each sprint included unit &amp; integration tests before merging, reducing defect accumulation.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57200" y="5532120"/>
            <a:ext cx="64008" cy="5486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640080" y="55321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Stakeholder Collaboration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40080" y="5788152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Frequent demos to potential users (doctors/patients) shaped UI/UX decisions iteratively.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7772400" y="278892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Sprint Timeline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7772400" y="3246120"/>
            <a:ext cx="54864" cy="54864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7936992" y="32461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Sprint 1 (Wk 1-3)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7936992" y="3502152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Auth, user onboarding, DB schema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7772400" y="3995928"/>
            <a:ext cx="54864" cy="54864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7936992" y="399592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Sprint 2 (Wk 4-7)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7936992" y="425196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Booking, slots, notifications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7772400" y="4745736"/>
            <a:ext cx="54864" cy="54864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7936992" y="474573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Sprint 3 (Wk 8-11)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7936992" y="5001768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Chat, video call, AI assistant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7772400" y="5495544"/>
            <a:ext cx="54864" cy="54864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7936992" y="549554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Sprint 4 (Wk 12-14)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7936992" y="5751576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Records, ratings, testing, deploy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C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Software Requirements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12648" y="91440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97D"/>
                </a:solidFill>
                <a:latin typeface="Aptos"/>
              </a:defRPr>
            </a:pPr>
            <a:r>
              <a:t>Functional and non-functional requirements in SRS style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48640" y="1170432"/>
            <a:ext cx="55321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713232" y="1335024"/>
            <a:ext cx="118872" cy="43891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32688" y="1298448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  <a:r>
              <a:t>Functional Requirements - Patient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41247" y="1737360"/>
            <a:ext cx="5120640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80">
                <a:solidFill>
                  <a:srgbClr val="111827"/>
                </a:solidFill>
                <a:latin typeface="Aptos"/>
              </a:defRPr>
            </a:pPr>
            <a:r>
              <a:t>FR-01: User shall login/register using Firebase OTP and receive JWT session token.</a:t>
            </a:r>
          </a:p>
          <a:p>
            <a:pPr>
              <a:spcAft>
                <a:spcPts val="300"/>
              </a:spcAft>
              <a:defRPr sz="980">
                <a:solidFill>
                  <a:srgbClr val="111827"/>
                </a:solidFill>
                <a:latin typeface="Aptos"/>
              </a:defRPr>
            </a:pPr>
            <a:r>
              <a:t>FR-02: Patient shall search doctors by name, speciality and consultation mode.</a:t>
            </a:r>
          </a:p>
          <a:p>
            <a:pPr>
              <a:spcAft>
                <a:spcPts val="300"/>
              </a:spcAft>
              <a:defRPr sz="980">
                <a:solidFill>
                  <a:srgbClr val="111827"/>
                </a:solidFill>
                <a:latin typeface="Aptos"/>
              </a:defRPr>
            </a:pPr>
            <a:r>
              <a:t>FR-03: Patient shall view doctor profile, rating, clinic map and book available slots.</a:t>
            </a:r>
          </a:p>
          <a:p>
            <a:pPr>
              <a:spcAft>
                <a:spcPts val="300"/>
              </a:spcAft>
              <a:defRPr sz="980">
                <a:solidFill>
                  <a:srgbClr val="111827"/>
                </a:solidFill>
                <a:latin typeface="Aptos"/>
              </a:defRPr>
            </a:pPr>
            <a:r>
              <a:t>FR-04: Patient shall view appointment list and detailed appointment information.</a:t>
            </a:r>
          </a:p>
          <a:p>
            <a:pPr>
              <a:spcAft>
                <a:spcPts val="300"/>
              </a:spcAft>
              <a:defRPr sz="980">
                <a:solidFill>
                  <a:srgbClr val="111827"/>
                </a:solidFill>
                <a:latin typeface="Aptos"/>
              </a:defRPr>
            </a:pPr>
            <a:r>
              <a:t>FR-05: Patient shall access medical records with search and image/PDF filters.</a:t>
            </a:r>
          </a:p>
          <a:p>
            <a:pPr>
              <a:spcAft>
                <a:spcPts val="300"/>
              </a:spcAft>
              <a:defRPr sz="980">
                <a:solidFill>
                  <a:srgbClr val="111827"/>
                </a:solidFill>
                <a:latin typeface="Aptos"/>
              </a:defRPr>
            </a:pPr>
            <a:r>
              <a:t>FR-06: Patient shall use AI chat for general guidance and report/image discussion.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263640" y="1170432"/>
            <a:ext cx="53949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6428231" y="1335024"/>
            <a:ext cx="118872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647688" y="12984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  <a:r>
              <a:t>Functional Requirements - Doctor/System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556248" y="1737360"/>
            <a:ext cx="4983480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80">
                <a:solidFill>
                  <a:srgbClr val="111827"/>
                </a:solidFill>
                <a:latin typeface="Aptos"/>
              </a:defRPr>
            </a:pPr>
            <a:r>
              <a:t>FR-07: Doctor shall manage personal, professional and clinic profile information.</a:t>
            </a:r>
          </a:p>
          <a:p>
            <a:pPr>
              <a:spcAft>
                <a:spcPts val="300"/>
              </a:spcAft>
              <a:defRPr sz="980">
                <a:solidFill>
                  <a:srgbClr val="111827"/>
                </a:solidFill>
                <a:latin typeface="Aptos"/>
              </a:defRPr>
            </a:pPr>
            <a:r>
              <a:t>FR-08: Doctor shall set clinic location through map picker.</a:t>
            </a:r>
          </a:p>
          <a:p>
            <a:pPr>
              <a:spcAft>
                <a:spcPts val="300"/>
              </a:spcAft>
              <a:defRPr sz="980">
                <a:solidFill>
                  <a:srgbClr val="111827"/>
                </a:solidFill>
                <a:latin typeface="Aptos"/>
              </a:defRPr>
            </a:pPr>
            <a:r>
              <a:t>FR-09: Doctor shall manage weekly template and custom appointment slots.</a:t>
            </a:r>
          </a:p>
          <a:p>
            <a:pPr>
              <a:spcAft>
                <a:spcPts val="300"/>
              </a:spcAft>
              <a:defRPr sz="980">
                <a:solidFill>
                  <a:srgbClr val="111827"/>
                </a:solidFill>
                <a:latin typeface="Aptos"/>
              </a:defRPr>
            </a:pPr>
            <a:r>
              <a:t>FR-10: Doctor shall view appointments and patient communication.</a:t>
            </a:r>
          </a:p>
          <a:p>
            <a:pPr>
              <a:spcAft>
                <a:spcPts val="300"/>
              </a:spcAft>
              <a:defRPr sz="980">
                <a:solidFill>
                  <a:srgbClr val="111827"/>
                </a:solidFill>
                <a:latin typeface="Aptos"/>
              </a:defRPr>
            </a:pPr>
            <a:r>
              <a:t>FR-11: Both users shall exchange chat messages and file attachments.</a:t>
            </a:r>
          </a:p>
          <a:p>
            <a:pPr>
              <a:spcAft>
                <a:spcPts val="300"/>
              </a:spcAft>
              <a:defRPr sz="980">
                <a:solidFill>
                  <a:srgbClr val="111827"/>
                </a:solidFill>
                <a:latin typeface="Aptos"/>
              </a:defRPr>
            </a:pPr>
            <a:r>
              <a:t>FR-12: System shall support video consultation, ratings and FCM notifications.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02920" y="64465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97D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1201400" y="64465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97D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C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System Architecture — High-Level Design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457200" y="868680"/>
            <a:ext cx="109728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457200" y="1051560"/>
            <a:ext cx="2926080" cy="2560320"/>
          </a:xfrm>
          <a:prstGeom prst="rect">
            <a:avLst/>
          </a:prstGeom>
          <a:solidFill>
            <a:srgbClr val="EFF6FF"/>
          </a:solidFill>
          <a:ln cap="flat" cmpd="sng" w="254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457200" y="105156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CLIENT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594360" y="1463040"/>
            <a:ext cx="26517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Android App</a:t>
            </a:r>
            <a:b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Kotlin + Jetpack Compose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MediSync-App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UI Modules:</a:t>
            </a:r>
            <a:b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Patient Module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Doctor Module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Chat / Video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AI Assistant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" name="Google Shape;198;p6"/>
          <p:cNvCxnSpPr/>
          <p:nvPr/>
        </p:nvCxnSpPr>
        <p:spPr>
          <a:xfrm>
            <a:off x="3383280" y="1645920"/>
            <a:ext cx="731520" cy="0"/>
          </a:xfrm>
          <a:prstGeom prst="straightConnector1">
            <a:avLst/>
          </a:prstGeom>
          <a:noFill/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" name="Google Shape;199;p6"/>
          <p:cNvCxnSpPr/>
          <p:nvPr/>
        </p:nvCxnSpPr>
        <p:spPr>
          <a:xfrm>
            <a:off x="3383280" y="2423160"/>
            <a:ext cx="731520" cy="0"/>
          </a:xfrm>
          <a:prstGeom prst="straightConnector1">
            <a:avLst/>
          </a:prstGeom>
          <a:noFill/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" name="Google Shape;200;p6"/>
          <p:cNvCxnSpPr/>
          <p:nvPr/>
        </p:nvCxnSpPr>
        <p:spPr>
          <a:xfrm>
            <a:off x="3383280" y="3200400"/>
            <a:ext cx="731520" cy="0"/>
          </a:xfrm>
          <a:prstGeom prst="straightConnector1">
            <a:avLst/>
          </a:prstGeom>
          <a:noFill/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6"/>
          <p:cNvSpPr/>
          <p:nvPr/>
        </p:nvSpPr>
        <p:spPr>
          <a:xfrm>
            <a:off x="3401568" y="20574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REST + 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4114800" y="1051560"/>
            <a:ext cx="3200400" cy="2560320"/>
          </a:xfrm>
          <a:prstGeom prst="rect">
            <a:avLst/>
          </a:prstGeom>
          <a:solidFill>
            <a:srgbClr val="F0FDF4"/>
          </a:solidFill>
          <a:ln cap="flat" cmpd="sng" w="254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4114800" y="105156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SERVER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251960" y="1463040"/>
            <a:ext cx="29260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Node.js + Express</a:t>
            </a:r>
            <a:b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TypeScript Backend</a:t>
            </a:r>
            <a:b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Modules:</a:t>
            </a:r>
            <a:b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Auth (JWT + Firebase)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Doctor / Patient APIs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Appointments + Slots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Chat (WebSocket)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Records / Upload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Ratings + AI Proxy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node-cron Scheduler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6"/>
          <p:cNvCxnSpPr/>
          <p:nvPr/>
        </p:nvCxnSpPr>
        <p:spPr>
          <a:xfrm>
            <a:off x="7315200" y="1828800"/>
            <a:ext cx="731520" cy="0"/>
          </a:xfrm>
          <a:prstGeom prst="straightConnector1">
            <a:avLst/>
          </a:prstGeom>
          <a:noFill/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" name="Google Shape;206;p6"/>
          <p:cNvCxnSpPr/>
          <p:nvPr/>
        </p:nvCxnSpPr>
        <p:spPr>
          <a:xfrm>
            <a:off x="7315200" y="2377440"/>
            <a:ext cx="731520" cy="0"/>
          </a:xfrm>
          <a:prstGeom prst="straightConnector1">
            <a:avLst/>
          </a:prstGeom>
          <a:noFill/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p6"/>
          <p:cNvCxnSpPr/>
          <p:nvPr/>
        </p:nvCxnSpPr>
        <p:spPr>
          <a:xfrm>
            <a:off x="7315200" y="2926080"/>
            <a:ext cx="731520" cy="0"/>
          </a:xfrm>
          <a:prstGeom prst="straightConnector1">
            <a:avLst/>
          </a:prstGeom>
          <a:noFill/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6"/>
          <p:cNvSpPr/>
          <p:nvPr/>
        </p:nvSpPr>
        <p:spPr>
          <a:xfrm>
            <a:off x="8046720" y="1051560"/>
            <a:ext cx="3566160" cy="2560320"/>
          </a:xfrm>
          <a:prstGeom prst="rect">
            <a:avLst/>
          </a:prstGeom>
          <a:solidFill>
            <a:srgbClr val="FFF7ED"/>
          </a:solidFill>
          <a:ln cap="flat" cmpd="sng" w="254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8046720" y="1051560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2410C"/>
                </a:solidFill>
                <a:latin typeface="Calibri"/>
                <a:ea typeface="Calibri"/>
                <a:cs typeface="Calibri"/>
                <a:sym typeface="Calibri"/>
              </a:rPr>
              <a:t>DATA &amp; SERVICES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8092440" y="1463040"/>
            <a:ext cx="347472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8183880" y="149961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2410C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8183880" y="1682496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Primary RDBMS — appointments,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users, slots, records, ratings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8092440" y="2057400"/>
            <a:ext cx="347472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8183880" y="209397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2410C"/>
                </a:solidFill>
                <a:latin typeface="Calibri"/>
                <a:ea typeface="Calibri"/>
                <a:cs typeface="Calibri"/>
                <a:sym typeface="Calibri"/>
              </a:rPr>
              <a:t>Redis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8183880" y="2276856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Session cache, JWT blacklist,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rate-limiting counters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8092440" y="2651760"/>
            <a:ext cx="347472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8183880" y="268833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2410C"/>
                </a:solidFill>
                <a:latin typeface="Calibri"/>
                <a:ea typeface="Calibri"/>
                <a:cs typeface="Calibri"/>
                <a:sym typeface="Calibri"/>
              </a:rPr>
              <a:t>MinIO (S3)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8183880" y="2871216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Medical file &amp; image object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storage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8092440" y="3246120"/>
            <a:ext cx="347472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8183880" y="328269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2410C"/>
                </a:solidFill>
                <a:latin typeface="Calibri"/>
                <a:ea typeface="Calibri"/>
                <a:cs typeface="Calibri"/>
                <a:sym typeface="Calibri"/>
              </a:rPr>
              <a:t>Firebase Auth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8183880" y="3465576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OTP phone authentication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+ identity tokens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457200" y="3794760"/>
            <a:ext cx="10972800" cy="2011680"/>
          </a:xfrm>
          <a:prstGeom prst="rect">
            <a:avLst/>
          </a:prstGeom>
          <a:solidFill>
            <a:srgbClr val="F5F3FF"/>
          </a:solidFill>
          <a:ln cap="flat" cmpd="sng" w="1905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457200" y="3794760"/>
            <a:ext cx="10972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EXTERNAL SERVICES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548640" y="4206240"/>
            <a:ext cx="210312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594360" y="42519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Firebase Cloud Messaging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594360" y="4663440"/>
            <a:ext cx="2011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Push notifications for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appointment updates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2788920" y="4206240"/>
            <a:ext cx="210312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2834640" y="42519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Firebase Auth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2834640" y="4663440"/>
            <a:ext cx="2011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OTP-based phone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5029200" y="4206240"/>
            <a:ext cx="210312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5074920" y="42519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Google Gemini 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5074920" y="4663440"/>
            <a:ext cx="2011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health assistant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chat responses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7269480" y="4206240"/>
            <a:ext cx="210312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7315200" y="42519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WebRTC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7315200" y="4663440"/>
            <a:ext cx="2011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Peer-to-peer video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call sessions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9509760" y="4206240"/>
            <a:ext cx="210312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9555480" y="42519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WebSockets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9555480" y="4663440"/>
            <a:ext cx="2011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Real-time bidirectional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chat messaging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C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Behavioral Models — Use Case Diagram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457200" y="868680"/>
            <a:ext cx="109728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2286000" y="1005840"/>
            <a:ext cx="7498080" cy="5577840"/>
          </a:xfrm>
          <a:prstGeom prst="rect">
            <a:avLst/>
          </a:prstGeom>
          <a:solidFill>
            <a:srgbClr val="F8FAFC"/>
          </a:solidFill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5303520" y="102412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MediSync System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91440" y="2377440"/>
            <a:ext cx="411480" cy="41148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9" name="Google Shape;249;p7"/>
          <p:cNvCxnSpPr/>
          <p:nvPr/>
        </p:nvCxnSpPr>
        <p:spPr>
          <a:xfrm>
            <a:off x="292608" y="2788920"/>
            <a:ext cx="0" cy="502920"/>
          </a:xfrm>
          <a:prstGeom prst="straightConnector1">
            <a:avLst/>
          </a:prstGeom>
          <a:noFill/>
          <a:ln cap="flat" cmpd="sng" w="254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7"/>
          <p:cNvCxnSpPr/>
          <p:nvPr/>
        </p:nvCxnSpPr>
        <p:spPr>
          <a:xfrm>
            <a:off x="109728" y="297180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7"/>
          <p:cNvCxnSpPr/>
          <p:nvPr/>
        </p:nvCxnSpPr>
        <p:spPr>
          <a:xfrm flipH="1">
            <a:off x="128016" y="3291840"/>
            <a:ext cx="164592" cy="320040"/>
          </a:xfrm>
          <a:prstGeom prst="straightConnector1">
            <a:avLst/>
          </a:prstGeom>
          <a:noFill/>
          <a:ln cap="flat" cmpd="sng" w="254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" name="Google Shape;252;p7"/>
          <p:cNvCxnSpPr/>
          <p:nvPr/>
        </p:nvCxnSpPr>
        <p:spPr>
          <a:xfrm>
            <a:off x="292608" y="3291840"/>
            <a:ext cx="164592" cy="320040"/>
          </a:xfrm>
          <a:prstGeom prst="straightConnector1">
            <a:avLst/>
          </a:prstGeom>
          <a:noFill/>
          <a:ln cap="flat" cmpd="sng" w="254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7"/>
          <p:cNvSpPr/>
          <p:nvPr/>
        </p:nvSpPr>
        <p:spPr>
          <a:xfrm>
            <a:off x="0" y="36576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Patient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10881360" y="2377440"/>
            <a:ext cx="411480" cy="411480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5" name="Google Shape;255;p7"/>
          <p:cNvCxnSpPr/>
          <p:nvPr/>
        </p:nvCxnSpPr>
        <p:spPr>
          <a:xfrm>
            <a:off x="11082528" y="2788920"/>
            <a:ext cx="0" cy="502920"/>
          </a:xfrm>
          <a:prstGeom prst="straightConnector1">
            <a:avLst/>
          </a:prstGeom>
          <a:noFill/>
          <a:ln cap="flat" cmpd="sng" w="254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6" name="Google Shape;256;p7"/>
          <p:cNvCxnSpPr/>
          <p:nvPr/>
        </p:nvCxnSpPr>
        <p:spPr>
          <a:xfrm>
            <a:off x="10899648" y="297180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" name="Google Shape;257;p7"/>
          <p:cNvCxnSpPr/>
          <p:nvPr/>
        </p:nvCxnSpPr>
        <p:spPr>
          <a:xfrm flipH="1">
            <a:off x="10917936" y="3291840"/>
            <a:ext cx="164592" cy="320040"/>
          </a:xfrm>
          <a:prstGeom prst="straightConnector1">
            <a:avLst/>
          </a:prstGeom>
          <a:noFill/>
          <a:ln cap="flat" cmpd="sng" w="254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7"/>
          <p:cNvCxnSpPr/>
          <p:nvPr/>
        </p:nvCxnSpPr>
        <p:spPr>
          <a:xfrm>
            <a:off x="11082528" y="3291840"/>
            <a:ext cx="164592" cy="320040"/>
          </a:xfrm>
          <a:prstGeom prst="straightConnector1">
            <a:avLst/>
          </a:prstGeom>
          <a:noFill/>
          <a:ln cap="flat" cmpd="sng" w="254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7"/>
          <p:cNvSpPr/>
          <p:nvPr/>
        </p:nvSpPr>
        <p:spPr>
          <a:xfrm>
            <a:off x="10744200" y="36576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Doctor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91440" y="5029200"/>
            <a:ext cx="411480" cy="41148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1" name="Google Shape;261;p7"/>
          <p:cNvCxnSpPr/>
          <p:nvPr/>
        </p:nvCxnSpPr>
        <p:spPr>
          <a:xfrm>
            <a:off x="292608" y="5440680"/>
            <a:ext cx="0" cy="502920"/>
          </a:xfrm>
          <a:prstGeom prst="straightConnector1">
            <a:avLst/>
          </a:prstGeom>
          <a:noFill/>
          <a:ln cap="flat" cmpd="sng" w="254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2" name="Google Shape;262;p7"/>
          <p:cNvCxnSpPr/>
          <p:nvPr/>
        </p:nvCxnSpPr>
        <p:spPr>
          <a:xfrm>
            <a:off x="109728" y="562356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3" name="Google Shape;263;p7"/>
          <p:cNvCxnSpPr/>
          <p:nvPr/>
        </p:nvCxnSpPr>
        <p:spPr>
          <a:xfrm flipH="1">
            <a:off x="128016" y="5943600"/>
            <a:ext cx="164592" cy="320040"/>
          </a:xfrm>
          <a:prstGeom prst="straightConnector1">
            <a:avLst/>
          </a:prstGeom>
          <a:noFill/>
          <a:ln cap="flat" cmpd="sng" w="254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p7"/>
          <p:cNvCxnSpPr/>
          <p:nvPr/>
        </p:nvCxnSpPr>
        <p:spPr>
          <a:xfrm>
            <a:off x="292608" y="5943600"/>
            <a:ext cx="164592" cy="320040"/>
          </a:xfrm>
          <a:prstGeom prst="straightConnector1">
            <a:avLst/>
          </a:prstGeom>
          <a:noFill/>
          <a:ln cap="flat" cmpd="sng" w="254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7"/>
          <p:cNvSpPr/>
          <p:nvPr/>
        </p:nvSpPr>
        <p:spPr>
          <a:xfrm>
            <a:off x="0" y="6291072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(Auto)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2423160" y="1417320"/>
            <a:ext cx="3200400" cy="475488"/>
          </a:xfrm>
          <a:prstGeom prst="ellipse">
            <a:avLst/>
          </a:prstGeom>
          <a:solidFill>
            <a:srgbClr val="EFF6FF"/>
          </a:solidFill>
          <a:ln cap="flat" cmpd="sng" w="1905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/>
          <p:nvPr/>
        </p:nvSpPr>
        <p:spPr>
          <a:xfrm>
            <a:off x="2423160" y="1417320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Register / Login (OTP)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7"/>
          <p:cNvCxnSpPr/>
          <p:nvPr/>
        </p:nvCxnSpPr>
        <p:spPr>
          <a:xfrm flipH="1" rot="10800000">
            <a:off x="594360" y="1655064"/>
            <a:ext cx="1828800" cy="1362456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7"/>
          <p:cNvSpPr/>
          <p:nvPr/>
        </p:nvSpPr>
        <p:spPr>
          <a:xfrm>
            <a:off x="2423160" y="2011680"/>
            <a:ext cx="3200400" cy="475488"/>
          </a:xfrm>
          <a:prstGeom prst="ellipse">
            <a:avLst/>
          </a:prstGeom>
          <a:solidFill>
            <a:srgbClr val="EFF6FF"/>
          </a:solidFill>
          <a:ln cap="flat" cmpd="sng" w="1905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2423160" y="2011680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Search Doctors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" name="Google Shape;271;p7"/>
          <p:cNvCxnSpPr/>
          <p:nvPr/>
        </p:nvCxnSpPr>
        <p:spPr>
          <a:xfrm flipH="1" rot="10800000">
            <a:off x="594360" y="2249424"/>
            <a:ext cx="1828800" cy="768096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7"/>
          <p:cNvSpPr/>
          <p:nvPr/>
        </p:nvSpPr>
        <p:spPr>
          <a:xfrm>
            <a:off x="2423160" y="2606040"/>
            <a:ext cx="3200400" cy="475488"/>
          </a:xfrm>
          <a:prstGeom prst="ellipse">
            <a:avLst/>
          </a:prstGeom>
          <a:solidFill>
            <a:srgbClr val="EFF6FF"/>
          </a:solidFill>
          <a:ln cap="flat" cmpd="sng" w="1905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2423160" y="2606040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Book Appointment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p7"/>
          <p:cNvCxnSpPr/>
          <p:nvPr/>
        </p:nvCxnSpPr>
        <p:spPr>
          <a:xfrm flipH="1" rot="10800000">
            <a:off x="594360" y="2843784"/>
            <a:ext cx="1828800" cy="173736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" name="Google Shape;275;p7"/>
          <p:cNvSpPr/>
          <p:nvPr/>
        </p:nvSpPr>
        <p:spPr>
          <a:xfrm>
            <a:off x="2423160" y="3200400"/>
            <a:ext cx="3200400" cy="475488"/>
          </a:xfrm>
          <a:prstGeom prst="ellipse">
            <a:avLst/>
          </a:prstGeom>
          <a:solidFill>
            <a:srgbClr val="EFF6FF"/>
          </a:solidFill>
          <a:ln cap="flat" cmpd="sng" w="1905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2423160" y="3200400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Chat with Doctor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" name="Google Shape;277;p7"/>
          <p:cNvCxnSpPr/>
          <p:nvPr/>
        </p:nvCxnSpPr>
        <p:spPr>
          <a:xfrm>
            <a:off x="594360" y="3017520"/>
            <a:ext cx="1828800" cy="420624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p7"/>
          <p:cNvSpPr/>
          <p:nvPr/>
        </p:nvSpPr>
        <p:spPr>
          <a:xfrm>
            <a:off x="2423160" y="3794760"/>
            <a:ext cx="3200400" cy="475488"/>
          </a:xfrm>
          <a:prstGeom prst="ellipse">
            <a:avLst/>
          </a:prstGeom>
          <a:solidFill>
            <a:srgbClr val="EFF6FF"/>
          </a:solidFill>
          <a:ln cap="flat" cmpd="sng" w="1905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7"/>
          <p:cNvSpPr/>
          <p:nvPr/>
        </p:nvSpPr>
        <p:spPr>
          <a:xfrm>
            <a:off x="2423160" y="3794760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Video Consultation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p7"/>
          <p:cNvCxnSpPr/>
          <p:nvPr/>
        </p:nvCxnSpPr>
        <p:spPr>
          <a:xfrm>
            <a:off x="594360" y="3017520"/>
            <a:ext cx="1828800" cy="1014984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7"/>
          <p:cNvSpPr/>
          <p:nvPr/>
        </p:nvSpPr>
        <p:spPr>
          <a:xfrm>
            <a:off x="2423160" y="4389120"/>
            <a:ext cx="3200400" cy="475488"/>
          </a:xfrm>
          <a:prstGeom prst="ellipse">
            <a:avLst/>
          </a:prstGeom>
          <a:solidFill>
            <a:srgbClr val="EFF6FF"/>
          </a:solidFill>
          <a:ln cap="flat" cmpd="sng" w="1905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2423160" y="4389120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AI Health Assistant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p7"/>
          <p:cNvCxnSpPr/>
          <p:nvPr/>
        </p:nvCxnSpPr>
        <p:spPr>
          <a:xfrm>
            <a:off x="594360" y="3017520"/>
            <a:ext cx="1828800" cy="1609344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7"/>
          <p:cNvSpPr/>
          <p:nvPr/>
        </p:nvSpPr>
        <p:spPr>
          <a:xfrm>
            <a:off x="2423160" y="4983480"/>
            <a:ext cx="3200400" cy="475488"/>
          </a:xfrm>
          <a:prstGeom prst="ellipse">
            <a:avLst/>
          </a:prstGeom>
          <a:solidFill>
            <a:srgbClr val="EFF6FF"/>
          </a:solidFill>
          <a:ln cap="flat" cmpd="sng" w="1905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2423160" y="4983480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Upload Medical Record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p7"/>
          <p:cNvCxnSpPr/>
          <p:nvPr/>
        </p:nvCxnSpPr>
        <p:spPr>
          <a:xfrm>
            <a:off x="594360" y="3017520"/>
            <a:ext cx="1828800" cy="2203704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7"/>
          <p:cNvSpPr/>
          <p:nvPr/>
        </p:nvSpPr>
        <p:spPr>
          <a:xfrm>
            <a:off x="2423160" y="5577840"/>
            <a:ext cx="3200400" cy="475488"/>
          </a:xfrm>
          <a:prstGeom prst="ellipse">
            <a:avLst/>
          </a:prstGeom>
          <a:solidFill>
            <a:srgbClr val="EFF6FF"/>
          </a:solidFill>
          <a:ln cap="flat" cmpd="sng" w="1905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2423160" y="5577840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Rate Doctor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9" name="Google Shape;289;p7"/>
          <p:cNvCxnSpPr/>
          <p:nvPr/>
        </p:nvCxnSpPr>
        <p:spPr>
          <a:xfrm>
            <a:off x="594360" y="3017520"/>
            <a:ext cx="1828800" cy="2798064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7"/>
          <p:cNvSpPr/>
          <p:nvPr/>
        </p:nvSpPr>
        <p:spPr>
          <a:xfrm>
            <a:off x="5989320" y="1417320"/>
            <a:ext cx="3200400" cy="475488"/>
          </a:xfrm>
          <a:prstGeom prst="ellipse">
            <a:avLst/>
          </a:prstGeom>
          <a:solidFill>
            <a:srgbClr val="F0FDF4"/>
          </a:solidFill>
          <a:ln cap="flat" cmpd="sng" w="190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"/>
          <p:cNvSpPr/>
          <p:nvPr/>
        </p:nvSpPr>
        <p:spPr>
          <a:xfrm>
            <a:off x="5989320" y="1417320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Register / Login (OTP)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" name="Google Shape;292;p7"/>
          <p:cNvCxnSpPr/>
          <p:nvPr/>
        </p:nvCxnSpPr>
        <p:spPr>
          <a:xfrm>
            <a:off x="9189720" y="1655064"/>
            <a:ext cx="1920240" cy="1362456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p7"/>
          <p:cNvSpPr/>
          <p:nvPr/>
        </p:nvSpPr>
        <p:spPr>
          <a:xfrm>
            <a:off x="5989320" y="2011680"/>
            <a:ext cx="3200400" cy="475488"/>
          </a:xfrm>
          <a:prstGeom prst="ellipse">
            <a:avLst/>
          </a:prstGeom>
          <a:solidFill>
            <a:srgbClr val="F0FDF4"/>
          </a:solidFill>
          <a:ln cap="flat" cmpd="sng" w="190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7"/>
          <p:cNvSpPr/>
          <p:nvPr/>
        </p:nvSpPr>
        <p:spPr>
          <a:xfrm>
            <a:off x="5989320" y="2011680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Manage Schedule / Slots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7"/>
          <p:cNvCxnSpPr/>
          <p:nvPr/>
        </p:nvCxnSpPr>
        <p:spPr>
          <a:xfrm>
            <a:off x="9189720" y="2249424"/>
            <a:ext cx="1920240" cy="768096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7"/>
          <p:cNvSpPr/>
          <p:nvPr/>
        </p:nvSpPr>
        <p:spPr>
          <a:xfrm>
            <a:off x="5989320" y="2606040"/>
            <a:ext cx="3200400" cy="475488"/>
          </a:xfrm>
          <a:prstGeom prst="ellipse">
            <a:avLst/>
          </a:prstGeom>
          <a:solidFill>
            <a:srgbClr val="F0FDF4"/>
          </a:solidFill>
          <a:ln cap="flat" cmpd="sng" w="190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"/>
          <p:cNvSpPr/>
          <p:nvPr/>
        </p:nvSpPr>
        <p:spPr>
          <a:xfrm>
            <a:off x="5989320" y="2606040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View Appointments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p7"/>
          <p:cNvCxnSpPr/>
          <p:nvPr/>
        </p:nvCxnSpPr>
        <p:spPr>
          <a:xfrm>
            <a:off x="9189720" y="2843784"/>
            <a:ext cx="1920240" cy="173736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7"/>
          <p:cNvSpPr/>
          <p:nvPr/>
        </p:nvSpPr>
        <p:spPr>
          <a:xfrm>
            <a:off x="5989320" y="3200400"/>
            <a:ext cx="3200400" cy="475488"/>
          </a:xfrm>
          <a:prstGeom prst="ellipse">
            <a:avLst/>
          </a:prstGeom>
          <a:solidFill>
            <a:srgbClr val="F0FDF4"/>
          </a:solidFill>
          <a:ln cap="flat" cmpd="sng" w="190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7"/>
          <p:cNvSpPr/>
          <p:nvPr/>
        </p:nvSpPr>
        <p:spPr>
          <a:xfrm>
            <a:off x="5989320" y="3200400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Chat with Patient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1" name="Google Shape;301;p7"/>
          <p:cNvCxnSpPr/>
          <p:nvPr/>
        </p:nvCxnSpPr>
        <p:spPr>
          <a:xfrm flipH="1" rot="10800000">
            <a:off x="9189720" y="3017520"/>
            <a:ext cx="1920240" cy="420624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" name="Google Shape;302;p7"/>
          <p:cNvSpPr/>
          <p:nvPr/>
        </p:nvSpPr>
        <p:spPr>
          <a:xfrm>
            <a:off x="5989320" y="3794760"/>
            <a:ext cx="3200400" cy="475488"/>
          </a:xfrm>
          <a:prstGeom prst="ellipse">
            <a:avLst/>
          </a:prstGeom>
          <a:solidFill>
            <a:srgbClr val="F0FDF4"/>
          </a:solidFill>
          <a:ln cap="flat" cmpd="sng" w="190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7"/>
          <p:cNvSpPr/>
          <p:nvPr/>
        </p:nvSpPr>
        <p:spPr>
          <a:xfrm>
            <a:off x="5989320" y="3794760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Manage Clinic Location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4" name="Google Shape;304;p7"/>
          <p:cNvCxnSpPr/>
          <p:nvPr/>
        </p:nvCxnSpPr>
        <p:spPr>
          <a:xfrm flipH="1" rot="10800000">
            <a:off x="9189720" y="3017520"/>
            <a:ext cx="1920240" cy="1014984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5" name="Google Shape;305;p7"/>
          <p:cNvSpPr/>
          <p:nvPr/>
        </p:nvSpPr>
        <p:spPr>
          <a:xfrm>
            <a:off x="5989320" y="4389120"/>
            <a:ext cx="3200400" cy="475488"/>
          </a:xfrm>
          <a:prstGeom prst="ellipse">
            <a:avLst/>
          </a:prstGeom>
          <a:solidFill>
            <a:srgbClr val="F0FDF4"/>
          </a:solidFill>
          <a:ln cap="flat" cmpd="sng" w="190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7"/>
          <p:cNvSpPr/>
          <p:nvPr/>
        </p:nvSpPr>
        <p:spPr>
          <a:xfrm>
            <a:off x="5989320" y="4389120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Edit Profile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" name="Google Shape;307;p7"/>
          <p:cNvCxnSpPr/>
          <p:nvPr/>
        </p:nvCxnSpPr>
        <p:spPr>
          <a:xfrm flipH="1" rot="10800000">
            <a:off x="9189720" y="3017520"/>
            <a:ext cx="1920240" cy="1609344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7"/>
          <p:cNvSpPr/>
          <p:nvPr/>
        </p:nvSpPr>
        <p:spPr>
          <a:xfrm>
            <a:off x="5893970" y="5010908"/>
            <a:ext cx="3200400" cy="420600"/>
          </a:xfrm>
          <a:prstGeom prst="ellipse">
            <a:avLst/>
          </a:prstGeom>
          <a:solidFill>
            <a:srgbClr val="F5F3FF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7"/>
          <p:cNvSpPr/>
          <p:nvPr/>
        </p:nvSpPr>
        <p:spPr>
          <a:xfrm>
            <a:off x="5989320" y="5010920"/>
            <a:ext cx="3200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Auto-Generate Slots (cron)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" name="Google Shape;310;p7"/>
          <p:cNvCxnSpPr/>
          <p:nvPr/>
        </p:nvCxnSpPr>
        <p:spPr>
          <a:xfrm flipH="1" rot="10800000">
            <a:off x="594360" y="5285232"/>
            <a:ext cx="2880360" cy="429768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7"/>
          <p:cNvSpPr/>
          <p:nvPr/>
        </p:nvSpPr>
        <p:spPr>
          <a:xfrm>
            <a:off x="5746695" y="5577840"/>
            <a:ext cx="3200400" cy="420600"/>
          </a:xfrm>
          <a:prstGeom prst="ellipse">
            <a:avLst/>
          </a:prstGeom>
          <a:solidFill>
            <a:srgbClr val="F5F3FF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7"/>
          <p:cNvSpPr/>
          <p:nvPr/>
        </p:nvSpPr>
        <p:spPr>
          <a:xfrm>
            <a:off x="6146395" y="5577840"/>
            <a:ext cx="3200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Send Push Notifications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" name="Google Shape;313;p7"/>
          <p:cNvCxnSpPr/>
          <p:nvPr/>
        </p:nvCxnSpPr>
        <p:spPr>
          <a:xfrm>
            <a:off x="594360" y="5715000"/>
            <a:ext cx="2880360" cy="73152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C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8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Behavioral Models — Sequence Diagram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457200" y="868680"/>
            <a:ext cx="109728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457200" y="96012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Flow: Appointment Booking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594360" y="1371600"/>
            <a:ext cx="1005840" cy="502920"/>
          </a:xfrm>
          <a:prstGeom prst="rect">
            <a:avLst/>
          </a:prstGeom>
          <a:solidFill>
            <a:srgbClr val="0284C7"/>
          </a:solidFill>
          <a:ln cap="flat" cmpd="sng" w="127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8"/>
          <p:cNvSpPr/>
          <p:nvPr/>
        </p:nvSpPr>
        <p:spPr>
          <a:xfrm>
            <a:off x="594360" y="137160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Patient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(App)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4" name="Google Shape;324;p8"/>
          <p:cNvCxnSpPr/>
          <p:nvPr/>
        </p:nvCxnSpPr>
        <p:spPr>
          <a:xfrm>
            <a:off x="1097280" y="1874520"/>
            <a:ext cx="0" cy="4617720"/>
          </a:xfrm>
          <a:prstGeom prst="straightConnector1">
            <a:avLst/>
          </a:prstGeom>
          <a:noFill/>
          <a:ln cap="flat" cmpd="sng" w="19050">
            <a:solidFill>
              <a:srgbClr val="0284C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25" name="Google Shape;325;p8"/>
          <p:cNvSpPr/>
          <p:nvPr/>
        </p:nvSpPr>
        <p:spPr>
          <a:xfrm>
            <a:off x="2423160" y="1371600"/>
            <a:ext cx="1005840" cy="5029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8"/>
          <p:cNvSpPr/>
          <p:nvPr/>
        </p:nvSpPr>
        <p:spPr>
          <a:xfrm>
            <a:off x="2423160" y="137160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Android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7" name="Google Shape;327;p8"/>
          <p:cNvCxnSpPr/>
          <p:nvPr/>
        </p:nvCxnSpPr>
        <p:spPr>
          <a:xfrm>
            <a:off x="2926080" y="1874520"/>
            <a:ext cx="0" cy="4617720"/>
          </a:xfrm>
          <a:prstGeom prst="straightConnector1">
            <a:avLst/>
          </a:prstGeom>
          <a:noFill/>
          <a:ln cap="flat" cmpd="sng" w="19050">
            <a:solidFill>
              <a:srgbClr val="0D948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28" name="Google Shape;328;p8"/>
          <p:cNvSpPr/>
          <p:nvPr/>
        </p:nvSpPr>
        <p:spPr>
          <a:xfrm>
            <a:off x="4526280" y="1371600"/>
            <a:ext cx="1005840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8"/>
          <p:cNvSpPr/>
          <p:nvPr/>
        </p:nvSpPr>
        <p:spPr>
          <a:xfrm>
            <a:off x="4526280" y="137160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REST 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0" name="Google Shape;330;p8"/>
          <p:cNvCxnSpPr/>
          <p:nvPr/>
        </p:nvCxnSpPr>
        <p:spPr>
          <a:xfrm>
            <a:off x="5029200" y="1874520"/>
            <a:ext cx="0" cy="4617720"/>
          </a:xfrm>
          <a:prstGeom prst="straightConnector1">
            <a:avLst/>
          </a:prstGeom>
          <a:noFill/>
          <a:ln cap="flat" cmpd="sng" w="19050">
            <a:solidFill>
              <a:srgbClr val="02809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31" name="Google Shape;331;p8"/>
          <p:cNvSpPr/>
          <p:nvPr/>
        </p:nvSpPr>
        <p:spPr>
          <a:xfrm>
            <a:off x="6629400" y="1371600"/>
            <a:ext cx="1005840" cy="502920"/>
          </a:xfrm>
          <a:prstGeom prst="rect">
            <a:avLst/>
          </a:prstGeom>
          <a:solidFill>
            <a:srgbClr val="C2410C"/>
          </a:solidFill>
          <a:ln cap="flat" cmpd="sng" w="12700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8"/>
          <p:cNvSpPr/>
          <p:nvPr/>
        </p:nvSpPr>
        <p:spPr>
          <a:xfrm>
            <a:off x="6629400" y="137160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" name="Google Shape;333;p8"/>
          <p:cNvCxnSpPr/>
          <p:nvPr/>
        </p:nvCxnSpPr>
        <p:spPr>
          <a:xfrm>
            <a:off x="7132320" y="1874520"/>
            <a:ext cx="0" cy="4617720"/>
          </a:xfrm>
          <a:prstGeom prst="straightConnector1">
            <a:avLst/>
          </a:prstGeom>
          <a:noFill/>
          <a:ln cap="flat" cmpd="sng" w="19050">
            <a:solidFill>
              <a:srgbClr val="C2410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34" name="Google Shape;334;p8"/>
          <p:cNvSpPr/>
          <p:nvPr/>
        </p:nvSpPr>
        <p:spPr>
          <a:xfrm>
            <a:off x="8823960" y="1371600"/>
            <a:ext cx="1005840" cy="50292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8"/>
          <p:cNvSpPr/>
          <p:nvPr/>
        </p:nvSpPr>
        <p:spPr>
          <a:xfrm>
            <a:off x="8823960" y="137160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8"/>
          <p:cNvCxnSpPr/>
          <p:nvPr/>
        </p:nvCxnSpPr>
        <p:spPr>
          <a:xfrm>
            <a:off x="9326880" y="1874520"/>
            <a:ext cx="0" cy="4617720"/>
          </a:xfrm>
          <a:prstGeom prst="straightConnector1">
            <a:avLst/>
          </a:prstGeom>
          <a:noFill/>
          <a:ln cap="flat" cmpd="sng" w="19050">
            <a:solidFill>
              <a:srgbClr val="7C3AED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37" name="Google Shape;337;p8"/>
          <p:cNvCxnSpPr/>
          <p:nvPr/>
        </p:nvCxnSpPr>
        <p:spPr>
          <a:xfrm>
            <a:off x="1097280" y="2057400"/>
            <a:ext cx="1828800" cy="0"/>
          </a:xfrm>
          <a:prstGeom prst="straightConnector1">
            <a:avLst/>
          </a:prstGeom>
          <a:noFill/>
          <a:ln cap="flat" cmpd="sng" w="228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" name="Google Shape;338;p8"/>
          <p:cNvSpPr/>
          <p:nvPr/>
        </p:nvSpPr>
        <p:spPr>
          <a:xfrm>
            <a:off x="1097280" y="185623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 Search doctors (speciality)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9" name="Google Shape;339;p8"/>
          <p:cNvCxnSpPr/>
          <p:nvPr/>
        </p:nvCxnSpPr>
        <p:spPr>
          <a:xfrm>
            <a:off x="2926080" y="2423160"/>
            <a:ext cx="2103120" cy="0"/>
          </a:xfrm>
          <a:prstGeom prst="straightConnector1">
            <a:avLst/>
          </a:prstGeom>
          <a:noFill/>
          <a:ln cap="flat" cmpd="sng" w="228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8"/>
          <p:cNvSpPr/>
          <p:nvPr/>
        </p:nvSpPr>
        <p:spPr>
          <a:xfrm>
            <a:off x="3063240" y="222199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2. GET /doctors?speciality=X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8"/>
          <p:cNvCxnSpPr/>
          <p:nvPr/>
        </p:nvCxnSpPr>
        <p:spPr>
          <a:xfrm>
            <a:off x="5029200" y="2788920"/>
            <a:ext cx="2103120" cy="0"/>
          </a:xfrm>
          <a:prstGeom prst="straightConnector1">
            <a:avLst/>
          </a:prstGeom>
          <a:noFill/>
          <a:ln cap="flat" cmpd="sng" w="228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" name="Google Shape;342;p8"/>
          <p:cNvSpPr/>
          <p:nvPr/>
        </p:nvSpPr>
        <p:spPr>
          <a:xfrm>
            <a:off x="5166360" y="258775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3. Query doctors + slots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3" name="Google Shape;343;p8"/>
          <p:cNvCxnSpPr/>
          <p:nvPr/>
        </p:nvCxnSpPr>
        <p:spPr>
          <a:xfrm>
            <a:off x="2926080" y="3154680"/>
            <a:ext cx="2103120" cy="0"/>
          </a:xfrm>
          <a:prstGeom prst="straightConnector1">
            <a:avLst/>
          </a:prstGeom>
          <a:noFill/>
          <a:ln cap="flat" cmpd="sng" w="22850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p8"/>
          <p:cNvSpPr/>
          <p:nvPr/>
        </p:nvSpPr>
        <p:spPr>
          <a:xfrm>
            <a:off x="3063240" y="295351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4. Doctor list + available slots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5" name="Google Shape;345;p8"/>
          <p:cNvCxnSpPr/>
          <p:nvPr/>
        </p:nvCxnSpPr>
        <p:spPr>
          <a:xfrm>
            <a:off x="2926080" y="3520440"/>
            <a:ext cx="2103120" cy="0"/>
          </a:xfrm>
          <a:prstGeom prst="straightConnector1">
            <a:avLst/>
          </a:prstGeom>
          <a:noFill/>
          <a:ln cap="flat" cmpd="sng" w="228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6" name="Google Shape;346;p8"/>
          <p:cNvSpPr/>
          <p:nvPr/>
        </p:nvSpPr>
        <p:spPr>
          <a:xfrm>
            <a:off x="3063240" y="331927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5. POST /appointments {slotId}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p8"/>
          <p:cNvCxnSpPr/>
          <p:nvPr/>
        </p:nvCxnSpPr>
        <p:spPr>
          <a:xfrm>
            <a:off x="5029200" y="3886200"/>
            <a:ext cx="2103120" cy="0"/>
          </a:xfrm>
          <a:prstGeom prst="straightConnector1">
            <a:avLst/>
          </a:prstGeom>
          <a:noFill/>
          <a:ln cap="flat" cmpd="sng" w="228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8" name="Google Shape;348;p8"/>
          <p:cNvSpPr/>
          <p:nvPr/>
        </p:nvSpPr>
        <p:spPr>
          <a:xfrm>
            <a:off x="5166360" y="368503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6. INSERT appointment (ACID txn)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9" name="Google Shape;349;p8"/>
          <p:cNvCxnSpPr/>
          <p:nvPr/>
        </p:nvCxnSpPr>
        <p:spPr>
          <a:xfrm>
            <a:off x="5029200" y="4251960"/>
            <a:ext cx="2103120" cy="0"/>
          </a:xfrm>
          <a:prstGeom prst="straightConnector1">
            <a:avLst/>
          </a:prstGeom>
          <a:noFill/>
          <a:ln cap="flat" cmpd="sng" w="228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0" name="Google Shape;350;p8"/>
          <p:cNvSpPr/>
          <p:nvPr/>
        </p:nvSpPr>
        <p:spPr>
          <a:xfrm>
            <a:off x="5166360" y="405079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7. UPDATE slot status = BOOKED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p8"/>
          <p:cNvCxnSpPr/>
          <p:nvPr/>
        </p:nvCxnSpPr>
        <p:spPr>
          <a:xfrm>
            <a:off x="5029200" y="4617720"/>
            <a:ext cx="2103120" cy="0"/>
          </a:xfrm>
          <a:prstGeom prst="straightConnector1">
            <a:avLst/>
          </a:prstGeom>
          <a:noFill/>
          <a:ln cap="flat" cmpd="sng" w="22850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" name="Google Shape;352;p8"/>
          <p:cNvSpPr/>
          <p:nvPr/>
        </p:nvSpPr>
        <p:spPr>
          <a:xfrm>
            <a:off x="5166360" y="441655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8. Commit + return appointmentId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3" name="Google Shape;353;p8"/>
          <p:cNvCxnSpPr/>
          <p:nvPr/>
        </p:nvCxnSpPr>
        <p:spPr>
          <a:xfrm>
            <a:off x="5029200" y="4983480"/>
            <a:ext cx="4297680" cy="0"/>
          </a:xfrm>
          <a:prstGeom prst="straightConnector1">
            <a:avLst/>
          </a:prstGeom>
          <a:noFill/>
          <a:ln cap="flat" cmpd="sng" w="228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" name="Google Shape;354;p8"/>
          <p:cNvSpPr/>
          <p:nvPr/>
        </p:nvSpPr>
        <p:spPr>
          <a:xfrm>
            <a:off x="6263640" y="478231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9. Send FCM push notification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" name="Google Shape;355;p8"/>
          <p:cNvCxnSpPr/>
          <p:nvPr/>
        </p:nvCxnSpPr>
        <p:spPr>
          <a:xfrm>
            <a:off x="2926080" y="5349240"/>
            <a:ext cx="2103120" cy="0"/>
          </a:xfrm>
          <a:prstGeom prst="straightConnector1">
            <a:avLst/>
          </a:prstGeom>
          <a:noFill/>
          <a:ln cap="flat" cmpd="sng" w="22850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p8"/>
          <p:cNvSpPr/>
          <p:nvPr/>
        </p:nvSpPr>
        <p:spPr>
          <a:xfrm>
            <a:off x="3063240" y="514807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10. 201 Created {appointmentId}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7" name="Google Shape;357;p8"/>
          <p:cNvCxnSpPr/>
          <p:nvPr/>
        </p:nvCxnSpPr>
        <p:spPr>
          <a:xfrm>
            <a:off x="1097280" y="5715000"/>
            <a:ext cx="1828800" cy="0"/>
          </a:xfrm>
          <a:prstGeom prst="straightConnector1">
            <a:avLst/>
          </a:prstGeom>
          <a:noFill/>
          <a:ln cap="flat" cmpd="sng" w="22850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" name="Google Shape;358;p8"/>
          <p:cNvSpPr/>
          <p:nvPr/>
        </p:nvSpPr>
        <p:spPr>
          <a:xfrm>
            <a:off x="1097280" y="551383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11. Show booking confirmation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C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Rectangle 36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TextBox 364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Behavioral Models — Activity &amp; State Diagrams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612648" y="91440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97D"/>
                </a:solidFill>
                <a:latin typeface="Aptos"/>
              </a:defRPr>
            </a:pPr>
            <a:r>
              <a:t>Booking activity and appointment statechart</a:t>
            </a:r>
          </a:p>
        </p:txBody>
      </p:sp>
      <p:sp>
        <p:nvSpPr>
          <p:cNvPr id="367" name="Rounded Rectangle 366"/>
          <p:cNvSpPr/>
          <p:nvPr/>
        </p:nvSpPr>
        <p:spPr>
          <a:xfrm>
            <a:off x="548640" y="1143000"/>
            <a:ext cx="480060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ounded Rectangle 367"/>
          <p:cNvSpPr/>
          <p:nvPr/>
        </p:nvSpPr>
        <p:spPr>
          <a:xfrm>
            <a:off x="713232" y="1307592"/>
            <a:ext cx="118872" cy="43891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TextBox 368"/>
          <p:cNvSpPr txBox="1"/>
          <p:nvPr/>
        </p:nvSpPr>
        <p:spPr>
          <a:xfrm>
            <a:off x="932688" y="1271016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  <a:r>
              <a:t>Activity Flow: Slot Booking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841247" y="1709928"/>
            <a:ext cx="4389120" cy="414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60">
                <a:solidFill>
                  <a:srgbClr val="111827"/>
                </a:solidFill>
                <a:latin typeface="Aptos"/>
              </a:defRPr>
            </a:pPr>
            <a:r>
              <a:t>Patient searches doctor by speciality or mode.</a:t>
            </a:r>
          </a:p>
          <a:p>
            <a:pPr>
              <a:spcAft>
                <a:spcPts val="300"/>
              </a:spcAft>
              <a:defRPr sz="960">
                <a:solidFill>
                  <a:srgbClr val="111827"/>
                </a:solidFill>
                <a:latin typeface="Aptos"/>
              </a:defRPr>
            </a:pPr>
            <a:r>
              <a:t>Patient opens doctor profile and selects Book Appointment.</a:t>
            </a:r>
          </a:p>
          <a:p>
            <a:pPr>
              <a:spcAft>
                <a:spcPts val="300"/>
              </a:spcAft>
              <a:defRPr sz="960">
                <a:solidFill>
                  <a:srgbClr val="111827"/>
                </a:solidFill>
                <a:latin typeface="Aptos"/>
              </a:defRPr>
            </a:pPr>
            <a:r>
              <a:t>Slot picker shows date-wise online/offline slots.</a:t>
            </a:r>
          </a:p>
          <a:p>
            <a:pPr>
              <a:spcAft>
                <a:spcPts val="300"/>
              </a:spcAft>
              <a:defRPr sz="960">
                <a:solidFill>
                  <a:srgbClr val="111827"/>
                </a:solidFill>
                <a:latin typeface="Aptos"/>
              </a:defRPr>
            </a:pPr>
            <a:r>
              <a:t>Patient selects a slot and confirms booking.</a:t>
            </a:r>
          </a:p>
          <a:p>
            <a:pPr>
              <a:spcAft>
                <a:spcPts val="300"/>
              </a:spcAft>
              <a:defRPr sz="960">
                <a:solidFill>
                  <a:srgbClr val="111827"/>
                </a:solidFill>
                <a:latin typeface="Aptos"/>
              </a:defRPr>
            </a:pPr>
            <a:r>
              <a:t>Backend validates slot availability and creates appointment.</a:t>
            </a:r>
          </a:p>
          <a:p>
            <a:pPr>
              <a:spcAft>
                <a:spcPts val="300"/>
              </a:spcAft>
              <a:defRPr sz="960">
                <a:solidFill>
                  <a:srgbClr val="111827"/>
                </a:solidFill>
                <a:latin typeface="Aptos"/>
              </a:defRPr>
            </a:pPr>
            <a:r>
              <a:t>Doctor receives event/notification and chat room becomes available.</a:t>
            </a:r>
          </a:p>
        </p:txBody>
      </p:sp>
      <p:sp>
        <p:nvSpPr>
          <p:cNvPr id="371" name="Oval 370"/>
          <p:cNvSpPr/>
          <p:nvPr/>
        </p:nvSpPr>
        <p:spPr>
          <a:xfrm>
            <a:off x="5760720" y="2788920"/>
            <a:ext cx="228600" cy="2286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ounded Rectangle 371"/>
          <p:cNvSpPr/>
          <p:nvPr/>
        </p:nvSpPr>
        <p:spPr>
          <a:xfrm>
            <a:off x="6309360" y="2560320"/>
            <a:ext cx="1261872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TextBox 372"/>
          <p:cNvSpPr txBox="1"/>
          <p:nvPr/>
        </p:nvSpPr>
        <p:spPr>
          <a:xfrm>
            <a:off x="6355080" y="2743199"/>
            <a:ext cx="11704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  <a:latin typeface="Aptos"/>
              </a:defRPr>
            </a:pPr>
            <a:r>
              <a:t>Slot</a:t>
            </a:r>
            <a:br/>
            <a:r>
              <a:t>Available</a:t>
            </a:r>
          </a:p>
        </p:txBody>
      </p:sp>
      <p:sp>
        <p:nvSpPr>
          <p:cNvPr id="374" name="Rounded Rectangle 373"/>
          <p:cNvSpPr/>
          <p:nvPr/>
        </p:nvSpPr>
        <p:spPr>
          <a:xfrm>
            <a:off x="7955279" y="2560320"/>
            <a:ext cx="1261872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TextBox 374"/>
          <p:cNvSpPr txBox="1"/>
          <p:nvPr/>
        </p:nvSpPr>
        <p:spPr>
          <a:xfrm>
            <a:off x="8001000" y="2743199"/>
            <a:ext cx="11704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  <a:latin typeface="Aptos"/>
              </a:defRPr>
            </a:pPr>
            <a:r>
              <a:t>Booking</a:t>
            </a:r>
            <a:br/>
            <a:r>
              <a:t>Requested</a:t>
            </a:r>
          </a:p>
        </p:txBody>
      </p:sp>
      <p:sp>
        <p:nvSpPr>
          <p:cNvPr id="376" name="Rounded Rectangle 375"/>
          <p:cNvSpPr/>
          <p:nvPr/>
        </p:nvSpPr>
        <p:spPr>
          <a:xfrm>
            <a:off x="9692640" y="2560320"/>
            <a:ext cx="1261872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TextBox 376"/>
          <p:cNvSpPr txBox="1"/>
          <p:nvPr/>
        </p:nvSpPr>
        <p:spPr>
          <a:xfrm>
            <a:off x="9738360" y="2743199"/>
            <a:ext cx="11704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  <a:latin typeface="Aptos"/>
              </a:defRPr>
            </a:pPr>
            <a:r>
              <a:t>Accepted /</a:t>
            </a:r>
            <a:br/>
            <a:r>
              <a:t>Booked</a:t>
            </a:r>
          </a:p>
        </p:txBody>
      </p:sp>
      <p:sp>
        <p:nvSpPr>
          <p:cNvPr id="378" name="Rounded Rectangle 377"/>
          <p:cNvSpPr/>
          <p:nvPr/>
        </p:nvSpPr>
        <p:spPr>
          <a:xfrm>
            <a:off x="7955279" y="1325880"/>
            <a:ext cx="1261872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TextBox 378"/>
          <p:cNvSpPr txBox="1"/>
          <p:nvPr/>
        </p:nvSpPr>
        <p:spPr>
          <a:xfrm>
            <a:off x="8001000" y="1508760"/>
            <a:ext cx="11704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  <a:latin typeface="Aptos"/>
              </a:defRPr>
            </a:pPr>
            <a:r>
              <a:t>Consultation</a:t>
            </a:r>
            <a:br/>
            <a:r>
              <a:t>Active</a:t>
            </a:r>
          </a:p>
        </p:txBody>
      </p:sp>
      <p:sp>
        <p:nvSpPr>
          <p:cNvPr id="380" name="Rounded Rectangle 379"/>
          <p:cNvSpPr/>
          <p:nvPr/>
        </p:nvSpPr>
        <p:spPr>
          <a:xfrm>
            <a:off x="9692640" y="1325880"/>
            <a:ext cx="1261872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TextBox 380"/>
          <p:cNvSpPr txBox="1"/>
          <p:nvPr/>
        </p:nvSpPr>
        <p:spPr>
          <a:xfrm>
            <a:off x="9738360" y="1508760"/>
            <a:ext cx="11704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382" name="Rounded Rectangle 381"/>
          <p:cNvSpPr/>
          <p:nvPr/>
        </p:nvSpPr>
        <p:spPr>
          <a:xfrm>
            <a:off x="7955279" y="3977639"/>
            <a:ext cx="1261872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TextBox 382"/>
          <p:cNvSpPr txBox="1"/>
          <p:nvPr/>
        </p:nvSpPr>
        <p:spPr>
          <a:xfrm>
            <a:off x="8001000" y="4160520"/>
            <a:ext cx="11704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  <a:latin typeface="Aptos"/>
              </a:defRPr>
            </a:pPr>
            <a:r>
              <a:t>Cancelled /</a:t>
            </a:r>
            <a:br/>
            <a:r>
              <a:t>Expired</a:t>
            </a:r>
          </a:p>
        </p:txBody>
      </p:sp>
      <p:sp>
        <p:nvSpPr>
          <p:cNvPr id="384" name="Rounded Rectangle 383"/>
          <p:cNvSpPr/>
          <p:nvPr/>
        </p:nvSpPr>
        <p:spPr>
          <a:xfrm>
            <a:off x="9692640" y="3977639"/>
            <a:ext cx="1261872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9738360" y="4160520"/>
            <a:ext cx="11704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  <a:latin typeface="Aptos"/>
              </a:defRPr>
            </a:pPr>
            <a:r>
              <a:t>Rated /</a:t>
            </a:r>
            <a:br/>
            <a:r>
              <a:t>Closed</a:t>
            </a:r>
          </a:p>
        </p:txBody>
      </p:sp>
      <p:cxnSp>
        <p:nvCxnSpPr>
          <p:cNvPr id="386" name="Connector 385"/>
          <p:cNvCxnSpPr/>
          <p:nvPr/>
        </p:nvCxnSpPr>
        <p:spPr>
          <a:xfrm>
            <a:off x="5989320" y="2898648"/>
            <a:ext cx="320040" cy="0"/>
          </a:xfrm>
          <a:prstGeom prst="line">
            <a:avLst/>
          </a:prstGeom>
          <a:ln w="1778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>
            <a:off x="7571231" y="2898648"/>
            <a:ext cx="384048" cy="0"/>
          </a:xfrm>
          <a:prstGeom prst="line">
            <a:avLst/>
          </a:prstGeom>
          <a:ln w="1778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>
            <a:off x="9217152" y="2898648"/>
            <a:ext cx="475488" cy="0"/>
          </a:xfrm>
          <a:prstGeom prst="line">
            <a:avLst/>
          </a:prstGeom>
          <a:ln w="1778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 flipH="1" flipV="1">
            <a:off x="8595360" y="1984248"/>
            <a:ext cx="1691640" cy="576072"/>
          </a:xfrm>
          <a:prstGeom prst="line">
            <a:avLst/>
          </a:prstGeom>
          <a:ln w="1778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>
            <a:off x="9217152" y="1645920"/>
            <a:ext cx="475488" cy="0"/>
          </a:xfrm>
          <a:prstGeom prst="line">
            <a:avLst/>
          </a:prstGeom>
          <a:ln w="1778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 flipH="1">
            <a:off x="8595360" y="3246120"/>
            <a:ext cx="1691640" cy="731519"/>
          </a:xfrm>
          <a:prstGeom prst="line">
            <a:avLst/>
          </a:prstGeom>
          <a:ln w="1778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>
            <a:off x="9217152" y="4297680"/>
            <a:ext cx="475488" cy="0"/>
          </a:xfrm>
          <a:prstGeom prst="line">
            <a:avLst/>
          </a:prstGeom>
          <a:ln w="1778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3" name="TextBox 392"/>
          <p:cNvSpPr txBox="1"/>
          <p:nvPr/>
        </p:nvSpPr>
        <p:spPr>
          <a:xfrm>
            <a:off x="5989320" y="309067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97D"/>
                </a:solidFill>
                <a:latin typeface="Aptos"/>
              </a:defRPr>
            </a:pPr>
            <a:r>
              <a:t>doctor creates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7452360" y="309067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97D"/>
                </a:solidFill>
                <a:latin typeface="Aptos"/>
              </a:defRPr>
            </a:pPr>
            <a:r>
              <a:t>patient selects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9235440" y="309067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97D"/>
                </a:solidFill>
                <a:latin typeface="Aptos"/>
              </a:defRPr>
            </a:pPr>
            <a:r>
              <a:t>confirm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8138160" y="205740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97D"/>
                </a:solidFill>
                <a:latin typeface="Aptos"/>
              </a:defRPr>
            </a:pPr>
            <a:r>
              <a:t>chat/video join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9372600" y="1828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97D"/>
                </a:solidFill>
                <a:latin typeface="Aptos"/>
              </a:defRPr>
            </a:pPr>
            <a:r>
              <a:t>finish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8001000" y="3657600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97D"/>
                </a:solidFill>
                <a:latin typeface="Aptos"/>
              </a:defRPr>
            </a:pPr>
            <a:r>
              <a:t>cancel/no-show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9372600" y="452628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97D"/>
                </a:solidFill>
                <a:latin typeface="Aptos"/>
              </a:defRPr>
            </a:pPr>
            <a:r>
              <a:t>rate doctor</a:t>
            </a:r>
          </a:p>
        </p:txBody>
      </p:sp>
      <p:sp>
        <p:nvSpPr>
          <p:cNvPr id="400" name="Rounded Rectangle 399"/>
          <p:cNvSpPr/>
          <p:nvPr/>
        </p:nvSpPr>
        <p:spPr>
          <a:xfrm>
            <a:off x="5806440" y="5166360"/>
            <a:ext cx="55778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ounded Rectangle 400"/>
          <p:cNvSpPr/>
          <p:nvPr/>
        </p:nvSpPr>
        <p:spPr>
          <a:xfrm>
            <a:off x="5971031" y="5330952"/>
            <a:ext cx="118872" cy="4389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TextBox 401"/>
          <p:cNvSpPr txBox="1"/>
          <p:nvPr/>
        </p:nvSpPr>
        <p:spPr>
          <a:xfrm>
            <a:off x="6190488" y="52943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  <a:r>
              <a:t>Statechart Note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6099048" y="5733288"/>
            <a:ext cx="5166359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80">
                <a:solidFill>
                  <a:srgbClr val="111827"/>
                </a:solidFill>
                <a:latin typeface="Aptos"/>
              </a:defRPr>
            </a:pPr>
            <a:r>
              <a:t>State machine models show states as nodes and events as transitions.</a:t>
            </a:r>
          </a:p>
          <a:p>
            <a:pPr>
              <a:spcAft>
                <a:spcPts val="300"/>
              </a:spcAft>
              <a:defRPr sz="880">
                <a:solidFill>
                  <a:srgbClr val="111827"/>
                </a:solidFill>
                <a:latin typeface="Aptos"/>
              </a:defRPr>
            </a:pPr>
            <a:r>
              <a:t>This model prevents invalid transitions such as booking an already booked slot.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502920" y="64465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97D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11201400" y="64465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97D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C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Structural Models — ER &amp; Class Diagrams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457200" y="868680"/>
            <a:ext cx="109728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0"/>
          <p:cNvSpPr/>
          <p:nvPr/>
        </p:nvSpPr>
        <p:spPr>
          <a:xfrm>
            <a:off x="457200" y="1005840"/>
            <a:ext cx="5669280" cy="5577840"/>
          </a:xfrm>
          <a:prstGeom prst="rect">
            <a:avLst/>
          </a:prstGeom>
          <a:solidFill>
            <a:srgbClr val="F8FAFC"/>
          </a:solidFill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0"/>
          <p:cNvSpPr/>
          <p:nvPr/>
        </p:nvSpPr>
        <p:spPr>
          <a:xfrm>
            <a:off x="457200" y="100584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ER Diagram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594360" y="1463040"/>
            <a:ext cx="2468880" cy="32004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0"/>
          <p:cNvSpPr/>
          <p:nvPr/>
        </p:nvSpPr>
        <p:spPr>
          <a:xfrm>
            <a:off x="594360" y="14630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594360" y="1783080"/>
            <a:ext cx="246888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0"/>
          <p:cNvSpPr/>
          <p:nvPr/>
        </p:nvSpPr>
        <p:spPr>
          <a:xfrm>
            <a:off x="685800" y="181051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user_id (PK)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685800" y="208483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phone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685800" y="235915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685800" y="263347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685800" y="290779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firebase_uid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3383280" y="1463040"/>
            <a:ext cx="2468880" cy="32004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0"/>
          <p:cNvSpPr/>
          <p:nvPr/>
        </p:nvSpPr>
        <p:spPr>
          <a:xfrm>
            <a:off x="3383280" y="14630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doctors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3383280" y="1783080"/>
            <a:ext cx="246888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0"/>
          <p:cNvSpPr/>
          <p:nvPr/>
        </p:nvSpPr>
        <p:spPr>
          <a:xfrm>
            <a:off x="3474720" y="181051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doctor_id (PK)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3474720" y="208483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2410C"/>
                </a:solidFill>
                <a:latin typeface="Calibri"/>
                <a:ea typeface="Calibri"/>
                <a:cs typeface="Calibri"/>
                <a:sym typeface="Calibri"/>
              </a:rPr>
              <a:t>user_id (FK)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3474720" y="235915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speciality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3474720" y="263347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rating_avg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0"/>
          <p:cNvSpPr/>
          <p:nvPr/>
        </p:nvSpPr>
        <p:spPr>
          <a:xfrm>
            <a:off x="3474720" y="290779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clinic_loc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0"/>
          <p:cNvSpPr/>
          <p:nvPr/>
        </p:nvSpPr>
        <p:spPr>
          <a:xfrm>
            <a:off x="594360" y="3383280"/>
            <a:ext cx="2468880" cy="32004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0"/>
          <p:cNvSpPr/>
          <p:nvPr/>
        </p:nvSpPr>
        <p:spPr>
          <a:xfrm>
            <a:off x="594360" y="33832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patients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0"/>
          <p:cNvSpPr/>
          <p:nvPr/>
        </p:nvSpPr>
        <p:spPr>
          <a:xfrm>
            <a:off x="594360" y="3703320"/>
            <a:ext cx="246888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0"/>
          <p:cNvSpPr/>
          <p:nvPr/>
        </p:nvSpPr>
        <p:spPr>
          <a:xfrm>
            <a:off x="685800" y="373075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patient_id (PK)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0"/>
          <p:cNvSpPr/>
          <p:nvPr/>
        </p:nvSpPr>
        <p:spPr>
          <a:xfrm>
            <a:off x="685800" y="400507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2410C"/>
                </a:solidFill>
                <a:latin typeface="Calibri"/>
                <a:ea typeface="Calibri"/>
                <a:cs typeface="Calibri"/>
                <a:sym typeface="Calibri"/>
              </a:rPr>
              <a:t>user_id (FK)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0"/>
          <p:cNvSpPr/>
          <p:nvPr/>
        </p:nvSpPr>
        <p:spPr>
          <a:xfrm>
            <a:off x="685800" y="427939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0"/>
          <p:cNvSpPr/>
          <p:nvPr/>
        </p:nvSpPr>
        <p:spPr>
          <a:xfrm>
            <a:off x="685800" y="455371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blood_group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0"/>
          <p:cNvSpPr/>
          <p:nvPr/>
        </p:nvSpPr>
        <p:spPr>
          <a:xfrm>
            <a:off x="3383280" y="3383280"/>
            <a:ext cx="2468880" cy="32004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0"/>
          <p:cNvSpPr/>
          <p:nvPr/>
        </p:nvSpPr>
        <p:spPr>
          <a:xfrm>
            <a:off x="3383280" y="33832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appointments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0"/>
          <p:cNvSpPr/>
          <p:nvPr/>
        </p:nvSpPr>
        <p:spPr>
          <a:xfrm>
            <a:off x="3383280" y="3703320"/>
            <a:ext cx="246888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0"/>
          <p:cNvSpPr/>
          <p:nvPr/>
        </p:nvSpPr>
        <p:spPr>
          <a:xfrm>
            <a:off x="3474720" y="373075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appt_id (PK)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0"/>
          <p:cNvSpPr/>
          <p:nvPr/>
        </p:nvSpPr>
        <p:spPr>
          <a:xfrm>
            <a:off x="3474720" y="400507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2410C"/>
                </a:solidFill>
                <a:latin typeface="Calibri"/>
                <a:ea typeface="Calibri"/>
                <a:cs typeface="Calibri"/>
                <a:sym typeface="Calibri"/>
              </a:rPr>
              <a:t>patient_id (FK)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0"/>
          <p:cNvSpPr/>
          <p:nvPr/>
        </p:nvSpPr>
        <p:spPr>
          <a:xfrm>
            <a:off x="3474720" y="427939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2410C"/>
                </a:solidFill>
                <a:latin typeface="Calibri"/>
                <a:ea typeface="Calibri"/>
                <a:cs typeface="Calibri"/>
                <a:sym typeface="Calibri"/>
              </a:rPr>
              <a:t>slot_id (FK)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0"/>
          <p:cNvSpPr/>
          <p:nvPr/>
        </p:nvSpPr>
        <p:spPr>
          <a:xfrm>
            <a:off x="3474720" y="455371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0"/>
          <p:cNvSpPr/>
          <p:nvPr/>
        </p:nvSpPr>
        <p:spPr>
          <a:xfrm>
            <a:off x="3474720" y="482803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created_at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0"/>
          <p:cNvSpPr/>
          <p:nvPr/>
        </p:nvSpPr>
        <p:spPr>
          <a:xfrm>
            <a:off x="3383280" y="5029200"/>
            <a:ext cx="2468880" cy="32004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0"/>
          <p:cNvSpPr/>
          <p:nvPr/>
        </p:nvSpPr>
        <p:spPr>
          <a:xfrm>
            <a:off x="3383280" y="50292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slots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0"/>
          <p:cNvSpPr/>
          <p:nvPr/>
        </p:nvSpPr>
        <p:spPr>
          <a:xfrm>
            <a:off x="3383280" y="5349240"/>
            <a:ext cx="246888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0"/>
          <p:cNvSpPr/>
          <p:nvPr/>
        </p:nvSpPr>
        <p:spPr>
          <a:xfrm>
            <a:off x="3474720" y="537667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slot_id (PK)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0"/>
          <p:cNvSpPr/>
          <p:nvPr/>
        </p:nvSpPr>
        <p:spPr>
          <a:xfrm>
            <a:off x="3474720" y="565099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2410C"/>
                </a:solidFill>
                <a:latin typeface="Calibri"/>
                <a:ea typeface="Calibri"/>
                <a:cs typeface="Calibri"/>
                <a:sym typeface="Calibri"/>
              </a:rPr>
              <a:t>doctor_id (FK)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0"/>
          <p:cNvSpPr/>
          <p:nvPr/>
        </p:nvSpPr>
        <p:spPr>
          <a:xfrm>
            <a:off x="3474720" y="592531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start_time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0"/>
          <p:cNvSpPr/>
          <p:nvPr/>
        </p:nvSpPr>
        <p:spPr>
          <a:xfrm>
            <a:off x="3474720" y="619963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end_time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0"/>
          <p:cNvSpPr/>
          <p:nvPr/>
        </p:nvSpPr>
        <p:spPr>
          <a:xfrm>
            <a:off x="3474720" y="647395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is_booked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0"/>
          <p:cNvSpPr/>
          <p:nvPr/>
        </p:nvSpPr>
        <p:spPr>
          <a:xfrm>
            <a:off x="594360" y="5212080"/>
            <a:ext cx="2468880" cy="32004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0"/>
          <p:cNvSpPr/>
          <p:nvPr/>
        </p:nvSpPr>
        <p:spPr>
          <a:xfrm>
            <a:off x="594360" y="52120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medical_records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0"/>
          <p:cNvSpPr/>
          <p:nvPr/>
        </p:nvSpPr>
        <p:spPr>
          <a:xfrm>
            <a:off x="594360" y="5532120"/>
            <a:ext cx="246888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0"/>
          <p:cNvSpPr/>
          <p:nvPr/>
        </p:nvSpPr>
        <p:spPr>
          <a:xfrm>
            <a:off x="685800" y="555955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record_id (PK)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0"/>
          <p:cNvSpPr/>
          <p:nvPr/>
        </p:nvSpPr>
        <p:spPr>
          <a:xfrm>
            <a:off x="685800" y="583387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2410C"/>
                </a:solidFill>
                <a:latin typeface="Calibri"/>
                <a:ea typeface="Calibri"/>
                <a:cs typeface="Calibri"/>
                <a:sym typeface="Calibri"/>
              </a:rPr>
              <a:t>patient_id (FK)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0"/>
          <p:cNvSpPr/>
          <p:nvPr/>
        </p:nvSpPr>
        <p:spPr>
          <a:xfrm>
            <a:off x="685800" y="610819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file_url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0"/>
          <p:cNvSpPr/>
          <p:nvPr/>
        </p:nvSpPr>
        <p:spPr>
          <a:xfrm>
            <a:off x="685800" y="638251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uploaded_at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7" name="Google Shape;467;p10"/>
          <p:cNvCxnSpPr/>
          <p:nvPr/>
        </p:nvCxnSpPr>
        <p:spPr>
          <a:xfrm>
            <a:off x="3063240" y="1737360"/>
            <a:ext cx="320040" cy="0"/>
          </a:xfrm>
          <a:prstGeom prst="straightConnector1">
            <a:avLst/>
          </a:prstGeom>
          <a:noFill/>
          <a:ln cap="flat" cmpd="sng" w="1905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8" name="Google Shape;468;p10"/>
          <p:cNvCxnSpPr/>
          <p:nvPr/>
        </p:nvCxnSpPr>
        <p:spPr>
          <a:xfrm>
            <a:off x="914400" y="2423160"/>
            <a:ext cx="0" cy="960120"/>
          </a:xfrm>
          <a:prstGeom prst="straightConnector1">
            <a:avLst/>
          </a:prstGeom>
          <a:noFill/>
          <a:ln cap="flat" cmpd="sng" w="1905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9" name="Google Shape;469;p10"/>
          <p:cNvCxnSpPr/>
          <p:nvPr/>
        </p:nvCxnSpPr>
        <p:spPr>
          <a:xfrm>
            <a:off x="3063240" y="3657600"/>
            <a:ext cx="320040" cy="0"/>
          </a:xfrm>
          <a:prstGeom prst="straightConnector1">
            <a:avLst/>
          </a:prstGeom>
          <a:noFill/>
          <a:ln cap="flat" cmpd="sng" w="1905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0" name="Google Shape;470;p10"/>
          <p:cNvCxnSpPr/>
          <p:nvPr/>
        </p:nvCxnSpPr>
        <p:spPr>
          <a:xfrm>
            <a:off x="4617720" y="4315968"/>
            <a:ext cx="0" cy="713232"/>
          </a:xfrm>
          <a:prstGeom prst="straightConnector1">
            <a:avLst/>
          </a:prstGeom>
          <a:noFill/>
          <a:ln cap="flat" cmpd="sng" w="1905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1" name="Google Shape;471;p10"/>
          <p:cNvSpPr/>
          <p:nvPr/>
        </p:nvSpPr>
        <p:spPr>
          <a:xfrm>
            <a:off x="502920" y="6236208"/>
            <a:ext cx="5577840" cy="274320"/>
          </a:xfrm>
          <a:prstGeom prst="rect">
            <a:avLst/>
          </a:prstGeom>
          <a:solidFill>
            <a:srgbClr val="CDEEF4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0"/>
          <p:cNvSpPr/>
          <p:nvPr/>
        </p:nvSpPr>
        <p:spPr>
          <a:xfrm>
            <a:off x="502920" y="6236208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[ Insert actual ER diagram image here — export from draw.io / dbdiagram.io 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0"/>
          <p:cNvSpPr/>
          <p:nvPr/>
        </p:nvSpPr>
        <p:spPr>
          <a:xfrm>
            <a:off x="6309360" y="1005840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Class Diagram (Simplified)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0"/>
          <p:cNvSpPr/>
          <p:nvPr/>
        </p:nvSpPr>
        <p:spPr>
          <a:xfrm>
            <a:off x="6309360" y="1417320"/>
            <a:ext cx="2194560" cy="329184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0"/>
          <p:cNvSpPr/>
          <p:nvPr/>
        </p:nvSpPr>
        <p:spPr>
          <a:xfrm>
            <a:off x="6309360" y="141732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UserService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0"/>
          <p:cNvSpPr/>
          <p:nvPr/>
        </p:nvSpPr>
        <p:spPr>
          <a:xfrm>
            <a:off x="6309360" y="1746504"/>
            <a:ext cx="219456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0"/>
          <p:cNvSpPr/>
          <p:nvPr/>
        </p:nvSpPr>
        <p:spPr>
          <a:xfrm>
            <a:off x="6382512" y="178308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+ login(phone)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0"/>
          <p:cNvSpPr/>
          <p:nvPr/>
        </p:nvSpPr>
        <p:spPr>
          <a:xfrm>
            <a:off x="6382512" y="210312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+ verifyOTP(otp)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6382512" y="242316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+ getProfile()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0"/>
          <p:cNvSpPr/>
          <p:nvPr/>
        </p:nvSpPr>
        <p:spPr>
          <a:xfrm>
            <a:off x="8686800" y="1417320"/>
            <a:ext cx="2194560" cy="329184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0"/>
          <p:cNvSpPr/>
          <p:nvPr/>
        </p:nvSpPr>
        <p:spPr>
          <a:xfrm>
            <a:off x="8686800" y="141732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DoctorService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0"/>
          <p:cNvSpPr/>
          <p:nvPr/>
        </p:nvSpPr>
        <p:spPr>
          <a:xfrm>
            <a:off x="8686800" y="1746504"/>
            <a:ext cx="219456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0"/>
          <p:cNvSpPr/>
          <p:nvPr/>
        </p:nvSpPr>
        <p:spPr>
          <a:xfrm>
            <a:off x="8759952" y="178308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+ searchDoctors(filter)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0"/>
          <p:cNvSpPr/>
          <p:nvPr/>
        </p:nvSpPr>
        <p:spPr>
          <a:xfrm>
            <a:off x="8759952" y="210312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+ getSlots(doctorId)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0"/>
          <p:cNvSpPr/>
          <p:nvPr/>
        </p:nvSpPr>
        <p:spPr>
          <a:xfrm>
            <a:off x="8759952" y="242316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+ updateProfile()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0"/>
          <p:cNvSpPr/>
          <p:nvPr/>
        </p:nvSpPr>
        <p:spPr>
          <a:xfrm>
            <a:off x="6309360" y="2926080"/>
            <a:ext cx="2194560" cy="329184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0"/>
          <p:cNvSpPr/>
          <p:nvPr/>
        </p:nvSpPr>
        <p:spPr>
          <a:xfrm>
            <a:off x="6309360" y="292608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AppointmentService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0"/>
          <p:cNvSpPr/>
          <p:nvPr/>
        </p:nvSpPr>
        <p:spPr>
          <a:xfrm>
            <a:off x="6309360" y="3255264"/>
            <a:ext cx="219456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0"/>
          <p:cNvSpPr/>
          <p:nvPr/>
        </p:nvSpPr>
        <p:spPr>
          <a:xfrm>
            <a:off x="6382512" y="329184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+ bookSlot(slotId)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0"/>
          <p:cNvSpPr/>
          <p:nvPr/>
        </p:nvSpPr>
        <p:spPr>
          <a:xfrm>
            <a:off x="6382512" y="361188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+ cancelAppointment(id)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0"/>
          <p:cNvSpPr/>
          <p:nvPr/>
        </p:nvSpPr>
        <p:spPr>
          <a:xfrm>
            <a:off x="6382512" y="393192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+ getHistory()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0"/>
          <p:cNvSpPr/>
          <p:nvPr/>
        </p:nvSpPr>
        <p:spPr>
          <a:xfrm>
            <a:off x="8686800" y="2926080"/>
            <a:ext cx="2194560" cy="329184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0"/>
          <p:cNvSpPr/>
          <p:nvPr/>
        </p:nvSpPr>
        <p:spPr>
          <a:xfrm>
            <a:off x="8686800" y="292608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ChatService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0"/>
          <p:cNvSpPr/>
          <p:nvPr/>
        </p:nvSpPr>
        <p:spPr>
          <a:xfrm>
            <a:off x="8686800" y="3255264"/>
            <a:ext cx="219456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0"/>
          <p:cNvSpPr/>
          <p:nvPr/>
        </p:nvSpPr>
        <p:spPr>
          <a:xfrm>
            <a:off x="8759952" y="329184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+ sendMessage(msg)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0"/>
          <p:cNvSpPr/>
          <p:nvPr/>
        </p:nvSpPr>
        <p:spPr>
          <a:xfrm>
            <a:off x="8759952" y="361188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+ getMessages(room)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8759952" y="393192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+ connectWS()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0"/>
          <p:cNvSpPr/>
          <p:nvPr/>
        </p:nvSpPr>
        <p:spPr>
          <a:xfrm>
            <a:off x="6309360" y="4434840"/>
            <a:ext cx="2194560" cy="329184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0"/>
          <p:cNvSpPr/>
          <p:nvPr/>
        </p:nvSpPr>
        <p:spPr>
          <a:xfrm>
            <a:off x="6309360" y="443484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RecordService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0"/>
          <p:cNvSpPr/>
          <p:nvPr/>
        </p:nvSpPr>
        <p:spPr>
          <a:xfrm>
            <a:off x="6309360" y="4764024"/>
            <a:ext cx="219456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0"/>
          <p:cNvSpPr/>
          <p:nvPr/>
        </p:nvSpPr>
        <p:spPr>
          <a:xfrm>
            <a:off x="6382512" y="480060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+ uploadFile(file)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0"/>
          <p:cNvSpPr/>
          <p:nvPr/>
        </p:nvSpPr>
        <p:spPr>
          <a:xfrm>
            <a:off x="6382512" y="512064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+ getRecords(patientId)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0"/>
          <p:cNvSpPr/>
          <p:nvPr/>
        </p:nvSpPr>
        <p:spPr>
          <a:xfrm>
            <a:off x="6382512" y="544068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+ deleteRecord(id)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0"/>
          <p:cNvSpPr/>
          <p:nvPr/>
        </p:nvSpPr>
        <p:spPr>
          <a:xfrm>
            <a:off x="8686800" y="4434840"/>
            <a:ext cx="2194560" cy="329184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0"/>
          <p:cNvSpPr/>
          <p:nvPr/>
        </p:nvSpPr>
        <p:spPr>
          <a:xfrm>
            <a:off x="8686800" y="443484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AIAssistant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0"/>
          <p:cNvSpPr/>
          <p:nvPr/>
        </p:nvSpPr>
        <p:spPr>
          <a:xfrm>
            <a:off x="8686800" y="4764024"/>
            <a:ext cx="219456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0"/>
          <p:cNvSpPr/>
          <p:nvPr/>
        </p:nvSpPr>
        <p:spPr>
          <a:xfrm>
            <a:off x="8759952" y="480060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+ sendQuery(text)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0"/>
          <p:cNvSpPr/>
          <p:nvPr/>
        </p:nvSpPr>
        <p:spPr>
          <a:xfrm>
            <a:off x="8759952" y="512064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+ getResponse()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0"/>
          <p:cNvSpPr/>
          <p:nvPr/>
        </p:nvSpPr>
        <p:spPr>
          <a:xfrm>
            <a:off x="8759952" y="544068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+ clearHistory()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0" name="Google Shape;510;p10"/>
          <p:cNvCxnSpPr/>
          <p:nvPr/>
        </p:nvCxnSpPr>
        <p:spPr>
          <a:xfrm>
            <a:off x="7406640" y="2112264"/>
            <a:ext cx="1280160" cy="0"/>
          </a:xfrm>
          <a:prstGeom prst="straightConnector1">
            <a:avLst/>
          </a:prstGeom>
          <a:noFill/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1" name="Google Shape;511;p10"/>
          <p:cNvCxnSpPr/>
          <p:nvPr/>
        </p:nvCxnSpPr>
        <p:spPr>
          <a:xfrm>
            <a:off x="7406640" y="3621024"/>
            <a:ext cx="1280160" cy="0"/>
          </a:xfrm>
          <a:prstGeom prst="straightConnector1">
            <a:avLst/>
          </a:prstGeom>
          <a:noFill/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2" name="Google Shape;512;p10"/>
          <p:cNvCxnSpPr/>
          <p:nvPr/>
        </p:nvCxnSpPr>
        <p:spPr>
          <a:xfrm>
            <a:off x="7406640" y="5138928"/>
            <a:ext cx="1280160" cy="0"/>
          </a:xfrm>
          <a:prstGeom prst="straightConnector1">
            <a:avLst/>
          </a:prstGeom>
          <a:noFill/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C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Data Flow Diagram (DFD)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1"/>
          <p:cNvSpPr/>
          <p:nvPr/>
        </p:nvSpPr>
        <p:spPr>
          <a:xfrm>
            <a:off x="457200" y="868680"/>
            <a:ext cx="109728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1"/>
          <p:cNvSpPr/>
          <p:nvPr/>
        </p:nvSpPr>
        <p:spPr>
          <a:xfrm>
            <a:off x="457200" y="9601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Level 0 — Context Diagram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1"/>
          <p:cNvSpPr/>
          <p:nvPr/>
        </p:nvSpPr>
        <p:spPr>
          <a:xfrm>
            <a:off x="274320" y="1828800"/>
            <a:ext cx="1371600" cy="54864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1"/>
          <p:cNvSpPr/>
          <p:nvPr/>
        </p:nvSpPr>
        <p:spPr>
          <a:xfrm>
            <a:off x="274320" y="182880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Patient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1"/>
          <p:cNvSpPr/>
          <p:nvPr/>
        </p:nvSpPr>
        <p:spPr>
          <a:xfrm>
            <a:off x="10424160" y="1828800"/>
            <a:ext cx="1371600" cy="54864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1"/>
          <p:cNvSpPr/>
          <p:nvPr/>
        </p:nvSpPr>
        <p:spPr>
          <a:xfrm>
            <a:off x="10424160" y="182880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1"/>
          <p:cNvSpPr/>
          <p:nvPr/>
        </p:nvSpPr>
        <p:spPr>
          <a:xfrm>
            <a:off x="4800600" y="1508760"/>
            <a:ext cx="2743200" cy="1645920"/>
          </a:xfrm>
          <a:prstGeom prst="ellipse">
            <a:avLst/>
          </a:prstGeom>
          <a:solidFill>
            <a:srgbClr val="CDEEF4"/>
          </a:solidFill>
          <a:ln cap="flat" cmpd="sng" w="317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1"/>
          <p:cNvSpPr/>
          <p:nvPr/>
        </p:nvSpPr>
        <p:spPr>
          <a:xfrm>
            <a:off x="4800600" y="1508760"/>
            <a:ext cx="27432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MediSync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7" name="Google Shape;527;p11"/>
          <p:cNvCxnSpPr/>
          <p:nvPr/>
        </p:nvCxnSpPr>
        <p:spPr>
          <a:xfrm>
            <a:off x="1645920" y="2103120"/>
            <a:ext cx="3154680" cy="0"/>
          </a:xfrm>
          <a:prstGeom prst="straightConnector1">
            <a:avLst/>
          </a:prstGeom>
          <a:noFill/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8" name="Google Shape;528;p11"/>
          <p:cNvSpPr/>
          <p:nvPr/>
        </p:nvSpPr>
        <p:spPr>
          <a:xfrm>
            <a:off x="1645920" y="187452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Booking req / Login / Records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9" name="Google Shape;529;p11"/>
          <p:cNvCxnSpPr/>
          <p:nvPr/>
        </p:nvCxnSpPr>
        <p:spPr>
          <a:xfrm rot="10800000">
            <a:off x="1645920" y="2468880"/>
            <a:ext cx="3200400" cy="0"/>
          </a:xfrm>
          <a:prstGeom prst="straightConnector1">
            <a:avLst/>
          </a:prstGeom>
          <a:noFill/>
          <a:ln cap="flat" cmpd="sng" w="25400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0" name="Google Shape;530;p11"/>
          <p:cNvSpPr/>
          <p:nvPr/>
        </p:nvSpPr>
        <p:spPr>
          <a:xfrm>
            <a:off x="1645920" y="248716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2410C"/>
                </a:solidFill>
                <a:latin typeface="Calibri"/>
                <a:ea typeface="Calibri"/>
                <a:cs typeface="Calibri"/>
                <a:sym typeface="Calibri"/>
              </a:rPr>
              <a:t>Confirmation / Data / AI response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1" name="Google Shape;531;p11"/>
          <p:cNvCxnSpPr/>
          <p:nvPr/>
        </p:nvCxnSpPr>
        <p:spPr>
          <a:xfrm>
            <a:off x="7543800" y="2103120"/>
            <a:ext cx="2880360" cy="0"/>
          </a:xfrm>
          <a:prstGeom prst="straightConnector1">
            <a:avLst/>
          </a:prstGeom>
          <a:noFill/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2" name="Google Shape;532;p11"/>
          <p:cNvSpPr/>
          <p:nvPr/>
        </p:nvSpPr>
        <p:spPr>
          <a:xfrm>
            <a:off x="7589520" y="1874520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Profile / Slots / Appointments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3" name="Google Shape;533;p11"/>
          <p:cNvCxnSpPr/>
          <p:nvPr/>
        </p:nvCxnSpPr>
        <p:spPr>
          <a:xfrm rot="10800000">
            <a:off x="7543800" y="2468880"/>
            <a:ext cx="2880360" cy="0"/>
          </a:xfrm>
          <a:prstGeom prst="straightConnector1">
            <a:avLst/>
          </a:prstGeom>
          <a:noFill/>
          <a:ln cap="flat" cmpd="sng" w="25400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4" name="Google Shape;534;p11"/>
          <p:cNvSpPr/>
          <p:nvPr/>
        </p:nvSpPr>
        <p:spPr>
          <a:xfrm>
            <a:off x="7589520" y="248716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2410C"/>
                </a:solidFill>
                <a:latin typeface="Calibri"/>
                <a:ea typeface="Calibri"/>
                <a:cs typeface="Calibri"/>
                <a:sym typeface="Calibri"/>
              </a:rPr>
              <a:t>Schedule / Patient info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1"/>
          <p:cNvSpPr/>
          <p:nvPr/>
        </p:nvSpPr>
        <p:spPr>
          <a:xfrm>
            <a:off x="457200" y="3337560"/>
            <a:ext cx="10972800" cy="3657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1"/>
          <p:cNvSpPr/>
          <p:nvPr/>
        </p:nvSpPr>
        <p:spPr>
          <a:xfrm>
            <a:off x="457200" y="34290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Level 1 — DFD (Decomposed Processes)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1"/>
          <p:cNvSpPr/>
          <p:nvPr/>
        </p:nvSpPr>
        <p:spPr>
          <a:xfrm>
            <a:off x="365760" y="3931920"/>
            <a:ext cx="1554480" cy="1097280"/>
          </a:xfrm>
          <a:prstGeom prst="ellipse">
            <a:avLst/>
          </a:prstGeom>
          <a:solidFill>
            <a:srgbClr val="CDEEF4"/>
          </a:solidFill>
          <a:ln cap="flat" cmpd="sng" w="228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1"/>
          <p:cNvSpPr/>
          <p:nvPr/>
        </p:nvSpPr>
        <p:spPr>
          <a:xfrm>
            <a:off x="365760" y="3931920"/>
            <a:ext cx="1554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1"/>
          <p:cNvSpPr/>
          <p:nvPr/>
        </p:nvSpPr>
        <p:spPr>
          <a:xfrm>
            <a:off x="2560320" y="3931920"/>
            <a:ext cx="1554480" cy="1097280"/>
          </a:xfrm>
          <a:prstGeom prst="ellipse">
            <a:avLst/>
          </a:prstGeom>
          <a:solidFill>
            <a:srgbClr val="CDEEF4"/>
          </a:solidFill>
          <a:ln cap="flat" cmpd="sng" w="228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1"/>
          <p:cNvSpPr/>
          <p:nvPr/>
        </p:nvSpPr>
        <p:spPr>
          <a:xfrm>
            <a:off x="2560320" y="3931920"/>
            <a:ext cx="1554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Booking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1"/>
          <p:cNvSpPr/>
          <p:nvPr/>
        </p:nvSpPr>
        <p:spPr>
          <a:xfrm>
            <a:off x="4754880" y="3931920"/>
            <a:ext cx="1554480" cy="1097280"/>
          </a:xfrm>
          <a:prstGeom prst="ellipse">
            <a:avLst/>
          </a:prstGeom>
          <a:solidFill>
            <a:srgbClr val="CDEEF4"/>
          </a:solidFill>
          <a:ln cap="flat" cmpd="sng" w="228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1"/>
          <p:cNvSpPr/>
          <p:nvPr/>
        </p:nvSpPr>
        <p:spPr>
          <a:xfrm>
            <a:off x="4754880" y="3931920"/>
            <a:ext cx="1554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3.0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Chat 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Video Call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1"/>
          <p:cNvSpPr/>
          <p:nvPr/>
        </p:nvSpPr>
        <p:spPr>
          <a:xfrm>
            <a:off x="6949440" y="3931920"/>
            <a:ext cx="1554480" cy="1097280"/>
          </a:xfrm>
          <a:prstGeom prst="ellipse">
            <a:avLst/>
          </a:prstGeom>
          <a:solidFill>
            <a:srgbClr val="CDEEF4"/>
          </a:solidFill>
          <a:ln cap="flat" cmpd="sng" w="228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1"/>
          <p:cNvSpPr/>
          <p:nvPr/>
        </p:nvSpPr>
        <p:spPr>
          <a:xfrm>
            <a:off x="6949440" y="3931920"/>
            <a:ext cx="1554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4.0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AI Health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Assistant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1"/>
          <p:cNvSpPr/>
          <p:nvPr/>
        </p:nvSpPr>
        <p:spPr>
          <a:xfrm>
            <a:off x="9144000" y="3931920"/>
            <a:ext cx="1554480" cy="1097280"/>
          </a:xfrm>
          <a:prstGeom prst="ellipse">
            <a:avLst/>
          </a:prstGeom>
          <a:solidFill>
            <a:srgbClr val="CDEEF4"/>
          </a:solidFill>
          <a:ln cap="flat" cmpd="sng" w="228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1"/>
          <p:cNvSpPr/>
          <p:nvPr/>
        </p:nvSpPr>
        <p:spPr>
          <a:xfrm>
            <a:off x="9144000" y="3931920"/>
            <a:ext cx="1554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5.0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Records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Mgmt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7" name="Google Shape;547;p11"/>
          <p:cNvCxnSpPr/>
          <p:nvPr/>
        </p:nvCxnSpPr>
        <p:spPr>
          <a:xfrm>
            <a:off x="548640" y="5303520"/>
            <a:ext cx="2286000" cy="0"/>
          </a:xfrm>
          <a:prstGeom prst="straightConnector1">
            <a:avLst/>
          </a:prstGeom>
          <a:noFill/>
          <a:ln cap="flat" cmpd="sng" w="254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8" name="Google Shape;548;p11"/>
          <p:cNvCxnSpPr/>
          <p:nvPr/>
        </p:nvCxnSpPr>
        <p:spPr>
          <a:xfrm>
            <a:off x="548640" y="5669280"/>
            <a:ext cx="2286000" cy="0"/>
          </a:xfrm>
          <a:prstGeom prst="straightConnector1">
            <a:avLst/>
          </a:prstGeom>
          <a:noFill/>
          <a:ln cap="flat" cmpd="sng" w="254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9" name="Google Shape;549;p11"/>
          <p:cNvCxnSpPr/>
          <p:nvPr/>
        </p:nvCxnSpPr>
        <p:spPr>
          <a:xfrm>
            <a:off x="548640" y="5303520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0" name="Google Shape;550;p11"/>
          <p:cNvSpPr/>
          <p:nvPr/>
        </p:nvSpPr>
        <p:spPr>
          <a:xfrm>
            <a:off x="621792" y="537667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D1  PostgreSQL DB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1" name="Google Shape;551;p11"/>
          <p:cNvCxnSpPr/>
          <p:nvPr/>
        </p:nvCxnSpPr>
        <p:spPr>
          <a:xfrm>
            <a:off x="3017520" y="5303520"/>
            <a:ext cx="2286000" cy="0"/>
          </a:xfrm>
          <a:prstGeom prst="straightConnector1">
            <a:avLst/>
          </a:prstGeom>
          <a:noFill/>
          <a:ln cap="flat" cmpd="sng" w="254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2" name="Google Shape;552;p11"/>
          <p:cNvCxnSpPr/>
          <p:nvPr/>
        </p:nvCxnSpPr>
        <p:spPr>
          <a:xfrm>
            <a:off x="3017520" y="5669280"/>
            <a:ext cx="2286000" cy="0"/>
          </a:xfrm>
          <a:prstGeom prst="straightConnector1">
            <a:avLst/>
          </a:prstGeom>
          <a:noFill/>
          <a:ln cap="flat" cmpd="sng" w="254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3" name="Google Shape;553;p11"/>
          <p:cNvCxnSpPr/>
          <p:nvPr/>
        </p:nvCxnSpPr>
        <p:spPr>
          <a:xfrm>
            <a:off x="3017520" y="5303520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4" name="Google Shape;554;p11"/>
          <p:cNvSpPr/>
          <p:nvPr/>
        </p:nvSpPr>
        <p:spPr>
          <a:xfrm>
            <a:off x="3090672" y="537667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D2  Redis Cache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5" name="Google Shape;555;p11"/>
          <p:cNvCxnSpPr/>
          <p:nvPr/>
        </p:nvCxnSpPr>
        <p:spPr>
          <a:xfrm>
            <a:off x="5943600" y="5303520"/>
            <a:ext cx="2286000" cy="0"/>
          </a:xfrm>
          <a:prstGeom prst="straightConnector1">
            <a:avLst/>
          </a:prstGeom>
          <a:noFill/>
          <a:ln cap="flat" cmpd="sng" w="254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6" name="Google Shape;556;p11"/>
          <p:cNvCxnSpPr/>
          <p:nvPr/>
        </p:nvCxnSpPr>
        <p:spPr>
          <a:xfrm>
            <a:off x="5943600" y="5669280"/>
            <a:ext cx="2286000" cy="0"/>
          </a:xfrm>
          <a:prstGeom prst="straightConnector1">
            <a:avLst/>
          </a:prstGeom>
          <a:noFill/>
          <a:ln cap="flat" cmpd="sng" w="254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7" name="Google Shape;557;p11"/>
          <p:cNvCxnSpPr/>
          <p:nvPr/>
        </p:nvCxnSpPr>
        <p:spPr>
          <a:xfrm>
            <a:off x="5943600" y="5303520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8" name="Google Shape;558;p11"/>
          <p:cNvSpPr/>
          <p:nvPr/>
        </p:nvSpPr>
        <p:spPr>
          <a:xfrm>
            <a:off x="6016752" y="537667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D3  MinIO Object Store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9" name="Google Shape;559;p11"/>
          <p:cNvCxnSpPr/>
          <p:nvPr/>
        </p:nvCxnSpPr>
        <p:spPr>
          <a:xfrm>
            <a:off x="8869680" y="5303520"/>
            <a:ext cx="2286000" cy="0"/>
          </a:xfrm>
          <a:prstGeom prst="straightConnector1">
            <a:avLst/>
          </a:prstGeom>
          <a:noFill/>
          <a:ln cap="flat" cmpd="sng" w="254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0" name="Google Shape;560;p11"/>
          <p:cNvCxnSpPr/>
          <p:nvPr/>
        </p:nvCxnSpPr>
        <p:spPr>
          <a:xfrm>
            <a:off x="8869680" y="5669280"/>
            <a:ext cx="2286000" cy="0"/>
          </a:xfrm>
          <a:prstGeom prst="straightConnector1">
            <a:avLst/>
          </a:prstGeom>
          <a:noFill/>
          <a:ln cap="flat" cmpd="sng" w="254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1" name="Google Shape;561;p11"/>
          <p:cNvCxnSpPr/>
          <p:nvPr/>
        </p:nvCxnSpPr>
        <p:spPr>
          <a:xfrm>
            <a:off x="8869680" y="5303520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2" name="Google Shape;562;p11"/>
          <p:cNvSpPr/>
          <p:nvPr/>
        </p:nvSpPr>
        <p:spPr>
          <a:xfrm>
            <a:off x="8942832" y="537667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D4  Firebase Auth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C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2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Detailed Design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2"/>
          <p:cNvSpPr/>
          <p:nvPr/>
        </p:nvSpPr>
        <p:spPr>
          <a:xfrm>
            <a:off x="457200" y="868680"/>
            <a:ext cx="109728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2"/>
          <p:cNvSpPr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API Routes Overview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2"/>
          <p:cNvSpPr/>
          <p:nvPr/>
        </p:nvSpPr>
        <p:spPr>
          <a:xfrm>
            <a:off x="457200" y="1389888"/>
            <a:ext cx="594360" cy="32918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2"/>
          <p:cNvSpPr/>
          <p:nvPr/>
        </p:nvSpPr>
        <p:spPr>
          <a:xfrm>
            <a:off x="457200" y="1389888"/>
            <a:ext cx="594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2"/>
          <p:cNvSpPr/>
          <p:nvPr/>
        </p:nvSpPr>
        <p:spPr>
          <a:xfrm>
            <a:off x="1097280" y="140817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/auth/send-otp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2"/>
          <p:cNvSpPr/>
          <p:nvPr/>
        </p:nvSpPr>
        <p:spPr>
          <a:xfrm>
            <a:off x="3520440" y="1408176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Send OTP via Firebase Phone Auth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2"/>
          <p:cNvSpPr/>
          <p:nvPr/>
        </p:nvSpPr>
        <p:spPr>
          <a:xfrm>
            <a:off x="457200" y="1865376"/>
            <a:ext cx="594360" cy="32918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2"/>
          <p:cNvSpPr/>
          <p:nvPr/>
        </p:nvSpPr>
        <p:spPr>
          <a:xfrm>
            <a:off x="457200" y="1865376"/>
            <a:ext cx="594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2"/>
          <p:cNvSpPr/>
          <p:nvPr/>
        </p:nvSpPr>
        <p:spPr>
          <a:xfrm>
            <a:off x="1097280" y="188366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/auth/verify-otp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2"/>
          <p:cNvSpPr/>
          <p:nvPr/>
        </p:nvSpPr>
        <p:spPr>
          <a:xfrm>
            <a:off x="3520440" y="188366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Verify OTP and issue JWT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2"/>
          <p:cNvSpPr/>
          <p:nvPr/>
        </p:nvSpPr>
        <p:spPr>
          <a:xfrm>
            <a:off x="457200" y="2340864"/>
            <a:ext cx="594360" cy="32918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2"/>
          <p:cNvSpPr/>
          <p:nvPr/>
        </p:nvSpPr>
        <p:spPr>
          <a:xfrm>
            <a:off x="457200" y="2340864"/>
            <a:ext cx="594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2"/>
          <p:cNvSpPr/>
          <p:nvPr/>
        </p:nvSpPr>
        <p:spPr>
          <a:xfrm>
            <a:off x="1097280" y="235915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/doctors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2"/>
          <p:cNvSpPr/>
          <p:nvPr/>
        </p:nvSpPr>
        <p:spPr>
          <a:xfrm>
            <a:off x="3520440" y="235915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Search doctors (filter by speciality, rating)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2"/>
          <p:cNvSpPr/>
          <p:nvPr/>
        </p:nvSpPr>
        <p:spPr>
          <a:xfrm>
            <a:off x="457200" y="2816352"/>
            <a:ext cx="594360" cy="32918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2"/>
          <p:cNvSpPr/>
          <p:nvPr/>
        </p:nvSpPr>
        <p:spPr>
          <a:xfrm>
            <a:off x="457200" y="2816352"/>
            <a:ext cx="594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2"/>
          <p:cNvSpPr/>
          <p:nvPr/>
        </p:nvSpPr>
        <p:spPr>
          <a:xfrm>
            <a:off x="1097280" y="28346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/doctors/:id/slots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2"/>
          <p:cNvSpPr/>
          <p:nvPr/>
        </p:nvSpPr>
        <p:spPr>
          <a:xfrm>
            <a:off x="3520440" y="28346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Get available slots for a doctor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2"/>
          <p:cNvSpPr/>
          <p:nvPr/>
        </p:nvSpPr>
        <p:spPr>
          <a:xfrm>
            <a:off x="457200" y="3291840"/>
            <a:ext cx="594360" cy="32918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2"/>
          <p:cNvSpPr/>
          <p:nvPr/>
        </p:nvSpPr>
        <p:spPr>
          <a:xfrm>
            <a:off x="457200" y="3291840"/>
            <a:ext cx="594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2"/>
          <p:cNvSpPr/>
          <p:nvPr/>
        </p:nvSpPr>
        <p:spPr>
          <a:xfrm>
            <a:off x="1097280" y="331012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/appointments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2"/>
          <p:cNvSpPr/>
          <p:nvPr/>
        </p:nvSpPr>
        <p:spPr>
          <a:xfrm>
            <a:off x="3520440" y="331012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Book a slot (ACID transaction)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2"/>
          <p:cNvSpPr/>
          <p:nvPr/>
        </p:nvSpPr>
        <p:spPr>
          <a:xfrm>
            <a:off x="457200" y="3767328"/>
            <a:ext cx="594360" cy="32918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2"/>
          <p:cNvSpPr/>
          <p:nvPr/>
        </p:nvSpPr>
        <p:spPr>
          <a:xfrm>
            <a:off x="457200" y="3767328"/>
            <a:ext cx="594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2"/>
          <p:cNvSpPr/>
          <p:nvPr/>
        </p:nvSpPr>
        <p:spPr>
          <a:xfrm>
            <a:off x="1097280" y="378561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/appointments/:id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2"/>
          <p:cNvSpPr/>
          <p:nvPr/>
        </p:nvSpPr>
        <p:spPr>
          <a:xfrm>
            <a:off x="3520440" y="3785616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Update appointment status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2"/>
          <p:cNvSpPr/>
          <p:nvPr/>
        </p:nvSpPr>
        <p:spPr>
          <a:xfrm>
            <a:off x="457200" y="4242816"/>
            <a:ext cx="594360" cy="32918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2"/>
          <p:cNvSpPr/>
          <p:nvPr/>
        </p:nvSpPr>
        <p:spPr>
          <a:xfrm>
            <a:off x="457200" y="4242816"/>
            <a:ext cx="594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2"/>
          <p:cNvSpPr/>
          <p:nvPr/>
        </p:nvSpPr>
        <p:spPr>
          <a:xfrm>
            <a:off x="1097280" y="426110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/patients/:id/records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2"/>
          <p:cNvSpPr/>
          <p:nvPr/>
        </p:nvSpPr>
        <p:spPr>
          <a:xfrm>
            <a:off x="3520440" y="426110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Retrieve patient medical records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2"/>
          <p:cNvSpPr/>
          <p:nvPr/>
        </p:nvSpPr>
        <p:spPr>
          <a:xfrm>
            <a:off x="457200" y="4718304"/>
            <a:ext cx="594360" cy="32918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2"/>
          <p:cNvSpPr/>
          <p:nvPr/>
        </p:nvSpPr>
        <p:spPr>
          <a:xfrm>
            <a:off x="457200" y="4718304"/>
            <a:ext cx="594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2"/>
          <p:cNvSpPr/>
          <p:nvPr/>
        </p:nvSpPr>
        <p:spPr>
          <a:xfrm>
            <a:off x="1097280" y="473659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/upload/record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2"/>
          <p:cNvSpPr/>
          <p:nvPr/>
        </p:nvSpPr>
        <p:spPr>
          <a:xfrm>
            <a:off x="3520440" y="473659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Upload file to MinIO (multipart)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2"/>
          <p:cNvSpPr/>
          <p:nvPr/>
        </p:nvSpPr>
        <p:spPr>
          <a:xfrm>
            <a:off x="457200" y="5193792"/>
            <a:ext cx="594360" cy="32918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2"/>
          <p:cNvSpPr/>
          <p:nvPr/>
        </p:nvSpPr>
        <p:spPr>
          <a:xfrm>
            <a:off x="457200" y="5193792"/>
            <a:ext cx="594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2"/>
          <p:cNvSpPr/>
          <p:nvPr/>
        </p:nvSpPr>
        <p:spPr>
          <a:xfrm>
            <a:off x="1097280" y="52120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/ai/query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2"/>
          <p:cNvSpPr/>
          <p:nvPr/>
        </p:nvSpPr>
        <p:spPr>
          <a:xfrm>
            <a:off x="3520440" y="52120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Forward query to Gemini 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2"/>
          <p:cNvSpPr/>
          <p:nvPr/>
        </p:nvSpPr>
        <p:spPr>
          <a:xfrm>
            <a:off x="457200" y="5669280"/>
            <a:ext cx="594360" cy="32918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2"/>
          <p:cNvSpPr/>
          <p:nvPr/>
        </p:nvSpPr>
        <p:spPr>
          <a:xfrm>
            <a:off x="457200" y="5669280"/>
            <a:ext cx="594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2"/>
          <p:cNvSpPr/>
          <p:nvPr/>
        </p:nvSpPr>
        <p:spPr>
          <a:xfrm>
            <a:off x="1097280" y="568756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/ratings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2"/>
          <p:cNvSpPr/>
          <p:nvPr/>
        </p:nvSpPr>
        <p:spPr>
          <a:xfrm>
            <a:off x="3520440" y="568756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Submit doctor rating + review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2"/>
          <p:cNvSpPr/>
          <p:nvPr/>
        </p:nvSpPr>
        <p:spPr>
          <a:xfrm>
            <a:off x="6400800" y="10058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WebSocket Real-Time Chat Design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2"/>
          <p:cNvSpPr/>
          <p:nvPr/>
        </p:nvSpPr>
        <p:spPr>
          <a:xfrm>
            <a:off x="6400800" y="1389888"/>
            <a:ext cx="2011680" cy="329184"/>
          </a:xfrm>
          <a:prstGeom prst="rect">
            <a:avLst/>
          </a:prstGeom>
          <a:solidFill>
            <a:srgbClr val="CDEEF4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2"/>
          <p:cNvSpPr/>
          <p:nvPr/>
        </p:nvSpPr>
        <p:spPr>
          <a:xfrm>
            <a:off x="6400800" y="1389888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connect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2"/>
          <p:cNvSpPr/>
          <p:nvPr/>
        </p:nvSpPr>
        <p:spPr>
          <a:xfrm>
            <a:off x="8503920" y="14173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Client authenticates with JWT token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2"/>
          <p:cNvSpPr/>
          <p:nvPr/>
        </p:nvSpPr>
        <p:spPr>
          <a:xfrm>
            <a:off x="6400800" y="1865376"/>
            <a:ext cx="2011680" cy="329184"/>
          </a:xfrm>
          <a:prstGeom prst="rect">
            <a:avLst/>
          </a:prstGeom>
          <a:solidFill>
            <a:srgbClr val="CDEEF4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2"/>
          <p:cNvSpPr/>
          <p:nvPr/>
        </p:nvSpPr>
        <p:spPr>
          <a:xfrm>
            <a:off x="6400800" y="1865376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join_room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2"/>
          <p:cNvSpPr/>
          <p:nvPr/>
        </p:nvSpPr>
        <p:spPr>
          <a:xfrm>
            <a:off x="8503920" y="189280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User joins chat room (appointmentId)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2"/>
          <p:cNvSpPr/>
          <p:nvPr/>
        </p:nvSpPr>
        <p:spPr>
          <a:xfrm>
            <a:off x="6400800" y="2340864"/>
            <a:ext cx="2011680" cy="329184"/>
          </a:xfrm>
          <a:prstGeom prst="rect">
            <a:avLst/>
          </a:prstGeom>
          <a:solidFill>
            <a:srgbClr val="CDEEF4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2"/>
          <p:cNvSpPr/>
          <p:nvPr/>
        </p:nvSpPr>
        <p:spPr>
          <a:xfrm>
            <a:off x="6400800" y="2340864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send_message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2"/>
          <p:cNvSpPr/>
          <p:nvPr/>
        </p:nvSpPr>
        <p:spPr>
          <a:xfrm>
            <a:off x="8503920" y="236829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Emits message to room; persisted in DB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2"/>
          <p:cNvSpPr/>
          <p:nvPr/>
        </p:nvSpPr>
        <p:spPr>
          <a:xfrm>
            <a:off x="6400800" y="2816352"/>
            <a:ext cx="2011680" cy="329184"/>
          </a:xfrm>
          <a:prstGeom prst="rect">
            <a:avLst/>
          </a:prstGeom>
          <a:solidFill>
            <a:srgbClr val="CDEEF4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2"/>
          <p:cNvSpPr/>
          <p:nvPr/>
        </p:nvSpPr>
        <p:spPr>
          <a:xfrm>
            <a:off x="6400800" y="2816352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receive_message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2"/>
          <p:cNvSpPr/>
          <p:nvPr/>
        </p:nvSpPr>
        <p:spPr>
          <a:xfrm>
            <a:off x="8503920" y="2843784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Server broadcasts to all room members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2"/>
          <p:cNvSpPr/>
          <p:nvPr/>
        </p:nvSpPr>
        <p:spPr>
          <a:xfrm>
            <a:off x="6400800" y="3291840"/>
            <a:ext cx="2011680" cy="329184"/>
          </a:xfrm>
          <a:prstGeom prst="rect">
            <a:avLst/>
          </a:prstGeom>
          <a:solidFill>
            <a:srgbClr val="CDEEF4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2"/>
          <p:cNvSpPr/>
          <p:nvPr/>
        </p:nvSpPr>
        <p:spPr>
          <a:xfrm>
            <a:off x="6400800" y="329184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video_offer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2"/>
          <p:cNvSpPr/>
          <p:nvPr/>
        </p:nvSpPr>
        <p:spPr>
          <a:xfrm>
            <a:off x="8503920" y="331927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WebRTC SDP offer signaling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2"/>
          <p:cNvSpPr/>
          <p:nvPr/>
        </p:nvSpPr>
        <p:spPr>
          <a:xfrm>
            <a:off x="6400800" y="3767328"/>
            <a:ext cx="2011680" cy="329184"/>
          </a:xfrm>
          <a:prstGeom prst="rect">
            <a:avLst/>
          </a:prstGeom>
          <a:solidFill>
            <a:srgbClr val="CDEEF4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2"/>
          <p:cNvSpPr/>
          <p:nvPr/>
        </p:nvSpPr>
        <p:spPr>
          <a:xfrm>
            <a:off x="6400800" y="3767328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video_answer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2"/>
          <p:cNvSpPr/>
          <p:nvPr/>
        </p:nvSpPr>
        <p:spPr>
          <a:xfrm>
            <a:off x="8503920" y="37947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WebRTC SDP answer signaling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2"/>
          <p:cNvSpPr/>
          <p:nvPr/>
        </p:nvSpPr>
        <p:spPr>
          <a:xfrm>
            <a:off x="6400800" y="4242816"/>
            <a:ext cx="2011680" cy="329184"/>
          </a:xfrm>
          <a:prstGeom prst="rect">
            <a:avLst/>
          </a:prstGeom>
          <a:solidFill>
            <a:srgbClr val="CDEEF4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2"/>
          <p:cNvSpPr/>
          <p:nvPr/>
        </p:nvSpPr>
        <p:spPr>
          <a:xfrm>
            <a:off x="6400800" y="4242816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ice_candidate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2"/>
          <p:cNvSpPr/>
          <p:nvPr/>
        </p:nvSpPr>
        <p:spPr>
          <a:xfrm>
            <a:off x="8503920" y="427024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ICE candidate exchange for NAT traversal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2"/>
          <p:cNvSpPr/>
          <p:nvPr/>
        </p:nvSpPr>
        <p:spPr>
          <a:xfrm>
            <a:off x="6400800" y="4718304"/>
            <a:ext cx="2011680" cy="329184"/>
          </a:xfrm>
          <a:prstGeom prst="rect">
            <a:avLst/>
          </a:prstGeom>
          <a:solidFill>
            <a:srgbClr val="CDEEF4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2"/>
          <p:cNvSpPr/>
          <p:nvPr/>
        </p:nvSpPr>
        <p:spPr>
          <a:xfrm>
            <a:off x="6400800" y="4718304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disconnect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2"/>
          <p:cNvSpPr/>
          <p:nvPr/>
        </p:nvSpPr>
        <p:spPr>
          <a:xfrm>
            <a:off x="8503920" y="474573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Cleans up room membership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2"/>
          <p:cNvSpPr/>
          <p:nvPr/>
        </p:nvSpPr>
        <p:spPr>
          <a:xfrm>
            <a:off x="457200" y="621792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Key DB Schema Highlights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2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appointments: ACID transactional booking with slot lock | slots: FK to doctors, auto-generated via node-cron | medical_records: metadata in PG + binary in MinIO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C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3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Implementation Details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3"/>
          <p:cNvSpPr/>
          <p:nvPr/>
        </p:nvSpPr>
        <p:spPr>
          <a:xfrm>
            <a:off x="457200" y="868680"/>
            <a:ext cx="109728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3"/>
          <p:cNvSpPr/>
          <p:nvPr/>
        </p:nvSpPr>
        <p:spPr>
          <a:xfrm>
            <a:off x="457200" y="9601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3"/>
          <p:cNvSpPr/>
          <p:nvPr/>
        </p:nvSpPr>
        <p:spPr>
          <a:xfrm>
            <a:off x="457200" y="1298448"/>
            <a:ext cx="1828800" cy="384048"/>
          </a:xfrm>
          <a:prstGeom prst="rect">
            <a:avLst/>
          </a:prstGeom>
          <a:solidFill>
            <a:srgbClr val="0A2342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3"/>
          <p:cNvSpPr/>
          <p:nvPr/>
        </p:nvSpPr>
        <p:spPr>
          <a:xfrm>
            <a:off x="530352" y="1316736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3"/>
          <p:cNvSpPr/>
          <p:nvPr/>
        </p:nvSpPr>
        <p:spPr>
          <a:xfrm>
            <a:off x="2286000" y="1298448"/>
            <a:ext cx="2926080" cy="384048"/>
          </a:xfrm>
          <a:prstGeom prst="rect">
            <a:avLst/>
          </a:prstGeom>
          <a:solidFill>
            <a:srgbClr val="0A2342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3"/>
          <p:cNvSpPr/>
          <p:nvPr/>
        </p:nvSpPr>
        <p:spPr>
          <a:xfrm>
            <a:off x="2359152" y="1316736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3"/>
          <p:cNvSpPr/>
          <p:nvPr/>
        </p:nvSpPr>
        <p:spPr>
          <a:xfrm>
            <a:off x="5212080" y="1298448"/>
            <a:ext cx="4114800" cy="384048"/>
          </a:xfrm>
          <a:prstGeom prst="rect">
            <a:avLst/>
          </a:prstGeom>
          <a:solidFill>
            <a:srgbClr val="0A2342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3"/>
          <p:cNvSpPr/>
          <p:nvPr/>
        </p:nvSpPr>
        <p:spPr>
          <a:xfrm>
            <a:off x="5285232" y="1316736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Purpose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3"/>
          <p:cNvSpPr/>
          <p:nvPr/>
        </p:nvSpPr>
        <p:spPr>
          <a:xfrm>
            <a:off x="457200" y="1728216"/>
            <a:ext cx="1828800" cy="384048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3"/>
          <p:cNvSpPr/>
          <p:nvPr/>
        </p:nvSpPr>
        <p:spPr>
          <a:xfrm>
            <a:off x="530352" y="1746504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Mobile Client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3"/>
          <p:cNvSpPr/>
          <p:nvPr/>
        </p:nvSpPr>
        <p:spPr>
          <a:xfrm>
            <a:off x="2286000" y="1728216"/>
            <a:ext cx="2926080" cy="384048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3"/>
          <p:cNvSpPr/>
          <p:nvPr/>
        </p:nvSpPr>
        <p:spPr>
          <a:xfrm>
            <a:off x="2359152" y="1746504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Kotlin + Jetpack Compose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3"/>
          <p:cNvSpPr/>
          <p:nvPr/>
        </p:nvSpPr>
        <p:spPr>
          <a:xfrm>
            <a:off x="5212080" y="1728216"/>
            <a:ext cx="4114800" cy="384048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3"/>
          <p:cNvSpPr/>
          <p:nvPr/>
        </p:nvSpPr>
        <p:spPr>
          <a:xfrm>
            <a:off x="5285232" y="1746504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Android UI with declarative components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3"/>
          <p:cNvSpPr/>
          <p:nvPr/>
        </p:nvSpPr>
        <p:spPr>
          <a:xfrm>
            <a:off x="457200" y="2157984"/>
            <a:ext cx="18288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3"/>
          <p:cNvSpPr/>
          <p:nvPr/>
        </p:nvSpPr>
        <p:spPr>
          <a:xfrm>
            <a:off x="530352" y="2176272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State Management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3"/>
          <p:cNvSpPr/>
          <p:nvPr/>
        </p:nvSpPr>
        <p:spPr>
          <a:xfrm>
            <a:off x="2286000" y="2157984"/>
            <a:ext cx="29260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3"/>
          <p:cNvSpPr/>
          <p:nvPr/>
        </p:nvSpPr>
        <p:spPr>
          <a:xfrm>
            <a:off x="2359152" y="2176272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ViewModel + StateFlow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3"/>
          <p:cNvSpPr/>
          <p:nvPr/>
        </p:nvSpPr>
        <p:spPr>
          <a:xfrm>
            <a:off x="5212080" y="2157984"/>
            <a:ext cx="41148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3"/>
          <p:cNvSpPr/>
          <p:nvPr/>
        </p:nvSpPr>
        <p:spPr>
          <a:xfrm>
            <a:off x="5285232" y="217627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MVVM architecture pattern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3"/>
          <p:cNvSpPr/>
          <p:nvPr/>
        </p:nvSpPr>
        <p:spPr>
          <a:xfrm>
            <a:off x="457200" y="2587752"/>
            <a:ext cx="1828800" cy="384048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3"/>
          <p:cNvSpPr/>
          <p:nvPr/>
        </p:nvSpPr>
        <p:spPr>
          <a:xfrm>
            <a:off x="530352" y="260604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3"/>
          <p:cNvSpPr/>
          <p:nvPr/>
        </p:nvSpPr>
        <p:spPr>
          <a:xfrm>
            <a:off x="2286000" y="2587752"/>
            <a:ext cx="2926080" cy="384048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3"/>
          <p:cNvSpPr/>
          <p:nvPr/>
        </p:nvSpPr>
        <p:spPr>
          <a:xfrm>
            <a:off x="2359152" y="260604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Node.js + Express (TypeScript)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3"/>
          <p:cNvSpPr/>
          <p:nvPr/>
        </p:nvSpPr>
        <p:spPr>
          <a:xfrm>
            <a:off x="5212080" y="2587752"/>
            <a:ext cx="4114800" cy="384048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3"/>
          <p:cNvSpPr/>
          <p:nvPr/>
        </p:nvSpPr>
        <p:spPr>
          <a:xfrm>
            <a:off x="5285232" y="2606040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REST API + WebSocket server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3"/>
          <p:cNvSpPr/>
          <p:nvPr/>
        </p:nvSpPr>
        <p:spPr>
          <a:xfrm>
            <a:off x="457200" y="3017520"/>
            <a:ext cx="18288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3"/>
          <p:cNvSpPr/>
          <p:nvPr/>
        </p:nvSpPr>
        <p:spPr>
          <a:xfrm>
            <a:off x="530352" y="3035808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3"/>
          <p:cNvSpPr/>
          <p:nvPr/>
        </p:nvSpPr>
        <p:spPr>
          <a:xfrm>
            <a:off x="2286000" y="3017520"/>
            <a:ext cx="29260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3"/>
          <p:cNvSpPr/>
          <p:nvPr/>
        </p:nvSpPr>
        <p:spPr>
          <a:xfrm>
            <a:off x="2359152" y="3035808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PostgreSQL 15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3"/>
          <p:cNvSpPr/>
          <p:nvPr/>
        </p:nvSpPr>
        <p:spPr>
          <a:xfrm>
            <a:off x="5212080" y="3017520"/>
            <a:ext cx="41148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3"/>
          <p:cNvSpPr/>
          <p:nvPr/>
        </p:nvSpPr>
        <p:spPr>
          <a:xfrm>
            <a:off x="5285232" y="3035808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Primary RDBMS — ACID transactions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3"/>
          <p:cNvSpPr/>
          <p:nvPr/>
        </p:nvSpPr>
        <p:spPr>
          <a:xfrm>
            <a:off x="457200" y="3447288"/>
            <a:ext cx="1828800" cy="384048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3"/>
          <p:cNvSpPr/>
          <p:nvPr/>
        </p:nvSpPr>
        <p:spPr>
          <a:xfrm>
            <a:off x="530352" y="3465576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Cache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3"/>
          <p:cNvSpPr/>
          <p:nvPr/>
        </p:nvSpPr>
        <p:spPr>
          <a:xfrm>
            <a:off x="2286000" y="3447288"/>
            <a:ext cx="2926080" cy="384048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3"/>
          <p:cNvSpPr/>
          <p:nvPr/>
        </p:nvSpPr>
        <p:spPr>
          <a:xfrm>
            <a:off x="2359152" y="3465576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Redis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3"/>
          <p:cNvSpPr/>
          <p:nvPr/>
        </p:nvSpPr>
        <p:spPr>
          <a:xfrm>
            <a:off x="5212080" y="3447288"/>
            <a:ext cx="4114800" cy="384048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13"/>
          <p:cNvSpPr/>
          <p:nvPr/>
        </p:nvSpPr>
        <p:spPr>
          <a:xfrm>
            <a:off x="5285232" y="3465576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Session store, rate limiting, pub/sub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3"/>
          <p:cNvSpPr/>
          <p:nvPr/>
        </p:nvSpPr>
        <p:spPr>
          <a:xfrm>
            <a:off x="457200" y="3877056"/>
            <a:ext cx="18288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3"/>
          <p:cNvSpPr/>
          <p:nvPr/>
        </p:nvSpPr>
        <p:spPr>
          <a:xfrm>
            <a:off x="530352" y="3895344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File Storage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3"/>
          <p:cNvSpPr/>
          <p:nvPr/>
        </p:nvSpPr>
        <p:spPr>
          <a:xfrm>
            <a:off x="2286000" y="3877056"/>
            <a:ext cx="29260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3"/>
          <p:cNvSpPr/>
          <p:nvPr/>
        </p:nvSpPr>
        <p:spPr>
          <a:xfrm>
            <a:off x="2359152" y="3895344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MinIO (S3-compatible)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3"/>
          <p:cNvSpPr/>
          <p:nvPr/>
        </p:nvSpPr>
        <p:spPr>
          <a:xfrm>
            <a:off x="5212080" y="3877056"/>
            <a:ext cx="41148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13"/>
          <p:cNvSpPr/>
          <p:nvPr/>
        </p:nvSpPr>
        <p:spPr>
          <a:xfrm>
            <a:off x="5285232" y="3895344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Medical record binary files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3"/>
          <p:cNvSpPr/>
          <p:nvPr/>
        </p:nvSpPr>
        <p:spPr>
          <a:xfrm>
            <a:off x="457200" y="4306824"/>
            <a:ext cx="1828800" cy="384048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3"/>
          <p:cNvSpPr/>
          <p:nvPr/>
        </p:nvSpPr>
        <p:spPr>
          <a:xfrm>
            <a:off x="530352" y="4325112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Auth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3"/>
          <p:cNvSpPr/>
          <p:nvPr/>
        </p:nvSpPr>
        <p:spPr>
          <a:xfrm>
            <a:off x="2286000" y="4306824"/>
            <a:ext cx="2926080" cy="384048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3"/>
          <p:cNvSpPr/>
          <p:nvPr/>
        </p:nvSpPr>
        <p:spPr>
          <a:xfrm>
            <a:off x="2359152" y="4325112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Firebase Auth + JWT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3"/>
          <p:cNvSpPr/>
          <p:nvPr/>
        </p:nvSpPr>
        <p:spPr>
          <a:xfrm>
            <a:off x="5212080" y="4306824"/>
            <a:ext cx="4114800" cy="384048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3"/>
          <p:cNvSpPr/>
          <p:nvPr/>
        </p:nvSpPr>
        <p:spPr>
          <a:xfrm>
            <a:off x="5285232" y="432511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OTP login + stateless API auth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3"/>
          <p:cNvSpPr/>
          <p:nvPr/>
        </p:nvSpPr>
        <p:spPr>
          <a:xfrm>
            <a:off x="457200" y="4736592"/>
            <a:ext cx="18288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3"/>
          <p:cNvSpPr/>
          <p:nvPr/>
        </p:nvSpPr>
        <p:spPr>
          <a:xfrm>
            <a:off x="530352" y="475488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Real-time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3"/>
          <p:cNvSpPr/>
          <p:nvPr/>
        </p:nvSpPr>
        <p:spPr>
          <a:xfrm>
            <a:off x="2286000" y="4736592"/>
            <a:ext cx="29260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13"/>
          <p:cNvSpPr/>
          <p:nvPr/>
        </p:nvSpPr>
        <p:spPr>
          <a:xfrm>
            <a:off x="2359152" y="475488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WebSockets (ws library)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3"/>
          <p:cNvSpPr/>
          <p:nvPr/>
        </p:nvSpPr>
        <p:spPr>
          <a:xfrm>
            <a:off x="5212080" y="4736592"/>
            <a:ext cx="41148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3"/>
          <p:cNvSpPr/>
          <p:nvPr/>
        </p:nvSpPr>
        <p:spPr>
          <a:xfrm>
            <a:off x="5285232" y="4754880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Chat messages + video signaling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3"/>
          <p:cNvSpPr/>
          <p:nvPr/>
        </p:nvSpPr>
        <p:spPr>
          <a:xfrm>
            <a:off x="457200" y="5166360"/>
            <a:ext cx="1828800" cy="384048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3"/>
          <p:cNvSpPr/>
          <p:nvPr/>
        </p:nvSpPr>
        <p:spPr>
          <a:xfrm>
            <a:off x="530352" y="5184648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3"/>
          <p:cNvSpPr/>
          <p:nvPr/>
        </p:nvSpPr>
        <p:spPr>
          <a:xfrm>
            <a:off x="2286000" y="5166360"/>
            <a:ext cx="2926080" cy="384048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3"/>
          <p:cNvSpPr/>
          <p:nvPr/>
        </p:nvSpPr>
        <p:spPr>
          <a:xfrm>
            <a:off x="2359152" y="5184648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Google Gemini 1.5 Flash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3"/>
          <p:cNvSpPr/>
          <p:nvPr/>
        </p:nvSpPr>
        <p:spPr>
          <a:xfrm>
            <a:off x="5212080" y="5166360"/>
            <a:ext cx="4114800" cy="384048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3"/>
          <p:cNvSpPr/>
          <p:nvPr/>
        </p:nvSpPr>
        <p:spPr>
          <a:xfrm>
            <a:off x="5285232" y="5184648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health assistant responses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3"/>
          <p:cNvSpPr/>
          <p:nvPr/>
        </p:nvSpPr>
        <p:spPr>
          <a:xfrm>
            <a:off x="457200" y="5596128"/>
            <a:ext cx="18288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3"/>
          <p:cNvSpPr/>
          <p:nvPr/>
        </p:nvSpPr>
        <p:spPr>
          <a:xfrm>
            <a:off x="530352" y="5614416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Push Notif.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3"/>
          <p:cNvSpPr/>
          <p:nvPr/>
        </p:nvSpPr>
        <p:spPr>
          <a:xfrm>
            <a:off x="2286000" y="5596128"/>
            <a:ext cx="29260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3"/>
          <p:cNvSpPr/>
          <p:nvPr/>
        </p:nvSpPr>
        <p:spPr>
          <a:xfrm>
            <a:off x="2359152" y="5614416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Firebase Cloud Messaging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3"/>
          <p:cNvSpPr/>
          <p:nvPr/>
        </p:nvSpPr>
        <p:spPr>
          <a:xfrm>
            <a:off x="5212080" y="5596128"/>
            <a:ext cx="41148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13"/>
          <p:cNvSpPr/>
          <p:nvPr/>
        </p:nvSpPr>
        <p:spPr>
          <a:xfrm>
            <a:off x="5285232" y="5614416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Appointment status push alerts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3"/>
          <p:cNvSpPr/>
          <p:nvPr/>
        </p:nvSpPr>
        <p:spPr>
          <a:xfrm>
            <a:off x="457200" y="6025896"/>
            <a:ext cx="1828800" cy="384048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13"/>
          <p:cNvSpPr/>
          <p:nvPr/>
        </p:nvSpPr>
        <p:spPr>
          <a:xfrm>
            <a:off x="530352" y="6044184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Scheduling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3"/>
          <p:cNvSpPr/>
          <p:nvPr/>
        </p:nvSpPr>
        <p:spPr>
          <a:xfrm>
            <a:off x="2286000" y="6025896"/>
            <a:ext cx="2926080" cy="384048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13"/>
          <p:cNvSpPr/>
          <p:nvPr/>
        </p:nvSpPr>
        <p:spPr>
          <a:xfrm>
            <a:off x="2359152" y="6044184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node-cron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3"/>
          <p:cNvSpPr/>
          <p:nvPr/>
        </p:nvSpPr>
        <p:spPr>
          <a:xfrm>
            <a:off x="5212080" y="6025896"/>
            <a:ext cx="4114800" cy="384048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3"/>
          <p:cNvSpPr/>
          <p:nvPr/>
        </p:nvSpPr>
        <p:spPr>
          <a:xfrm>
            <a:off x="5285232" y="6044184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Auto slot generation (daily jobs)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3"/>
          <p:cNvSpPr/>
          <p:nvPr/>
        </p:nvSpPr>
        <p:spPr>
          <a:xfrm>
            <a:off x="9052560" y="96012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App Screenshots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3"/>
          <p:cNvSpPr/>
          <p:nvPr/>
        </p:nvSpPr>
        <p:spPr>
          <a:xfrm>
            <a:off x="9006840" y="1371600"/>
            <a:ext cx="1463040" cy="914400"/>
          </a:xfrm>
          <a:prstGeom prst="rect">
            <a:avLst/>
          </a:prstGeom>
          <a:solidFill>
            <a:srgbClr val="CDEEF4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13"/>
          <p:cNvSpPr/>
          <p:nvPr/>
        </p:nvSpPr>
        <p:spPr>
          <a:xfrm>
            <a:off x="9006840" y="1389888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[ Screenshot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Placeholder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3"/>
          <p:cNvSpPr/>
          <p:nvPr/>
        </p:nvSpPr>
        <p:spPr>
          <a:xfrm>
            <a:off x="9006840" y="18745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Login / OTP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3"/>
          <p:cNvSpPr/>
          <p:nvPr/>
        </p:nvSpPr>
        <p:spPr>
          <a:xfrm>
            <a:off x="10652760" y="1371600"/>
            <a:ext cx="1463040" cy="914400"/>
          </a:xfrm>
          <a:prstGeom prst="rect">
            <a:avLst/>
          </a:prstGeom>
          <a:solidFill>
            <a:srgbClr val="CDEEF4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3"/>
          <p:cNvSpPr/>
          <p:nvPr/>
        </p:nvSpPr>
        <p:spPr>
          <a:xfrm>
            <a:off x="10652760" y="1389888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[ Screenshot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Placeholder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3"/>
          <p:cNvSpPr/>
          <p:nvPr/>
        </p:nvSpPr>
        <p:spPr>
          <a:xfrm>
            <a:off x="10652760" y="18745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Patient Home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3"/>
          <p:cNvSpPr/>
          <p:nvPr/>
        </p:nvSpPr>
        <p:spPr>
          <a:xfrm>
            <a:off x="9006840" y="2468880"/>
            <a:ext cx="1463040" cy="914400"/>
          </a:xfrm>
          <a:prstGeom prst="rect">
            <a:avLst/>
          </a:prstGeom>
          <a:solidFill>
            <a:srgbClr val="CDEEF4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13"/>
          <p:cNvSpPr/>
          <p:nvPr/>
        </p:nvSpPr>
        <p:spPr>
          <a:xfrm>
            <a:off x="9006840" y="2487168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[ Screenshot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Placeholder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3"/>
          <p:cNvSpPr/>
          <p:nvPr/>
        </p:nvSpPr>
        <p:spPr>
          <a:xfrm>
            <a:off x="9006840" y="297180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Doctor Search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3"/>
          <p:cNvSpPr/>
          <p:nvPr/>
        </p:nvSpPr>
        <p:spPr>
          <a:xfrm>
            <a:off x="10652760" y="2468880"/>
            <a:ext cx="1463040" cy="914400"/>
          </a:xfrm>
          <a:prstGeom prst="rect">
            <a:avLst/>
          </a:prstGeom>
          <a:solidFill>
            <a:srgbClr val="CDEEF4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13"/>
          <p:cNvSpPr/>
          <p:nvPr/>
        </p:nvSpPr>
        <p:spPr>
          <a:xfrm>
            <a:off x="10652760" y="2487168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[ Screenshot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Placeholder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3"/>
          <p:cNvSpPr/>
          <p:nvPr/>
        </p:nvSpPr>
        <p:spPr>
          <a:xfrm>
            <a:off x="10652760" y="297180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Book Appt.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3"/>
          <p:cNvSpPr/>
          <p:nvPr/>
        </p:nvSpPr>
        <p:spPr>
          <a:xfrm>
            <a:off x="9006840" y="3566160"/>
            <a:ext cx="1463040" cy="914400"/>
          </a:xfrm>
          <a:prstGeom prst="rect">
            <a:avLst/>
          </a:prstGeom>
          <a:solidFill>
            <a:srgbClr val="CDEEF4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3"/>
          <p:cNvSpPr/>
          <p:nvPr/>
        </p:nvSpPr>
        <p:spPr>
          <a:xfrm>
            <a:off x="9006840" y="3584448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[ Screenshot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Placeholder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3"/>
          <p:cNvSpPr/>
          <p:nvPr/>
        </p:nvSpPr>
        <p:spPr>
          <a:xfrm>
            <a:off x="9006840" y="406908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Chat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3"/>
          <p:cNvSpPr/>
          <p:nvPr/>
        </p:nvSpPr>
        <p:spPr>
          <a:xfrm>
            <a:off x="10652760" y="3566160"/>
            <a:ext cx="1463040" cy="914400"/>
          </a:xfrm>
          <a:prstGeom prst="rect">
            <a:avLst/>
          </a:prstGeom>
          <a:solidFill>
            <a:srgbClr val="CDEEF4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13"/>
          <p:cNvSpPr/>
          <p:nvPr/>
        </p:nvSpPr>
        <p:spPr>
          <a:xfrm>
            <a:off x="10652760" y="3584448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[ Screenshot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Placeholder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3"/>
          <p:cNvSpPr/>
          <p:nvPr/>
        </p:nvSpPr>
        <p:spPr>
          <a:xfrm>
            <a:off x="10652760" y="406908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Video Call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3"/>
          <p:cNvSpPr/>
          <p:nvPr/>
        </p:nvSpPr>
        <p:spPr>
          <a:xfrm>
            <a:off x="9006840" y="4663440"/>
            <a:ext cx="1463040" cy="914400"/>
          </a:xfrm>
          <a:prstGeom prst="rect">
            <a:avLst/>
          </a:prstGeom>
          <a:solidFill>
            <a:srgbClr val="CDEEF4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13"/>
          <p:cNvSpPr/>
          <p:nvPr/>
        </p:nvSpPr>
        <p:spPr>
          <a:xfrm>
            <a:off x="9006840" y="4681728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[ Screenshot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Placeholder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3"/>
          <p:cNvSpPr/>
          <p:nvPr/>
        </p:nvSpPr>
        <p:spPr>
          <a:xfrm>
            <a:off x="9006840" y="5166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AI Chat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3"/>
          <p:cNvSpPr/>
          <p:nvPr/>
        </p:nvSpPr>
        <p:spPr>
          <a:xfrm>
            <a:off x="10652760" y="4663440"/>
            <a:ext cx="1463040" cy="914400"/>
          </a:xfrm>
          <a:prstGeom prst="rect">
            <a:avLst/>
          </a:prstGeom>
          <a:solidFill>
            <a:srgbClr val="CDEEF4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13"/>
          <p:cNvSpPr/>
          <p:nvPr/>
        </p:nvSpPr>
        <p:spPr>
          <a:xfrm>
            <a:off x="10652760" y="4681728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[ Screenshot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Placeholder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3"/>
          <p:cNvSpPr/>
          <p:nvPr/>
        </p:nvSpPr>
        <p:spPr>
          <a:xfrm>
            <a:off x="10652760" y="5166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Med. Records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3"/>
          <p:cNvSpPr/>
          <p:nvPr/>
        </p:nvSpPr>
        <p:spPr>
          <a:xfrm>
            <a:off x="9006840" y="5760720"/>
            <a:ext cx="1463040" cy="914400"/>
          </a:xfrm>
          <a:prstGeom prst="rect">
            <a:avLst/>
          </a:prstGeom>
          <a:solidFill>
            <a:srgbClr val="CDEEF4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13"/>
          <p:cNvSpPr/>
          <p:nvPr/>
        </p:nvSpPr>
        <p:spPr>
          <a:xfrm>
            <a:off x="9006840" y="5779008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[ Screenshot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Placeholder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3"/>
          <p:cNvSpPr/>
          <p:nvPr/>
        </p:nvSpPr>
        <p:spPr>
          <a:xfrm>
            <a:off x="9006840" y="62636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Doctor Home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3"/>
          <p:cNvSpPr/>
          <p:nvPr/>
        </p:nvSpPr>
        <p:spPr>
          <a:xfrm>
            <a:off x="10652760" y="5760720"/>
            <a:ext cx="1463040" cy="914400"/>
          </a:xfrm>
          <a:prstGeom prst="rect">
            <a:avLst/>
          </a:prstGeom>
          <a:solidFill>
            <a:srgbClr val="CDEEF4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13"/>
          <p:cNvSpPr/>
          <p:nvPr/>
        </p:nvSpPr>
        <p:spPr>
          <a:xfrm>
            <a:off x="10652760" y="5779008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[ Screenshot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Placeholder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3"/>
          <p:cNvSpPr/>
          <p:nvPr/>
        </p:nvSpPr>
        <p:spPr>
          <a:xfrm>
            <a:off x="10652760" y="62636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Slot Mgmt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C"/>
        </a:solidFill>
      </p:bgPr>
    </p:bg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4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4"/>
          <p:cNvSpPr/>
          <p:nvPr/>
        </p:nvSpPr>
        <p:spPr>
          <a:xfrm>
            <a:off x="457200" y="868680"/>
            <a:ext cx="109728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4"/>
          <p:cNvSpPr/>
          <p:nvPr/>
        </p:nvSpPr>
        <p:spPr>
          <a:xfrm>
            <a:off x="457200" y="1005840"/>
            <a:ext cx="3657600" cy="347472"/>
          </a:xfrm>
          <a:prstGeom prst="rect">
            <a:avLst/>
          </a:prstGeom>
          <a:solidFill>
            <a:srgbClr val="0284C7"/>
          </a:solidFill>
          <a:ln cap="flat" cmpd="sng" w="127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14"/>
          <p:cNvSpPr/>
          <p:nvPr/>
        </p:nvSpPr>
        <p:spPr>
          <a:xfrm>
            <a:off x="457200" y="100584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Unit Testing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4"/>
          <p:cNvSpPr/>
          <p:nvPr/>
        </p:nvSpPr>
        <p:spPr>
          <a:xfrm>
            <a:off x="457200" y="1353312"/>
            <a:ext cx="36576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4"/>
          <p:cNvSpPr/>
          <p:nvPr/>
        </p:nvSpPr>
        <p:spPr>
          <a:xfrm>
            <a:off x="548640" y="1389888"/>
            <a:ext cx="347472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JUnit + MockK on Android ViewModels; Jest for Node.js service logic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4"/>
          <p:cNvSpPr/>
          <p:nvPr/>
        </p:nvSpPr>
        <p:spPr>
          <a:xfrm>
            <a:off x="4297680" y="1005840"/>
            <a:ext cx="3657600" cy="3474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14"/>
          <p:cNvSpPr/>
          <p:nvPr/>
        </p:nvSpPr>
        <p:spPr>
          <a:xfrm>
            <a:off x="4297680" y="100584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Integration Testing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4"/>
          <p:cNvSpPr/>
          <p:nvPr/>
        </p:nvSpPr>
        <p:spPr>
          <a:xfrm>
            <a:off x="4297680" y="1353312"/>
            <a:ext cx="36576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4"/>
          <p:cNvSpPr/>
          <p:nvPr/>
        </p:nvSpPr>
        <p:spPr>
          <a:xfrm>
            <a:off x="4389120" y="1389888"/>
            <a:ext cx="347472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API endpoint tests with Supertest; PostgreSQL test DB with Docker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4"/>
          <p:cNvSpPr/>
          <p:nvPr/>
        </p:nvSpPr>
        <p:spPr>
          <a:xfrm>
            <a:off x="8138160" y="1005840"/>
            <a:ext cx="3657600" cy="34747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14"/>
          <p:cNvSpPr/>
          <p:nvPr/>
        </p:nvSpPr>
        <p:spPr>
          <a:xfrm>
            <a:off x="8138160" y="100584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Manual Testing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4"/>
          <p:cNvSpPr/>
          <p:nvPr/>
        </p:nvSpPr>
        <p:spPr>
          <a:xfrm>
            <a:off x="8138160" y="1353312"/>
            <a:ext cx="36576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14"/>
          <p:cNvSpPr/>
          <p:nvPr/>
        </p:nvSpPr>
        <p:spPr>
          <a:xfrm>
            <a:off x="8229600" y="1389888"/>
            <a:ext cx="347472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End-to-end flows tested on Android emulator + physical device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4"/>
          <p:cNvSpPr/>
          <p:nvPr/>
        </p:nvSpPr>
        <p:spPr>
          <a:xfrm>
            <a:off x="457200" y="21031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Sample Test Cases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4"/>
          <p:cNvSpPr/>
          <p:nvPr/>
        </p:nvSpPr>
        <p:spPr>
          <a:xfrm>
            <a:off x="457200" y="2468880"/>
            <a:ext cx="502920" cy="347472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14"/>
          <p:cNvSpPr/>
          <p:nvPr/>
        </p:nvSpPr>
        <p:spPr>
          <a:xfrm>
            <a:off x="457200" y="246888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TC#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4"/>
          <p:cNvSpPr/>
          <p:nvPr/>
        </p:nvSpPr>
        <p:spPr>
          <a:xfrm>
            <a:off x="960120" y="2468880"/>
            <a:ext cx="1097280" cy="347472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14"/>
          <p:cNvSpPr/>
          <p:nvPr/>
        </p:nvSpPr>
        <p:spPr>
          <a:xfrm>
            <a:off x="960120" y="2468880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4"/>
          <p:cNvSpPr/>
          <p:nvPr/>
        </p:nvSpPr>
        <p:spPr>
          <a:xfrm>
            <a:off x="2057400" y="2468880"/>
            <a:ext cx="2194560" cy="347472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14"/>
          <p:cNvSpPr/>
          <p:nvPr/>
        </p:nvSpPr>
        <p:spPr>
          <a:xfrm>
            <a:off x="2057400" y="2468880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Input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14"/>
          <p:cNvSpPr/>
          <p:nvPr/>
        </p:nvSpPr>
        <p:spPr>
          <a:xfrm>
            <a:off x="4251960" y="2468880"/>
            <a:ext cx="2606040" cy="347472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14"/>
          <p:cNvSpPr/>
          <p:nvPr/>
        </p:nvSpPr>
        <p:spPr>
          <a:xfrm>
            <a:off x="4251960" y="2468880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Expected 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4"/>
          <p:cNvSpPr/>
          <p:nvPr/>
        </p:nvSpPr>
        <p:spPr>
          <a:xfrm>
            <a:off x="6858000" y="2468880"/>
            <a:ext cx="2606040" cy="347472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14"/>
          <p:cNvSpPr/>
          <p:nvPr/>
        </p:nvSpPr>
        <p:spPr>
          <a:xfrm>
            <a:off x="6858000" y="2468880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Actual 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4"/>
          <p:cNvSpPr/>
          <p:nvPr/>
        </p:nvSpPr>
        <p:spPr>
          <a:xfrm>
            <a:off x="9464040" y="2468880"/>
            <a:ext cx="731520" cy="347472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14"/>
          <p:cNvSpPr/>
          <p:nvPr/>
        </p:nvSpPr>
        <p:spPr>
          <a:xfrm>
            <a:off x="9464040" y="2468880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4"/>
          <p:cNvSpPr/>
          <p:nvPr/>
        </p:nvSpPr>
        <p:spPr>
          <a:xfrm>
            <a:off x="457200" y="2834640"/>
            <a:ext cx="50292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14"/>
          <p:cNvSpPr/>
          <p:nvPr/>
        </p:nvSpPr>
        <p:spPr>
          <a:xfrm>
            <a:off x="493776" y="2852928"/>
            <a:ext cx="4480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TC-01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14"/>
          <p:cNvSpPr/>
          <p:nvPr/>
        </p:nvSpPr>
        <p:spPr>
          <a:xfrm>
            <a:off x="960120" y="2834640"/>
            <a:ext cx="109728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14"/>
          <p:cNvSpPr/>
          <p:nvPr/>
        </p:nvSpPr>
        <p:spPr>
          <a:xfrm>
            <a:off x="996696" y="2852928"/>
            <a:ext cx="104241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4"/>
          <p:cNvSpPr/>
          <p:nvPr/>
        </p:nvSpPr>
        <p:spPr>
          <a:xfrm>
            <a:off x="2057400" y="2834640"/>
            <a:ext cx="219456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14"/>
          <p:cNvSpPr/>
          <p:nvPr/>
        </p:nvSpPr>
        <p:spPr>
          <a:xfrm>
            <a:off x="2093976" y="2852928"/>
            <a:ext cx="213969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Valid phone + correct OTP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14"/>
          <p:cNvSpPr/>
          <p:nvPr/>
        </p:nvSpPr>
        <p:spPr>
          <a:xfrm>
            <a:off x="4251960" y="2834640"/>
            <a:ext cx="260604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14"/>
          <p:cNvSpPr/>
          <p:nvPr/>
        </p:nvSpPr>
        <p:spPr>
          <a:xfrm>
            <a:off x="4288536" y="2852928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JWT token returned, login success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14"/>
          <p:cNvSpPr/>
          <p:nvPr/>
        </p:nvSpPr>
        <p:spPr>
          <a:xfrm>
            <a:off x="6858000" y="2834640"/>
            <a:ext cx="260604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14"/>
          <p:cNvSpPr/>
          <p:nvPr/>
        </p:nvSpPr>
        <p:spPr>
          <a:xfrm>
            <a:off x="6894576" y="2852928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JWT returned, home screen loads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14"/>
          <p:cNvSpPr/>
          <p:nvPr/>
        </p:nvSpPr>
        <p:spPr>
          <a:xfrm>
            <a:off x="9464040" y="2834640"/>
            <a:ext cx="731520" cy="438912"/>
          </a:xfrm>
          <a:prstGeom prst="rect">
            <a:avLst/>
          </a:prstGeom>
          <a:solidFill>
            <a:srgbClr val="F0FDF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14"/>
          <p:cNvSpPr/>
          <p:nvPr/>
        </p:nvSpPr>
        <p:spPr>
          <a:xfrm>
            <a:off x="9500616" y="2852928"/>
            <a:ext cx="6766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14"/>
          <p:cNvSpPr/>
          <p:nvPr/>
        </p:nvSpPr>
        <p:spPr>
          <a:xfrm>
            <a:off x="457200" y="3310128"/>
            <a:ext cx="502920" cy="43891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14"/>
          <p:cNvSpPr/>
          <p:nvPr/>
        </p:nvSpPr>
        <p:spPr>
          <a:xfrm>
            <a:off x="493776" y="3328416"/>
            <a:ext cx="4480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TC-02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14"/>
          <p:cNvSpPr/>
          <p:nvPr/>
        </p:nvSpPr>
        <p:spPr>
          <a:xfrm>
            <a:off x="960120" y="3310128"/>
            <a:ext cx="1097280" cy="43891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14"/>
          <p:cNvSpPr/>
          <p:nvPr/>
        </p:nvSpPr>
        <p:spPr>
          <a:xfrm>
            <a:off x="996696" y="3328416"/>
            <a:ext cx="104241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14"/>
          <p:cNvSpPr/>
          <p:nvPr/>
        </p:nvSpPr>
        <p:spPr>
          <a:xfrm>
            <a:off x="2057400" y="3310128"/>
            <a:ext cx="2194560" cy="43891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14"/>
          <p:cNvSpPr/>
          <p:nvPr/>
        </p:nvSpPr>
        <p:spPr>
          <a:xfrm>
            <a:off x="2093976" y="3328416"/>
            <a:ext cx="213969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Invalid OTP (wrong digits)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14"/>
          <p:cNvSpPr/>
          <p:nvPr/>
        </p:nvSpPr>
        <p:spPr>
          <a:xfrm>
            <a:off x="4251960" y="3310128"/>
            <a:ext cx="2606040" cy="43891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14"/>
          <p:cNvSpPr/>
          <p:nvPr/>
        </p:nvSpPr>
        <p:spPr>
          <a:xfrm>
            <a:off x="4288536" y="3328416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Error: 'Invalid OTP' message shown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14"/>
          <p:cNvSpPr/>
          <p:nvPr/>
        </p:nvSpPr>
        <p:spPr>
          <a:xfrm>
            <a:off x="6858000" y="3310128"/>
            <a:ext cx="2606040" cy="43891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14"/>
          <p:cNvSpPr/>
          <p:nvPr/>
        </p:nvSpPr>
        <p:spPr>
          <a:xfrm>
            <a:off x="6894576" y="3328416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Error message displayed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14"/>
          <p:cNvSpPr/>
          <p:nvPr/>
        </p:nvSpPr>
        <p:spPr>
          <a:xfrm>
            <a:off x="9464040" y="3310128"/>
            <a:ext cx="731520" cy="438912"/>
          </a:xfrm>
          <a:prstGeom prst="rect">
            <a:avLst/>
          </a:prstGeom>
          <a:solidFill>
            <a:srgbClr val="F0FDF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14"/>
          <p:cNvSpPr/>
          <p:nvPr/>
        </p:nvSpPr>
        <p:spPr>
          <a:xfrm>
            <a:off x="9500616" y="3328416"/>
            <a:ext cx="6766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14"/>
          <p:cNvSpPr/>
          <p:nvPr/>
        </p:nvSpPr>
        <p:spPr>
          <a:xfrm>
            <a:off x="457200" y="3785616"/>
            <a:ext cx="50292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14"/>
          <p:cNvSpPr/>
          <p:nvPr/>
        </p:nvSpPr>
        <p:spPr>
          <a:xfrm>
            <a:off x="493776" y="3803904"/>
            <a:ext cx="4480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TC-03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14"/>
          <p:cNvSpPr/>
          <p:nvPr/>
        </p:nvSpPr>
        <p:spPr>
          <a:xfrm>
            <a:off x="960120" y="3785616"/>
            <a:ext cx="109728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14"/>
          <p:cNvSpPr/>
          <p:nvPr/>
        </p:nvSpPr>
        <p:spPr>
          <a:xfrm>
            <a:off x="996696" y="3803904"/>
            <a:ext cx="104241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Booking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14"/>
          <p:cNvSpPr/>
          <p:nvPr/>
        </p:nvSpPr>
        <p:spPr>
          <a:xfrm>
            <a:off x="2057400" y="3785616"/>
            <a:ext cx="219456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14"/>
          <p:cNvSpPr/>
          <p:nvPr/>
        </p:nvSpPr>
        <p:spPr>
          <a:xfrm>
            <a:off x="2093976" y="3803904"/>
            <a:ext cx="213969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Select available slot, confirm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4"/>
          <p:cNvSpPr/>
          <p:nvPr/>
        </p:nvSpPr>
        <p:spPr>
          <a:xfrm>
            <a:off x="4251960" y="3785616"/>
            <a:ext cx="260604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14"/>
          <p:cNvSpPr/>
          <p:nvPr/>
        </p:nvSpPr>
        <p:spPr>
          <a:xfrm>
            <a:off x="4288536" y="3803904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Appointment created, FCM sent to doctor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14"/>
          <p:cNvSpPr/>
          <p:nvPr/>
        </p:nvSpPr>
        <p:spPr>
          <a:xfrm>
            <a:off x="6858000" y="3785616"/>
            <a:ext cx="260604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14"/>
          <p:cNvSpPr/>
          <p:nvPr/>
        </p:nvSpPr>
        <p:spPr>
          <a:xfrm>
            <a:off x="6894576" y="3803904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Appointment saved, push notification sent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14"/>
          <p:cNvSpPr/>
          <p:nvPr/>
        </p:nvSpPr>
        <p:spPr>
          <a:xfrm>
            <a:off x="9464040" y="3785616"/>
            <a:ext cx="731520" cy="438912"/>
          </a:xfrm>
          <a:prstGeom prst="rect">
            <a:avLst/>
          </a:prstGeom>
          <a:solidFill>
            <a:srgbClr val="F0FDF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14"/>
          <p:cNvSpPr/>
          <p:nvPr/>
        </p:nvSpPr>
        <p:spPr>
          <a:xfrm>
            <a:off x="9500616" y="3803904"/>
            <a:ext cx="6766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14"/>
          <p:cNvSpPr/>
          <p:nvPr/>
        </p:nvSpPr>
        <p:spPr>
          <a:xfrm>
            <a:off x="457200" y="4261104"/>
            <a:ext cx="502920" cy="43891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14"/>
          <p:cNvSpPr/>
          <p:nvPr/>
        </p:nvSpPr>
        <p:spPr>
          <a:xfrm>
            <a:off x="493776" y="4279392"/>
            <a:ext cx="4480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TC-04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14"/>
          <p:cNvSpPr/>
          <p:nvPr/>
        </p:nvSpPr>
        <p:spPr>
          <a:xfrm>
            <a:off x="960120" y="4261104"/>
            <a:ext cx="1097280" cy="43891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14"/>
          <p:cNvSpPr/>
          <p:nvPr/>
        </p:nvSpPr>
        <p:spPr>
          <a:xfrm>
            <a:off x="996696" y="4279392"/>
            <a:ext cx="104241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Booking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14"/>
          <p:cNvSpPr/>
          <p:nvPr/>
        </p:nvSpPr>
        <p:spPr>
          <a:xfrm>
            <a:off x="2057400" y="4261104"/>
            <a:ext cx="2194560" cy="43891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14"/>
          <p:cNvSpPr/>
          <p:nvPr/>
        </p:nvSpPr>
        <p:spPr>
          <a:xfrm>
            <a:off x="2093976" y="4279392"/>
            <a:ext cx="213969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Attempt to book already-booked slot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14"/>
          <p:cNvSpPr/>
          <p:nvPr/>
        </p:nvSpPr>
        <p:spPr>
          <a:xfrm>
            <a:off x="4251960" y="4261104"/>
            <a:ext cx="2606040" cy="43891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14"/>
          <p:cNvSpPr/>
          <p:nvPr/>
        </p:nvSpPr>
        <p:spPr>
          <a:xfrm>
            <a:off x="4288536" y="4279392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Error: 'Slot not available'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14"/>
          <p:cNvSpPr/>
          <p:nvPr/>
        </p:nvSpPr>
        <p:spPr>
          <a:xfrm>
            <a:off x="6858000" y="4261104"/>
            <a:ext cx="2606040" cy="43891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14"/>
          <p:cNvSpPr/>
          <p:nvPr/>
        </p:nvSpPr>
        <p:spPr>
          <a:xfrm>
            <a:off x="6894576" y="4279392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Error returned by server (409 Conflict)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14"/>
          <p:cNvSpPr/>
          <p:nvPr/>
        </p:nvSpPr>
        <p:spPr>
          <a:xfrm>
            <a:off x="9464040" y="4261104"/>
            <a:ext cx="731520" cy="438912"/>
          </a:xfrm>
          <a:prstGeom prst="rect">
            <a:avLst/>
          </a:prstGeom>
          <a:solidFill>
            <a:srgbClr val="F0FDF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4"/>
          <p:cNvSpPr/>
          <p:nvPr/>
        </p:nvSpPr>
        <p:spPr>
          <a:xfrm>
            <a:off x="9500616" y="4279392"/>
            <a:ext cx="6766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14"/>
          <p:cNvSpPr/>
          <p:nvPr/>
        </p:nvSpPr>
        <p:spPr>
          <a:xfrm>
            <a:off x="457200" y="4736592"/>
            <a:ext cx="50292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4"/>
          <p:cNvSpPr/>
          <p:nvPr/>
        </p:nvSpPr>
        <p:spPr>
          <a:xfrm>
            <a:off x="493776" y="4754880"/>
            <a:ext cx="4480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TC-05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14"/>
          <p:cNvSpPr/>
          <p:nvPr/>
        </p:nvSpPr>
        <p:spPr>
          <a:xfrm>
            <a:off x="960120" y="4736592"/>
            <a:ext cx="109728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14"/>
          <p:cNvSpPr/>
          <p:nvPr/>
        </p:nvSpPr>
        <p:spPr>
          <a:xfrm>
            <a:off x="996696" y="4754880"/>
            <a:ext cx="104241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Chat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14"/>
          <p:cNvSpPr/>
          <p:nvPr/>
        </p:nvSpPr>
        <p:spPr>
          <a:xfrm>
            <a:off x="2057400" y="4736592"/>
            <a:ext cx="219456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14"/>
          <p:cNvSpPr/>
          <p:nvPr/>
        </p:nvSpPr>
        <p:spPr>
          <a:xfrm>
            <a:off x="2093976" y="4754880"/>
            <a:ext cx="213969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Send message in chat room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14"/>
          <p:cNvSpPr/>
          <p:nvPr/>
        </p:nvSpPr>
        <p:spPr>
          <a:xfrm>
            <a:off x="4251960" y="4736592"/>
            <a:ext cx="260604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14"/>
          <p:cNvSpPr/>
          <p:nvPr/>
        </p:nvSpPr>
        <p:spPr>
          <a:xfrm>
            <a:off x="4288536" y="4754880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Message visible to both patient and doctor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14"/>
          <p:cNvSpPr/>
          <p:nvPr/>
        </p:nvSpPr>
        <p:spPr>
          <a:xfrm>
            <a:off x="6858000" y="4736592"/>
            <a:ext cx="260604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4"/>
          <p:cNvSpPr/>
          <p:nvPr/>
        </p:nvSpPr>
        <p:spPr>
          <a:xfrm>
            <a:off x="6894576" y="4754880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Message appears in real-time for both users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14"/>
          <p:cNvSpPr/>
          <p:nvPr/>
        </p:nvSpPr>
        <p:spPr>
          <a:xfrm>
            <a:off x="9464040" y="4736592"/>
            <a:ext cx="731520" cy="438912"/>
          </a:xfrm>
          <a:prstGeom prst="rect">
            <a:avLst/>
          </a:prstGeom>
          <a:solidFill>
            <a:srgbClr val="F0FDF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14"/>
          <p:cNvSpPr/>
          <p:nvPr/>
        </p:nvSpPr>
        <p:spPr>
          <a:xfrm>
            <a:off x="9500616" y="4754880"/>
            <a:ext cx="6766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14"/>
          <p:cNvSpPr/>
          <p:nvPr/>
        </p:nvSpPr>
        <p:spPr>
          <a:xfrm>
            <a:off x="457200" y="5212080"/>
            <a:ext cx="502920" cy="43891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14"/>
          <p:cNvSpPr/>
          <p:nvPr/>
        </p:nvSpPr>
        <p:spPr>
          <a:xfrm>
            <a:off x="493776" y="5230368"/>
            <a:ext cx="4480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TC-06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14"/>
          <p:cNvSpPr/>
          <p:nvPr/>
        </p:nvSpPr>
        <p:spPr>
          <a:xfrm>
            <a:off x="960120" y="5212080"/>
            <a:ext cx="1097280" cy="43891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14"/>
          <p:cNvSpPr/>
          <p:nvPr/>
        </p:nvSpPr>
        <p:spPr>
          <a:xfrm>
            <a:off x="996696" y="5230368"/>
            <a:ext cx="104241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Records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14"/>
          <p:cNvSpPr/>
          <p:nvPr/>
        </p:nvSpPr>
        <p:spPr>
          <a:xfrm>
            <a:off x="2057400" y="5212080"/>
            <a:ext cx="2194560" cy="43891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14"/>
          <p:cNvSpPr/>
          <p:nvPr/>
        </p:nvSpPr>
        <p:spPr>
          <a:xfrm>
            <a:off x="2093976" y="5230368"/>
            <a:ext cx="213969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Upload PDF medical record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14"/>
          <p:cNvSpPr/>
          <p:nvPr/>
        </p:nvSpPr>
        <p:spPr>
          <a:xfrm>
            <a:off x="4251960" y="5212080"/>
            <a:ext cx="2606040" cy="43891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14"/>
          <p:cNvSpPr/>
          <p:nvPr/>
        </p:nvSpPr>
        <p:spPr>
          <a:xfrm>
            <a:off x="4288536" y="5230368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File stored in MinIO, metadata in PostgreSQL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14"/>
          <p:cNvSpPr/>
          <p:nvPr/>
        </p:nvSpPr>
        <p:spPr>
          <a:xfrm>
            <a:off x="6858000" y="5212080"/>
            <a:ext cx="2606040" cy="43891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14"/>
          <p:cNvSpPr/>
          <p:nvPr/>
        </p:nvSpPr>
        <p:spPr>
          <a:xfrm>
            <a:off x="6894576" y="5230368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File uploaded, listed in records screen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14"/>
          <p:cNvSpPr/>
          <p:nvPr/>
        </p:nvSpPr>
        <p:spPr>
          <a:xfrm>
            <a:off x="9464040" y="5212080"/>
            <a:ext cx="731520" cy="438912"/>
          </a:xfrm>
          <a:prstGeom prst="rect">
            <a:avLst/>
          </a:prstGeom>
          <a:solidFill>
            <a:srgbClr val="F0FDF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4"/>
          <p:cNvSpPr/>
          <p:nvPr/>
        </p:nvSpPr>
        <p:spPr>
          <a:xfrm>
            <a:off x="9500616" y="5230368"/>
            <a:ext cx="6766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14"/>
          <p:cNvSpPr/>
          <p:nvPr/>
        </p:nvSpPr>
        <p:spPr>
          <a:xfrm>
            <a:off x="457200" y="5687568"/>
            <a:ext cx="50292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14"/>
          <p:cNvSpPr/>
          <p:nvPr/>
        </p:nvSpPr>
        <p:spPr>
          <a:xfrm>
            <a:off x="493776" y="5705856"/>
            <a:ext cx="4480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TC-07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14"/>
          <p:cNvSpPr/>
          <p:nvPr/>
        </p:nvSpPr>
        <p:spPr>
          <a:xfrm>
            <a:off x="960120" y="5687568"/>
            <a:ext cx="109728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14"/>
          <p:cNvSpPr/>
          <p:nvPr/>
        </p:nvSpPr>
        <p:spPr>
          <a:xfrm>
            <a:off x="996696" y="5705856"/>
            <a:ext cx="104241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Chat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14"/>
          <p:cNvSpPr/>
          <p:nvPr/>
        </p:nvSpPr>
        <p:spPr>
          <a:xfrm>
            <a:off x="2057400" y="5687568"/>
            <a:ext cx="219456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14"/>
          <p:cNvSpPr/>
          <p:nvPr/>
        </p:nvSpPr>
        <p:spPr>
          <a:xfrm>
            <a:off x="2093976" y="5705856"/>
            <a:ext cx="213969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Send health query to AI assistant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14"/>
          <p:cNvSpPr/>
          <p:nvPr/>
        </p:nvSpPr>
        <p:spPr>
          <a:xfrm>
            <a:off x="4251960" y="5687568"/>
            <a:ext cx="260604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14"/>
          <p:cNvSpPr/>
          <p:nvPr/>
        </p:nvSpPr>
        <p:spPr>
          <a:xfrm>
            <a:off x="4288536" y="5705856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Gemini response returned within 5 seconds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14"/>
          <p:cNvSpPr/>
          <p:nvPr/>
        </p:nvSpPr>
        <p:spPr>
          <a:xfrm>
            <a:off x="6858000" y="5687568"/>
            <a:ext cx="260604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14"/>
          <p:cNvSpPr/>
          <p:nvPr/>
        </p:nvSpPr>
        <p:spPr>
          <a:xfrm>
            <a:off x="6894576" y="5705856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response displayed in chat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14"/>
          <p:cNvSpPr/>
          <p:nvPr/>
        </p:nvSpPr>
        <p:spPr>
          <a:xfrm>
            <a:off x="9464040" y="5687568"/>
            <a:ext cx="731520" cy="438912"/>
          </a:xfrm>
          <a:prstGeom prst="rect">
            <a:avLst/>
          </a:prstGeom>
          <a:solidFill>
            <a:srgbClr val="F0FDF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14"/>
          <p:cNvSpPr/>
          <p:nvPr/>
        </p:nvSpPr>
        <p:spPr>
          <a:xfrm>
            <a:off x="9500616" y="5705856"/>
            <a:ext cx="6766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14"/>
          <p:cNvSpPr/>
          <p:nvPr/>
        </p:nvSpPr>
        <p:spPr>
          <a:xfrm>
            <a:off x="457200" y="6163056"/>
            <a:ext cx="502920" cy="43891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14"/>
          <p:cNvSpPr/>
          <p:nvPr/>
        </p:nvSpPr>
        <p:spPr>
          <a:xfrm>
            <a:off x="493776" y="6181344"/>
            <a:ext cx="4480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TC-08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14"/>
          <p:cNvSpPr/>
          <p:nvPr/>
        </p:nvSpPr>
        <p:spPr>
          <a:xfrm>
            <a:off x="960120" y="6163056"/>
            <a:ext cx="1097280" cy="43891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14"/>
          <p:cNvSpPr/>
          <p:nvPr/>
        </p:nvSpPr>
        <p:spPr>
          <a:xfrm>
            <a:off x="996696" y="6181344"/>
            <a:ext cx="104241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Slots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14"/>
          <p:cNvSpPr/>
          <p:nvPr/>
        </p:nvSpPr>
        <p:spPr>
          <a:xfrm>
            <a:off x="2057400" y="6163056"/>
            <a:ext cx="2194560" cy="43891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14"/>
          <p:cNvSpPr/>
          <p:nvPr/>
        </p:nvSpPr>
        <p:spPr>
          <a:xfrm>
            <a:off x="2093976" y="6181344"/>
            <a:ext cx="213969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node-cron executes daily slot gen job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14"/>
          <p:cNvSpPr/>
          <p:nvPr/>
        </p:nvSpPr>
        <p:spPr>
          <a:xfrm>
            <a:off x="4251960" y="6163056"/>
            <a:ext cx="2606040" cy="43891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14"/>
          <p:cNvSpPr/>
          <p:nvPr/>
        </p:nvSpPr>
        <p:spPr>
          <a:xfrm>
            <a:off x="4288536" y="6181344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New slots created for all doctors with templates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14"/>
          <p:cNvSpPr/>
          <p:nvPr/>
        </p:nvSpPr>
        <p:spPr>
          <a:xfrm>
            <a:off x="6858000" y="6163056"/>
            <a:ext cx="2606040" cy="43891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14"/>
          <p:cNvSpPr/>
          <p:nvPr/>
        </p:nvSpPr>
        <p:spPr>
          <a:xfrm>
            <a:off x="6894576" y="6181344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Slots generated and visible for booking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14"/>
          <p:cNvSpPr/>
          <p:nvPr/>
        </p:nvSpPr>
        <p:spPr>
          <a:xfrm>
            <a:off x="9464040" y="6163056"/>
            <a:ext cx="731520" cy="438912"/>
          </a:xfrm>
          <a:prstGeom prst="rect">
            <a:avLst/>
          </a:prstGeom>
          <a:solidFill>
            <a:srgbClr val="F0FDF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14"/>
          <p:cNvSpPr/>
          <p:nvPr/>
        </p:nvSpPr>
        <p:spPr>
          <a:xfrm>
            <a:off x="9500616" y="6181344"/>
            <a:ext cx="6766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C"/>
        </a:solidFill>
      </p:bgPr>
    </p:bg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15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LOC — Lines of Code Estimation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15"/>
          <p:cNvSpPr/>
          <p:nvPr/>
        </p:nvSpPr>
        <p:spPr>
          <a:xfrm>
            <a:off x="457200" y="868680"/>
            <a:ext cx="109728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15"/>
          <p:cNvSpPr/>
          <p:nvPr/>
        </p:nvSpPr>
        <p:spPr>
          <a:xfrm>
            <a:off x="457200" y="10058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LOC estimated using the formula from SE course: S = (S_opt + 4 × S_m + S_pess) / 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15"/>
          <p:cNvSpPr/>
          <p:nvPr/>
        </p:nvSpPr>
        <p:spPr>
          <a:xfrm>
            <a:off x="457200" y="1417320"/>
            <a:ext cx="1645920" cy="347472"/>
          </a:xfrm>
          <a:prstGeom prst="rect">
            <a:avLst/>
          </a:prstGeom>
          <a:solidFill>
            <a:srgbClr val="0A2342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15"/>
          <p:cNvSpPr/>
          <p:nvPr/>
        </p:nvSpPr>
        <p:spPr>
          <a:xfrm>
            <a:off x="512064" y="1435608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15"/>
          <p:cNvSpPr/>
          <p:nvPr/>
        </p:nvSpPr>
        <p:spPr>
          <a:xfrm>
            <a:off x="2103120" y="1417320"/>
            <a:ext cx="2560320" cy="347472"/>
          </a:xfrm>
          <a:prstGeom prst="rect">
            <a:avLst/>
          </a:prstGeom>
          <a:solidFill>
            <a:srgbClr val="0A2342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15"/>
          <p:cNvSpPr/>
          <p:nvPr/>
        </p:nvSpPr>
        <p:spPr>
          <a:xfrm>
            <a:off x="2157984" y="1435608"/>
            <a:ext cx="24871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Component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15"/>
          <p:cNvSpPr/>
          <p:nvPr/>
        </p:nvSpPr>
        <p:spPr>
          <a:xfrm>
            <a:off x="4663440" y="1417320"/>
            <a:ext cx="1005840" cy="347472"/>
          </a:xfrm>
          <a:prstGeom prst="rect">
            <a:avLst/>
          </a:prstGeom>
          <a:solidFill>
            <a:srgbClr val="0A2342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15"/>
          <p:cNvSpPr/>
          <p:nvPr/>
        </p:nvSpPr>
        <p:spPr>
          <a:xfrm>
            <a:off x="4718304" y="1435608"/>
            <a:ext cx="9326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Optimistic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15"/>
          <p:cNvSpPr/>
          <p:nvPr/>
        </p:nvSpPr>
        <p:spPr>
          <a:xfrm>
            <a:off x="5669280" y="1417320"/>
            <a:ext cx="1097280" cy="347472"/>
          </a:xfrm>
          <a:prstGeom prst="rect">
            <a:avLst/>
          </a:prstGeom>
          <a:solidFill>
            <a:srgbClr val="0A2342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15"/>
          <p:cNvSpPr/>
          <p:nvPr/>
        </p:nvSpPr>
        <p:spPr>
          <a:xfrm>
            <a:off x="5724144" y="1435608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Most Likely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15"/>
          <p:cNvSpPr/>
          <p:nvPr/>
        </p:nvSpPr>
        <p:spPr>
          <a:xfrm>
            <a:off x="6766560" y="1417320"/>
            <a:ext cx="1097280" cy="347472"/>
          </a:xfrm>
          <a:prstGeom prst="rect">
            <a:avLst/>
          </a:prstGeom>
          <a:solidFill>
            <a:srgbClr val="0A2342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15"/>
          <p:cNvSpPr/>
          <p:nvPr/>
        </p:nvSpPr>
        <p:spPr>
          <a:xfrm>
            <a:off x="6821424" y="1435608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Pessimistic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15"/>
          <p:cNvSpPr/>
          <p:nvPr/>
        </p:nvSpPr>
        <p:spPr>
          <a:xfrm>
            <a:off x="7863840" y="1417320"/>
            <a:ext cx="1371600" cy="347472"/>
          </a:xfrm>
          <a:prstGeom prst="rect">
            <a:avLst/>
          </a:prstGeom>
          <a:solidFill>
            <a:srgbClr val="0A2342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15"/>
          <p:cNvSpPr/>
          <p:nvPr/>
        </p:nvSpPr>
        <p:spPr>
          <a:xfrm>
            <a:off x="7918704" y="1435608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Estimated LOC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15"/>
          <p:cNvSpPr/>
          <p:nvPr/>
        </p:nvSpPr>
        <p:spPr>
          <a:xfrm>
            <a:off x="457200" y="1801368"/>
            <a:ext cx="164592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15"/>
          <p:cNvSpPr/>
          <p:nvPr/>
        </p:nvSpPr>
        <p:spPr>
          <a:xfrm>
            <a:off x="512064" y="1819656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Android App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15"/>
          <p:cNvSpPr/>
          <p:nvPr/>
        </p:nvSpPr>
        <p:spPr>
          <a:xfrm>
            <a:off x="2103120" y="1801368"/>
            <a:ext cx="256032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15"/>
          <p:cNvSpPr/>
          <p:nvPr/>
        </p:nvSpPr>
        <p:spPr>
          <a:xfrm>
            <a:off x="2157984" y="1819656"/>
            <a:ext cx="24871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Auth + Onboarding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15"/>
          <p:cNvSpPr/>
          <p:nvPr/>
        </p:nvSpPr>
        <p:spPr>
          <a:xfrm>
            <a:off x="4663440" y="1801368"/>
            <a:ext cx="100584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15"/>
          <p:cNvSpPr/>
          <p:nvPr/>
        </p:nvSpPr>
        <p:spPr>
          <a:xfrm>
            <a:off x="4718304" y="1819656"/>
            <a:ext cx="9326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15"/>
          <p:cNvSpPr/>
          <p:nvPr/>
        </p:nvSpPr>
        <p:spPr>
          <a:xfrm>
            <a:off x="5669280" y="1801368"/>
            <a:ext cx="109728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15"/>
          <p:cNvSpPr/>
          <p:nvPr/>
        </p:nvSpPr>
        <p:spPr>
          <a:xfrm>
            <a:off x="5724144" y="1819656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15"/>
          <p:cNvSpPr/>
          <p:nvPr/>
        </p:nvSpPr>
        <p:spPr>
          <a:xfrm>
            <a:off x="6766560" y="1801368"/>
            <a:ext cx="109728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15"/>
          <p:cNvSpPr/>
          <p:nvPr/>
        </p:nvSpPr>
        <p:spPr>
          <a:xfrm>
            <a:off x="6821424" y="1819656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1100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15"/>
          <p:cNvSpPr/>
          <p:nvPr/>
        </p:nvSpPr>
        <p:spPr>
          <a:xfrm>
            <a:off x="7863840" y="1801368"/>
            <a:ext cx="137160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15"/>
          <p:cNvSpPr/>
          <p:nvPr/>
        </p:nvSpPr>
        <p:spPr>
          <a:xfrm>
            <a:off x="7918704" y="1819656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817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15"/>
          <p:cNvSpPr/>
          <p:nvPr/>
        </p:nvSpPr>
        <p:spPr>
          <a:xfrm>
            <a:off x="457200" y="2185416"/>
            <a:ext cx="164592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15"/>
          <p:cNvSpPr/>
          <p:nvPr/>
        </p:nvSpPr>
        <p:spPr>
          <a:xfrm>
            <a:off x="512064" y="2203704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Android App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15"/>
          <p:cNvSpPr/>
          <p:nvPr/>
        </p:nvSpPr>
        <p:spPr>
          <a:xfrm>
            <a:off x="2103120" y="2185416"/>
            <a:ext cx="256032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15"/>
          <p:cNvSpPr/>
          <p:nvPr/>
        </p:nvSpPr>
        <p:spPr>
          <a:xfrm>
            <a:off x="2157984" y="2203704"/>
            <a:ext cx="24871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Patient Module (search, book)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15"/>
          <p:cNvSpPr/>
          <p:nvPr/>
        </p:nvSpPr>
        <p:spPr>
          <a:xfrm>
            <a:off x="4663440" y="2185416"/>
            <a:ext cx="100584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15"/>
          <p:cNvSpPr/>
          <p:nvPr/>
        </p:nvSpPr>
        <p:spPr>
          <a:xfrm>
            <a:off x="4718304" y="2203704"/>
            <a:ext cx="9326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900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15"/>
          <p:cNvSpPr/>
          <p:nvPr/>
        </p:nvSpPr>
        <p:spPr>
          <a:xfrm>
            <a:off x="5669280" y="2185416"/>
            <a:ext cx="109728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15"/>
          <p:cNvSpPr/>
          <p:nvPr/>
        </p:nvSpPr>
        <p:spPr>
          <a:xfrm>
            <a:off x="5724144" y="2203704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1300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15"/>
          <p:cNvSpPr/>
          <p:nvPr/>
        </p:nvSpPr>
        <p:spPr>
          <a:xfrm>
            <a:off x="6766560" y="2185416"/>
            <a:ext cx="109728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15"/>
          <p:cNvSpPr/>
          <p:nvPr/>
        </p:nvSpPr>
        <p:spPr>
          <a:xfrm>
            <a:off x="6821424" y="2203704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1700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15"/>
          <p:cNvSpPr/>
          <p:nvPr/>
        </p:nvSpPr>
        <p:spPr>
          <a:xfrm>
            <a:off x="7863840" y="2185416"/>
            <a:ext cx="137160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15"/>
          <p:cNvSpPr/>
          <p:nvPr/>
        </p:nvSpPr>
        <p:spPr>
          <a:xfrm>
            <a:off x="7918704" y="2203704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1300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15"/>
          <p:cNvSpPr/>
          <p:nvPr/>
        </p:nvSpPr>
        <p:spPr>
          <a:xfrm>
            <a:off x="457200" y="2569464"/>
            <a:ext cx="164592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15"/>
          <p:cNvSpPr/>
          <p:nvPr/>
        </p:nvSpPr>
        <p:spPr>
          <a:xfrm>
            <a:off x="512064" y="2587752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Android App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15"/>
          <p:cNvSpPr/>
          <p:nvPr/>
        </p:nvSpPr>
        <p:spPr>
          <a:xfrm>
            <a:off x="2103120" y="2569464"/>
            <a:ext cx="256032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15"/>
          <p:cNvSpPr/>
          <p:nvPr/>
        </p:nvSpPr>
        <p:spPr>
          <a:xfrm>
            <a:off x="2157984" y="2587752"/>
            <a:ext cx="24871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Doctor Module (schedule, slots)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15"/>
          <p:cNvSpPr/>
          <p:nvPr/>
        </p:nvSpPr>
        <p:spPr>
          <a:xfrm>
            <a:off x="4663440" y="2569464"/>
            <a:ext cx="100584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15"/>
          <p:cNvSpPr/>
          <p:nvPr/>
        </p:nvSpPr>
        <p:spPr>
          <a:xfrm>
            <a:off x="4718304" y="2587752"/>
            <a:ext cx="9326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700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15"/>
          <p:cNvSpPr/>
          <p:nvPr/>
        </p:nvSpPr>
        <p:spPr>
          <a:xfrm>
            <a:off x="5669280" y="2569464"/>
            <a:ext cx="109728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15"/>
          <p:cNvSpPr/>
          <p:nvPr/>
        </p:nvSpPr>
        <p:spPr>
          <a:xfrm>
            <a:off x="5724144" y="2587752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15"/>
          <p:cNvSpPr/>
          <p:nvPr/>
        </p:nvSpPr>
        <p:spPr>
          <a:xfrm>
            <a:off x="6766560" y="2569464"/>
            <a:ext cx="109728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15"/>
          <p:cNvSpPr/>
          <p:nvPr/>
        </p:nvSpPr>
        <p:spPr>
          <a:xfrm>
            <a:off x="6821424" y="2587752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1400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15"/>
          <p:cNvSpPr/>
          <p:nvPr/>
        </p:nvSpPr>
        <p:spPr>
          <a:xfrm>
            <a:off x="7863840" y="2569464"/>
            <a:ext cx="137160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15"/>
          <p:cNvSpPr/>
          <p:nvPr/>
        </p:nvSpPr>
        <p:spPr>
          <a:xfrm>
            <a:off x="7918704" y="2587752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1017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15"/>
          <p:cNvSpPr/>
          <p:nvPr/>
        </p:nvSpPr>
        <p:spPr>
          <a:xfrm>
            <a:off x="457200" y="2953512"/>
            <a:ext cx="164592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15"/>
          <p:cNvSpPr/>
          <p:nvPr/>
        </p:nvSpPr>
        <p:spPr>
          <a:xfrm>
            <a:off x="512064" y="2971800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Android App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15"/>
          <p:cNvSpPr/>
          <p:nvPr/>
        </p:nvSpPr>
        <p:spPr>
          <a:xfrm>
            <a:off x="2103120" y="2953512"/>
            <a:ext cx="256032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15"/>
          <p:cNvSpPr/>
          <p:nvPr/>
        </p:nvSpPr>
        <p:spPr>
          <a:xfrm>
            <a:off x="2157984" y="2971800"/>
            <a:ext cx="24871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Chat + Video Call UI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15"/>
          <p:cNvSpPr/>
          <p:nvPr/>
        </p:nvSpPr>
        <p:spPr>
          <a:xfrm>
            <a:off x="4663440" y="2953512"/>
            <a:ext cx="100584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15"/>
          <p:cNvSpPr/>
          <p:nvPr/>
        </p:nvSpPr>
        <p:spPr>
          <a:xfrm>
            <a:off x="4718304" y="2971800"/>
            <a:ext cx="9326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15"/>
          <p:cNvSpPr/>
          <p:nvPr/>
        </p:nvSpPr>
        <p:spPr>
          <a:xfrm>
            <a:off x="5669280" y="2953512"/>
            <a:ext cx="109728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15"/>
          <p:cNvSpPr/>
          <p:nvPr/>
        </p:nvSpPr>
        <p:spPr>
          <a:xfrm>
            <a:off x="5724144" y="2971800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1200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15"/>
          <p:cNvSpPr/>
          <p:nvPr/>
        </p:nvSpPr>
        <p:spPr>
          <a:xfrm>
            <a:off x="6766560" y="2953512"/>
            <a:ext cx="109728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15"/>
          <p:cNvSpPr/>
          <p:nvPr/>
        </p:nvSpPr>
        <p:spPr>
          <a:xfrm>
            <a:off x="6821424" y="2971800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1600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15"/>
          <p:cNvSpPr/>
          <p:nvPr/>
        </p:nvSpPr>
        <p:spPr>
          <a:xfrm>
            <a:off x="7863840" y="2953512"/>
            <a:ext cx="137160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15"/>
          <p:cNvSpPr/>
          <p:nvPr/>
        </p:nvSpPr>
        <p:spPr>
          <a:xfrm>
            <a:off x="7918704" y="2971800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1200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15"/>
          <p:cNvSpPr/>
          <p:nvPr/>
        </p:nvSpPr>
        <p:spPr>
          <a:xfrm>
            <a:off x="457200" y="3337560"/>
            <a:ext cx="164592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15"/>
          <p:cNvSpPr/>
          <p:nvPr/>
        </p:nvSpPr>
        <p:spPr>
          <a:xfrm>
            <a:off x="512064" y="3355848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Android App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15"/>
          <p:cNvSpPr/>
          <p:nvPr/>
        </p:nvSpPr>
        <p:spPr>
          <a:xfrm>
            <a:off x="2103120" y="3337560"/>
            <a:ext cx="256032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15"/>
          <p:cNvSpPr/>
          <p:nvPr/>
        </p:nvSpPr>
        <p:spPr>
          <a:xfrm>
            <a:off x="2157984" y="3355848"/>
            <a:ext cx="24871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Chat + Records UI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15"/>
          <p:cNvSpPr/>
          <p:nvPr/>
        </p:nvSpPr>
        <p:spPr>
          <a:xfrm>
            <a:off x="4663440" y="3337560"/>
            <a:ext cx="100584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15"/>
          <p:cNvSpPr/>
          <p:nvPr/>
        </p:nvSpPr>
        <p:spPr>
          <a:xfrm>
            <a:off x="4718304" y="3355848"/>
            <a:ext cx="9326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15"/>
          <p:cNvSpPr/>
          <p:nvPr/>
        </p:nvSpPr>
        <p:spPr>
          <a:xfrm>
            <a:off x="5669280" y="3337560"/>
            <a:ext cx="109728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15"/>
          <p:cNvSpPr/>
          <p:nvPr/>
        </p:nvSpPr>
        <p:spPr>
          <a:xfrm>
            <a:off x="5724144" y="3355848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900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15"/>
          <p:cNvSpPr/>
          <p:nvPr/>
        </p:nvSpPr>
        <p:spPr>
          <a:xfrm>
            <a:off x="6766560" y="3337560"/>
            <a:ext cx="109728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15"/>
          <p:cNvSpPr/>
          <p:nvPr/>
        </p:nvSpPr>
        <p:spPr>
          <a:xfrm>
            <a:off x="6821424" y="3355848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1200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15"/>
          <p:cNvSpPr/>
          <p:nvPr/>
        </p:nvSpPr>
        <p:spPr>
          <a:xfrm>
            <a:off x="7863840" y="3337560"/>
            <a:ext cx="137160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15"/>
          <p:cNvSpPr/>
          <p:nvPr/>
        </p:nvSpPr>
        <p:spPr>
          <a:xfrm>
            <a:off x="7918704" y="3355848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900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15"/>
          <p:cNvSpPr/>
          <p:nvPr/>
        </p:nvSpPr>
        <p:spPr>
          <a:xfrm>
            <a:off x="457200" y="3721608"/>
            <a:ext cx="164592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15"/>
          <p:cNvSpPr/>
          <p:nvPr/>
        </p:nvSpPr>
        <p:spPr>
          <a:xfrm>
            <a:off x="512064" y="3739896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Android App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15"/>
          <p:cNvSpPr/>
          <p:nvPr/>
        </p:nvSpPr>
        <p:spPr>
          <a:xfrm>
            <a:off x="2103120" y="3721608"/>
            <a:ext cx="256032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15"/>
          <p:cNvSpPr/>
          <p:nvPr/>
        </p:nvSpPr>
        <p:spPr>
          <a:xfrm>
            <a:off x="2157984" y="3739896"/>
            <a:ext cx="24871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Shared components + Navigation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15"/>
          <p:cNvSpPr/>
          <p:nvPr/>
        </p:nvSpPr>
        <p:spPr>
          <a:xfrm>
            <a:off x="4663440" y="3721608"/>
            <a:ext cx="100584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15"/>
          <p:cNvSpPr/>
          <p:nvPr/>
        </p:nvSpPr>
        <p:spPr>
          <a:xfrm>
            <a:off x="4718304" y="3739896"/>
            <a:ext cx="9326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15"/>
          <p:cNvSpPr/>
          <p:nvPr/>
        </p:nvSpPr>
        <p:spPr>
          <a:xfrm>
            <a:off x="5669280" y="3721608"/>
            <a:ext cx="109728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15"/>
          <p:cNvSpPr/>
          <p:nvPr/>
        </p:nvSpPr>
        <p:spPr>
          <a:xfrm>
            <a:off x="5724144" y="3739896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700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15"/>
          <p:cNvSpPr/>
          <p:nvPr/>
        </p:nvSpPr>
        <p:spPr>
          <a:xfrm>
            <a:off x="6766560" y="3721608"/>
            <a:ext cx="109728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15"/>
          <p:cNvSpPr/>
          <p:nvPr/>
        </p:nvSpPr>
        <p:spPr>
          <a:xfrm>
            <a:off x="6821424" y="3739896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15"/>
          <p:cNvSpPr/>
          <p:nvPr/>
        </p:nvSpPr>
        <p:spPr>
          <a:xfrm>
            <a:off x="7863840" y="3721608"/>
            <a:ext cx="137160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15"/>
          <p:cNvSpPr/>
          <p:nvPr/>
        </p:nvSpPr>
        <p:spPr>
          <a:xfrm>
            <a:off x="7918704" y="3739896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717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15"/>
          <p:cNvSpPr/>
          <p:nvPr/>
        </p:nvSpPr>
        <p:spPr>
          <a:xfrm>
            <a:off x="457200" y="4105656"/>
            <a:ext cx="164592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15"/>
          <p:cNvSpPr/>
          <p:nvPr/>
        </p:nvSpPr>
        <p:spPr>
          <a:xfrm>
            <a:off x="512064" y="4123944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15"/>
          <p:cNvSpPr/>
          <p:nvPr/>
        </p:nvSpPr>
        <p:spPr>
          <a:xfrm>
            <a:off x="2103120" y="4105656"/>
            <a:ext cx="256032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5"/>
          <p:cNvSpPr/>
          <p:nvPr/>
        </p:nvSpPr>
        <p:spPr>
          <a:xfrm>
            <a:off x="2157984" y="4123944"/>
            <a:ext cx="24871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Auth + Middleware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15"/>
          <p:cNvSpPr/>
          <p:nvPr/>
        </p:nvSpPr>
        <p:spPr>
          <a:xfrm>
            <a:off x="4663440" y="4105656"/>
            <a:ext cx="100584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15"/>
          <p:cNvSpPr/>
          <p:nvPr/>
        </p:nvSpPr>
        <p:spPr>
          <a:xfrm>
            <a:off x="4718304" y="4123944"/>
            <a:ext cx="9326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15"/>
          <p:cNvSpPr/>
          <p:nvPr/>
        </p:nvSpPr>
        <p:spPr>
          <a:xfrm>
            <a:off x="5669280" y="4105656"/>
            <a:ext cx="109728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15"/>
          <p:cNvSpPr/>
          <p:nvPr/>
        </p:nvSpPr>
        <p:spPr>
          <a:xfrm>
            <a:off x="5724144" y="4123944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450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15"/>
          <p:cNvSpPr/>
          <p:nvPr/>
        </p:nvSpPr>
        <p:spPr>
          <a:xfrm>
            <a:off x="6766560" y="4105656"/>
            <a:ext cx="109728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15"/>
          <p:cNvSpPr/>
          <p:nvPr/>
        </p:nvSpPr>
        <p:spPr>
          <a:xfrm>
            <a:off x="6821424" y="4123944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15"/>
          <p:cNvSpPr/>
          <p:nvPr/>
        </p:nvSpPr>
        <p:spPr>
          <a:xfrm>
            <a:off x="7863840" y="4105656"/>
            <a:ext cx="137160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15"/>
          <p:cNvSpPr/>
          <p:nvPr/>
        </p:nvSpPr>
        <p:spPr>
          <a:xfrm>
            <a:off x="7918704" y="4123944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458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15"/>
          <p:cNvSpPr/>
          <p:nvPr/>
        </p:nvSpPr>
        <p:spPr>
          <a:xfrm>
            <a:off x="457200" y="4489704"/>
            <a:ext cx="164592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15"/>
          <p:cNvSpPr/>
          <p:nvPr/>
        </p:nvSpPr>
        <p:spPr>
          <a:xfrm>
            <a:off x="512064" y="4507992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15"/>
          <p:cNvSpPr/>
          <p:nvPr/>
        </p:nvSpPr>
        <p:spPr>
          <a:xfrm>
            <a:off x="2103120" y="4489704"/>
            <a:ext cx="256032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15"/>
          <p:cNvSpPr/>
          <p:nvPr/>
        </p:nvSpPr>
        <p:spPr>
          <a:xfrm>
            <a:off x="2157984" y="4507992"/>
            <a:ext cx="24871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Doctor / Patient / Slot APIs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15"/>
          <p:cNvSpPr/>
          <p:nvPr/>
        </p:nvSpPr>
        <p:spPr>
          <a:xfrm>
            <a:off x="4663440" y="4489704"/>
            <a:ext cx="100584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15"/>
          <p:cNvSpPr/>
          <p:nvPr/>
        </p:nvSpPr>
        <p:spPr>
          <a:xfrm>
            <a:off x="4718304" y="4507992"/>
            <a:ext cx="9326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15"/>
          <p:cNvSpPr/>
          <p:nvPr/>
        </p:nvSpPr>
        <p:spPr>
          <a:xfrm>
            <a:off x="5669280" y="4489704"/>
            <a:ext cx="109728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15"/>
          <p:cNvSpPr/>
          <p:nvPr/>
        </p:nvSpPr>
        <p:spPr>
          <a:xfrm>
            <a:off x="5724144" y="4507992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750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15"/>
          <p:cNvSpPr/>
          <p:nvPr/>
        </p:nvSpPr>
        <p:spPr>
          <a:xfrm>
            <a:off x="6766560" y="4489704"/>
            <a:ext cx="109728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15"/>
          <p:cNvSpPr/>
          <p:nvPr/>
        </p:nvSpPr>
        <p:spPr>
          <a:xfrm>
            <a:off x="6821424" y="4507992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15"/>
          <p:cNvSpPr/>
          <p:nvPr/>
        </p:nvSpPr>
        <p:spPr>
          <a:xfrm>
            <a:off x="7863840" y="4489704"/>
            <a:ext cx="137160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15"/>
          <p:cNvSpPr/>
          <p:nvPr/>
        </p:nvSpPr>
        <p:spPr>
          <a:xfrm>
            <a:off x="7918704" y="4507992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758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15"/>
          <p:cNvSpPr/>
          <p:nvPr/>
        </p:nvSpPr>
        <p:spPr>
          <a:xfrm>
            <a:off x="457200" y="4873752"/>
            <a:ext cx="164592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15"/>
          <p:cNvSpPr/>
          <p:nvPr/>
        </p:nvSpPr>
        <p:spPr>
          <a:xfrm>
            <a:off x="512064" y="4892040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15"/>
          <p:cNvSpPr/>
          <p:nvPr/>
        </p:nvSpPr>
        <p:spPr>
          <a:xfrm>
            <a:off x="2103120" y="4873752"/>
            <a:ext cx="256032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15"/>
          <p:cNvSpPr/>
          <p:nvPr/>
        </p:nvSpPr>
        <p:spPr>
          <a:xfrm>
            <a:off x="2157984" y="4892040"/>
            <a:ext cx="24871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Appointments + Booking Logic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15"/>
          <p:cNvSpPr/>
          <p:nvPr/>
        </p:nvSpPr>
        <p:spPr>
          <a:xfrm>
            <a:off x="4663440" y="4873752"/>
            <a:ext cx="100584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15"/>
          <p:cNvSpPr/>
          <p:nvPr/>
        </p:nvSpPr>
        <p:spPr>
          <a:xfrm>
            <a:off x="4718304" y="4892040"/>
            <a:ext cx="9326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15"/>
          <p:cNvSpPr/>
          <p:nvPr/>
        </p:nvSpPr>
        <p:spPr>
          <a:xfrm>
            <a:off x="5669280" y="4873752"/>
            <a:ext cx="109728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15"/>
          <p:cNvSpPr/>
          <p:nvPr/>
        </p:nvSpPr>
        <p:spPr>
          <a:xfrm>
            <a:off x="5724144" y="4892040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15"/>
          <p:cNvSpPr/>
          <p:nvPr/>
        </p:nvSpPr>
        <p:spPr>
          <a:xfrm>
            <a:off x="6766560" y="4873752"/>
            <a:ext cx="109728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15"/>
          <p:cNvSpPr/>
          <p:nvPr/>
        </p:nvSpPr>
        <p:spPr>
          <a:xfrm>
            <a:off x="6821424" y="4892040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15"/>
          <p:cNvSpPr/>
          <p:nvPr/>
        </p:nvSpPr>
        <p:spPr>
          <a:xfrm>
            <a:off x="7863840" y="4873752"/>
            <a:ext cx="137160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15"/>
          <p:cNvSpPr/>
          <p:nvPr/>
        </p:nvSpPr>
        <p:spPr>
          <a:xfrm>
            <a:off x="7918704" y="4892040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600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15"/>
          <p:cNvSpPr/>
          <p:nvPr/>
        </p:nvSpPr>
        <p:spPr>
          <a:xfrm>
            <a:off x="457200" y="5257800"/>
            <a:ext cx="164592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15"/>
          <p:cNvSpPr/>
          <p:nvPr/>
        </p:nvSpPr>
        <p:spPr>
          <a:xfrm>
            <a:off x="512064" y="5276088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15"/>
          <p:cNvSpPr/>
          <p:nvPr/>
        </p:nvSpPr>
        <p:spPr>
          <a:xfrm>
            <a:off x="2103120" y="5257800"/>
            <a:ext cx="256032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15"/>
          <p:cNvSpPr/>
          <p:nvPr/>
        </p:nvSpPr>
        <p:spPr>
          <a:xfrm>
            <a:off x="2157984" y="5276088"/>
            <a:ext cx="24871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Chat WS + Video Signaling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15"/>
          <p:cNvSpPr/>
          <p:nvPr/>
        </p:nvSpPr>
        <p:spPr>
          <a:xfrm>
            <a:off x="4663440" y="5257800"/>
            <a:ext cx="100584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15"/>
          <p:cNvSpPr/>
          <p:nvPr/>
        </p:nvSpPr>
        <p:spPr>
          <a:xfrm>
            <a:off x="4718304" y="5276088"/>
            <a:ext cx="9326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350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15"/>
          <p:cNvSpPr/>
          <p:nvPr/>
        </p:nvSpPr>
        <p:spPr>
          <a:xfrm>
            <a:off x="5669280" y="5257800"/>
            <a:ext cx="109728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15"/>
          <p:cNvSpPr/>
          <p:nvPr/>
        </p:nvSpPr>
        <p:spPr>
          <a:xfrm>
            <a:off x="5724144" y="5276088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15"/>
          <p:cNvSpPr/>
          <p:nvPr/>
        </p:nvSpPr>
        <p:spPr>
          <a:xfrm>
            <a:off x="6766560" y="5257800"/>
            <a:ext cx="109728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15"/>
          <p:cNvSpPr/>
          <p:nvPr/>
        </p:nvSpPr>
        <p:spPr>
          <a:xfrm>
            <a:off x="6821424" y="5276088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700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15"/>
          <p:cNvSpPr/>
          <p:nvPr/>
        </p:nvSpPr>
        <p:spPr>
          <a:xfrm>
            <a:off x="7863840" y="5257800"/>
            <a:ext cx="137160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15"/>
          <p:cNvSpPr/>
          <p:nvPr/>
        </p:nvSpPr>
        <p:spPr>
          <a:xfrm>
            <a:off x="7918704" y="5276088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508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15"/>
          <p:cNvSpPr/>
          <p:nvPr/>
        </p:nvSpPr>
        <p:spPr>
          <a:xfrm>
            <a:off x="457200" y="5641848"/>
            <a:ext cx="164592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15"/>
          <p:cNvSpPr/>
          <p:nvPr/>
        </p:nvSpPr>
        <p:spPr>
          <a:xfrm>
            <a:off x="512064" y="5660136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15"/>
          <p:cNvSpPr/>
          <p:nvPr/>
        </p:nvSpPr>
        <p:spPr>
          <a:xfrm>
            <a:off x="2103120" y="5641848"/>
            <a:ext cx="256032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15"/>
          <p:cNvSpPr/>
          <p:nvPr/>
        </p:nvSpPr>
        <p:spPr>
          <a:xfrm>
            <a:off x="2157984" y="5660136"/>
            <a:ext cx="24871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Records, AI Proxy, Ratings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15"/>
          <p:cNvSpPr/>
          <p:nvPr/>
        </p:nvSpPr>
        <p:spPr>
          <a:xfrm>
            <a:off x="4663440" y="5641848"/>
            <a:ext cx="100584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15"/>
          <p:cNvSpPr/>
          <p:nvPr/>
        </p:nvSpPr>
        <p:spPr>
          <a:xfrm>
            <a:off x="4718304" y="5660136"/>
            <a:ext cx="9326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15"/>
          <p:cNvSpPr/>
          <p:nvPr/>
        </p:nvSpPr>
        <p:spPr>
          <a:xfrm>
            <a:off x="5669280" y="5641848"/>
            <a:ext cx="109728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15"/>
          <p:cNvSpPr/>
          <p:nvPr/>
        </p:nvSpPr>
        <p:spPr>
          <a:xfrm>
            <a:off x="5724144" y="5660136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450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15"/>
          <p:cNvSpPr/>
          <p:nvPr/>
        </p:nvSpPr>
        <p:spPr>
          <a:xfrm>
            <a:off x="6766560" y="5641848"/>
            <a:ext cx="109728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15"/>
          <p:cNvSpPr/>
          <p:nvPr/>
        </p:nvSpPr>
        <p:spPr>
          <a:xfrm>
            <a:off x="6821424" y="5660136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15"/>
          <p:cNvSpPr/>
          <p:nvPr/>
        </p:nvSpPr>
        <p:spPr>
          <a:xfrm>
            <a:off x="7863840" y="5641848"/>
            <a:ext cx="1371600" cy="34747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15"/>
          <p:cNvSpPr/>
          <p:nvPr/>
        </p:nvSpPr>
        <p:spPr>
          <a:xfrm>
            <a:off x="7918704" y="5660136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458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15"/>
          <p:cNvSpPr/>
          <p:nvPr/>
        </p:nvSpPr>
        <p:spPr>
          <a:xfrm>
            <a:off x="457200" y="6025896"/>
            <a:ext cx="164592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15"/>
          <p:cNvSpPr/>
          <p:nvPr/>
        </p:nvSpPr>
        <p:spPr>
          <a:xfrm>
            <a:off x="512064" y="6044184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15"/>
          <p:cNvSpPr/>
          <p:nvPr/>
        </p:nvSpPr>
        <p:spPr>
          <a:xfrm>
            <a:off x="2103120" y="6025896"/>
            <a:ext cx="256032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15"/>
          <p:cNvSpPr/>
          <p:nvPr/>
        </p:nvSpPr>
        <p:spPr>
          <a:xfrm>
            <a:off x="2157984" y="6044184"/>
            <a:ext cx="24871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Cron Jobs + Config + Utils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15"/>
          <p:cNvSpPr/>
          <p:nvPr/>
        </p:nvSpPr>
        <p:spPr>
          <a:xfrm>
            <a:off x="4663440" y="6025896"/>
            <a:ext cx="100584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15"/>
          <p:cNvSpPr/>
          <p:nvPr/>
        </p:nvSpPr>
        <p:spPr>
          <a:xfrm>
            <a:off x="4718304" y="6044184"/>
            <a:ext cx="9326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15"/>
          <p:cNvSpPr/>
          <p:nvPr/>
        </p:nvSpPr>
        <p:spPr>
          <a:xfrm>
            <a:off x="5669280" y="6025896"/>
            <a:ext cx="109728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15"/>
          <p:cNvSpPr/>
          <p:nvPr/>
        </p:nvSpPr>
        <p:spPr>
          <a:xfrm>
            <a:off x="5724144" y="6044184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15"/>
          <p:cNvSpPr/>
          <p:nvPr/>
        </p:nvSpPr>
        <p:spPr>
          <a:xfrm>
            <a:off x="6766560" y="6025896"/>
            <a:ext cx="109728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15"/>
          <p:cNvSpPr/>
          <p:nvPr/>
        </p:nvSpPr>
        <p:spPr>
          <a:xfrm>
            <a:off x="6821424" y="6044184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15"/>
          <p:cNvSpPr/>
          <p:nvPr/>
        </p:nvSpPr>
        <p:spPr>
          <a:xfrm>
            <a:off x="7863840" y="6025896"/>
            <a:ext cx="137160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15"/>
          <p:cNvSpPr/>
          <p:nvPr/>
        </p:nvSpPr>
        <p:spPr>
          <a:xfrm>
            <a:off x="7918704" y="6044184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300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15"/>
          <p:cNvSpPr/>
          <p:nvPr/>
        </p:nvSpPr>
        <p:spPr>
          <a:xfrm>
            <a:off x="457200" y="6409944"/>
            <a:ext cx="1645920" cy="347472"/>
          </a:xfrm>
          <a:prstGeom prst="rect">
            <a:avLst/>
          </a:prstGeom>
          <a:solidFill>
            <a:srgbClr val="0A2342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15"/>
          <p:cNvSpPr/>
          <p:nvPr/>
        </p:nvSpPr>
        <p:spPr>
          <a:xfrm>
            <a:off x="512064" y="6428232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15"/>
          <p:cNvSpPr/>
          <p:nvPr/>
        </p:nvSpPr>
        <p:spPr>
          <a:xfrm>
            <a:off x="2103120" y="6409944"/>
            <a:ext cx="2560320" cy="347472"/>
          </a:xfrm>
          <a:prstGeom prst="rect">
            <a:avLst/>
          </a:prstGeom>
          <a:solidFill>
            <a:srgbClr val="0A2342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15"/>
          <p:cNvSpPr/>
          <p:nvPr/>
        </p:nvSpPr>
        <p:spPr>
          <a:xfrm>
            <a:off x="2157984" y="6428232"/>
            <a:ext cx="24871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15"/>
          <p:cNvSpPr/>
          <p:nvPr/>
        </p:nvSpPr>
        <p:spPr>
          <a:xfrm>
            <a:off x="4663440" y="6409944"/>
            <a:ext cx="1005840" cy="347472"/>
          </a:xfrm>
          <a:prstGeom prst="rect">
            <a:avLst/>
          </a:prstGeom>
          <a:solidFill>
            <a:srgbClr val="0A2342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15"/>
          <p:cNvSpPr/>
          <p:nvPr/>
        </p:nvSpPr>
        <p:spPr>
          <a:xfrm>
            <a:off x="4718304" y="6428232"/>
            <a:ext cx="9326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15"/>
          <p:cNvSpPr/>
          <p:nvPr/>
        </p:nvSpPr>
        <p:spPr>
          <a:xfrm>
            <a:off x="5669280" y="6409944"/>
            <a:ext cx="1097280" cy="347472"/>
          </a:xfrm>
          <a:prstGeom prst="rect">
            <a:avLst/>
          </a:prstGeom>
          <a:solidFill>
            <a:srgbClr val="0A2342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15"/>
          <p:cNvSpPr/>
          <p:nvPr/>
        </p:nvSpPr>
        <p:spPr>
          <a:xfrm>
            <a:off x="5724144" y="6428232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15"/>
          <p:cNvSpPr/>
          <p:nvPr/>
        </p:nvSpPr>
        <p:spPr>
          <a:xfrm>
            <a:off x="6766560" y="6409944"/>
            <a:ext cx="1097280" cy="347472"/>
          </a:xfrm>
          <a:prstGeom prst="rect">
            <a:avLst/>
          </a:prstGeom>
          <a:solidFill>
            <a:srgbClr val="0A2342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15"/>
          <p:cNvSpPr/>
          <p:nvPr/>
        </p:nvSpPr>
        <p:spPr>
          <a:xfrm>
            <a:off x="6821424" y="6428232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15"/>
          <p:cNvSpPr/>
          <p:nvPr/>
        </p:nvSpPr>
        <p:spPr>
          <a:xfrm>
            <a:off x="7863840" y="6409944"/>
            <a:ext cx="1371600" cy="347472"/>
          </a:xfrm>
          <a:prstGeom prst="rect">
            <a:avLst/>
          </a:prstGeom>
          <a:solidFill>
            <a:srgbClr val="0A2342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15"/>
          <p:cNvSpPr/>
          <p:nvPr/>
        </p:nvSpPr>
        <p:spPr>
          <a:xfrm>
            <a:off x="7918704" y="6428232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~9,833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15"/>
          <p:cNvSpPr/>
          <p:nvPr/>
        </p:nvSpPr>
        <p:spPr>
          <a:xfrm>
            <a:off x="9418320" y="1417320"/>
            <a:ext cx="2468880" cy="1371600"/>
          </a:xfrm>
          <a:prstGeom prst="rect">
            <a:avLst/>
          </a:prstGeom>
          <a:solidFill>
            <a:srgbClr val="CDEEF4"/>
          </a:solidFill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15"/>
          <p:cNvSpPr/>
          <p:nvPr/>
        </p:nvSpPr>
        <p:spPr>
          <a:xfrm>
            <a:off x="9418320" y="14630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Android App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15"/>
          <p:cNvSpPr/>
          <p:nvPr/>
        </p:nvSpPr>
        <p:spPr>
          <a:xfrm>
            <a:off x="9418320" y="182880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~5,951 LOC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15"/>
          <p:cNvSpPr/>
          <p:nvPr/>
        </p:nvSpPr>
        <p:spPr>
          <a:xfrm>
            <a:off x="9418320" y="2926080"/>
            <a:ext cx="2468880" cy="1371600"/>
          </a:xfrm>
          <a:prstGeom prst="rect">
            <a:avLst/>
          </a:prstGeom>
          <a:solidFill>
            <a:srgbClr val="CDEEF4"/>
          </a:solidFill>
          <a:ln cap="flat" cmpd="sng" w="254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15"/>
          <p:cNvSpPr/>
          <p:nvPr/>
        </p:nvSpPr>
        <p:spPr>
          <a:xfrm>
            <a:off x="9418320" y="29718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15"/>
          <p:cNvSpPr/>
          <p:nvPr/>
        </p:nvSpPr>
        <p:spPr>
          <a:xfrm>
            <a:off x="9418320" y="33375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~3,082 LOC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15"/>
          <p:cNvSpPr/>
          <p:nvPr/>
        </p:nvSpPr>
        <p:spPr>
          <a:xfrm>
            <a:off x="9418320" y="4434840"/>
            <a:ext cx="2468880" cy="137160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15"/>
          <p:cNvSpPr/>
          <p:nvPr/>
        </p:nvSpPr>
        <p:spPr>
          <a:xfrm>
            <a:off x="9418320" y="44805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15"/>
          <p:cNvSpPr/>
          <p:nvPr/>
        </p:nvSpPr>
        <p:spPr>
          <a:xfrm>
            <a:off x="9418320" y="484632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~9,833 LOC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C"/>
        </a:solidFill>
      </p:bgPr>
    </p:bg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16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Cost Estimation — COCOMO Model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16"/>
          <p:cNvSpPr/>
          <p:nvPr/>
        </p:nvSpPr>
        <p:spPr>
          <a:xfrm>
            <a:off x="457200" y="868680"/>
            <a:ext cx="109728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16"/>
          <p:cNvSpPr/>
          <p:nvPr/>
        </p:nvSpPr>
        <p:spPr>
          <a:xfrm>
            <a:off x="457200" y="96012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Reference: Pressman SE — Ch.26 Empirical Estimation Models (as covered in Unit 4, 20CS5PCSEG)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16"/>
          <p:cNvSpPr/>
          <p:nvPr/>
        </p:nvSpPr>
        <p:spPr>
          <a:xfrm>
            <a:off x="457200" y="1298448"/>
            <a:ext cx="10972800" cy="34747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16"/>
          <p:cNvSpPr/>
          <p:nvPr/>
        </p:nvSpPr>
        <p:spPr>
          <a:xfrm>
            <a:off x="457200" y="1298448"/>
            <a:ext cx="10972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 Method (from Unit 4 SE Course Notes)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16"/>
          <p:cNvSpPr/>
          <p:nvPr/>
        </p:nvSpPr>
        <p:spPr>
          <a:xfrm>
            <a:off x="457200" y="1719072"/>
            <a:ext cx="1097280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16"/>
          <p:cNvSpPr/>
          <p:nvPr/>
        </p:nvSpPr>
        <p:spPr>
          <a:xfrm>
            <a:off x="594360" y="1755648"/>
            <a:ext cx="10698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i)   Total LOC :  S = (S_opt + 4 × S_m + S_pess) / 6 = (7500 + 4×10000 + 13000) / 6  ≈  10,083 LOC  ≈  10 KLOC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16"/>
          <p:cNvSpPr/>
          <p:nvPr/>
        </p:nvSpPr>
        <p:spPr>
          <a:xfrm>
            <a:off x="457200" y="2267712"/>
            <a:ext cx="10972800" cy="475488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16"/>
          <p:cNvSpPr/>
          <p:nvPr/>
        </p:nvSpPr>
        <p:spPr>
          <a:xfrm>
            <a:off x="594360" y="2304288"/>
            <a:ext cx="10698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ii)  Cost per line of code = Labour rate / OAP = ₹80,000 / 620 LOC/month  ≈  ₹129 per LOC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16"/>
          <p:cNvSpPr/>
          <p:nvPr/>
        </p:nvSpPr>
        <p:spPr>
          <a:xfrm>
            <a:off x="457200" y="2816352"/>
            <a:ext cx="1097280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16"/>
          <p:cNvSpPr/>
          <p:nvPr/>
        </p:nvSpPr>
        <p:spPr>
          <a:xfrm>
            <a:off x="594360" y="2852928"/>
            <a:ext cx="10698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iii) Total Cost of project = 10,000 × ₹129  =  ₹12,90,000 (~$15,500)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16"/>
          <p:cNvSpPr/>
          <p:nvPr/>
        </p:nvSpPr>
        <p:spPr>
          <a:xfrm>
            <a:off x="457200" y="3364992"/>
            <a:ext cx="10972800" cy="475488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16"/>
          <p:cNvSpPr/>
          <p:nvPr/>
        </p:nvSpPr>
        <p:spPr>
          <a:xfrm>
            <a:off x="594360" y="3401568"/>
            <a:ext cx="10698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iv)  Estimated Effort (Person-Months) = Total LOC / OAP = 10,000 / 620  ≈  16.1 person-months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16"/>
          <p:cNvSpPr/>
          <p:nvPr/>
        </p:nvSpPr>
        <p:spPr>
          <a:xfrm>
            <a:off x="457200" y="3977640"/>
            <a:ext cx="10972800" cy="347472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16"/>
          <p:cNvSpPr/>
          <p:nvPr/>
        </p:nvSpPr>
        <p:spPr>
          <a:xfrm>
            <a:off x="457200" y="3977640"/>
            <a:ext cx="10972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COCOMO Basic Model (Organic Mode)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16"/>
          <p:cNvSpPr/>
          <p:nvPr/>
        </p:nvSpPr>
        <p:spPr>
          <a:xfrm>
            <a:off x="457200" y="4389120"/>
            <a:ext cx="2286000" cy="438912"/>
          </a:xfrm>
          <a:prstGeom prst="rect">
            <a:avLst/>
          </a:prstGeom>
          <a:solidFill>
            <a:srgbClr val="1C7293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16"/>
          <p:cNvSpPr/>
          <p:nvPr/>
        </p:nvSpPr>
        <p:spPr>
          <a:xfrm>
            <a:off x="548640" y="4416552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Parameter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16"/>
          <p:cNvSpPr/>
          <p:nvPr/>
        </p:nvSpPr>
        <p:spPr>
          <a:xfrm>
            <a:off x="2743200" y="4389120"/>
            <a:ext cx="3840480" cy="438912"/>
          </a:xfrm>
          <a:prstGeom prst="rect">
            <a:avLst/>
          </a:prstGeom>
          <a:solidFill>
            <a:srgbClr val="1C7293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16"/>
          <p:cNvSpPr/>
          <p:nvPr/>
        </p:nvSpPr>
        <p:spPr>
          <a:xfrm>
            <a:off x="2834640" y="4416552"/>
            <a:ext cx="3703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Formula / Value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16"/>
          <p:cNvSpPr/>
          <p:nvPr/>
        </p:nvSpPr>
        <p:spPr>
          <a:xfrm>
            <a:off x="6583680" y="4389120"/>
            <a:ext cx="4572000" cy="438912"/>
          </a:xfrm>
          <a:prstGeom prst="rect">
            <a:avLst/>
          </a:prstGeom>
          <a:solidFill>
            <a:srgbClr val="1C7293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16"/>
          <p:cNvSpPr/>
          <p:nvPr/>
        </p:nvSpPr>
        <p:spPr>
          <a:xfrm>
            <a:off x="6675120" y="4416552"/>
            <a:ext cx="4434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MediSync Result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16"/>
          <p:cNvSpPr/>
          <p:nvPr/>
        </p:nvSpPr>
        <p:spPr>
          <a:xfrm>
            <a:off x="457200" y="4864608"/>
            <a:ext cx="2286000" cy="43891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16"/>
          <p:cNvSpPr/>
          <p:nvPr/>
        </p:nvSpPr>
        <p:spPr>
          <a:xfrm>
            <a:off x="548640" y="4892040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Size (KLOC)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16"/>
          <p:cNvSpPr/>
          <p:nvPr/>
        </p:nvSpPr>
        <p:spPr>
          <a:xfrm>
            <a:off x="2743200" y="4864608"/>
            <a:ext cx="3840480" cy="43891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16"/>
          <p:cNvSpPr/>
          <p:nvPr/>
        </p:nvSpPr>
        <p:spPr>
          <a:xfrm>
            <a:off x="2834640" y="4892040"/>
            <a:ext cx="3703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 = 10 KLOC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16"/>
          <p:cNvSpPr/>
          <p:nvPr/>
        </p:nvSpPr>
        <p:spPr>
          <a:xfrm>
            <a:off x="6583680" y="4864608"/>
            <a:ext cx="4572000" cy="43891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16"/>
          <p:cNvSpPr/>
          <p:nvPr/>
        </p:nvSpPr>
        <p:spPr>
          <a:xfrm>
            <a:off x="6675120" y="4892040"/>
            <a:ext cx="4434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10 KLOC (~9,833 LOC)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16"/>
          <p:cNvSpPr/>
          <p:nvPr/>
        </p:nvSpPr>
        <p:spPr>
          <a:xfrm>
            <a:off x="457200" y="5340096"/>
            <a:ext cx="228600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16"/>
          <p:cNvSpPr/>
          <p:nvPr/>
        </p:nvSpPr>
        <p:spPr>
          <a:xfrm>
            <a:off x="548640" y="5367528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Effort (PM)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16"/>
          <p:cNvSpPr/>
          <p:nvPr/>
        </p:nvSpPr>
        <p:spPr>
          <a:xfrm>
            <a:off x="2743200" y="5340096"/>
            <a:ext cx="384048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16"/>
          <p:cNvSpPr/>
          <p:nvPr/>
        </p:nvSpPr>
        <p:spPr>
          <a:xfrm>
            <a:off x="2834640" y="5367528"/>
            <a:ext cx="3703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 = 2.4 × (KLOC)^1.05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16"/>
          <p:cNvSpPr/>
          <p:nvPr/>
        </p:nvSpPr>
        <p:spPr>
          <a:xfrm>
            <a:off x="6583680" y="5340096"/>
            <a:ext cx="457200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16"/>
          <p:cNvSpPr/>
          <p:nvPr/>
        </p:nvSpPr>
        <p:spPr>
          <a:xfrm>
            <a:off x="6675120" y="5367528"/>
            <a:ext cx="4434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 = 2.4 × 10^1.05 ≈ 27.2 person-months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16"/>
          <p:cNvSpPr/>
          <p:nvPr/>
        </p:nvSpPr>
        <p:spPr>
          <a:xfrm>
            <a:off x="457200" y="5815584"/>
            <a:ext cx="2286000" cy="43891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16"/>
          <p:cNvSpPr/>
          <p:nvPr/>
        </p:nvSpPr>
        <p:spPr>
          <a:xfrm>
            <a:off x="548640" y="5843016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Dev. Time (TDEV)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16"/>
          <p:cNvSpPr/>
          <p:nvPr/>
        </p:nvSpPr>
        <p:spPr>
          <a:xfrm>
            <a:off x="2743200" y="5815584"/>
            <a:ext cx="3840480" cy="43891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16"/>
          <p:cNvSpPr/>
          <p:nvPr/>
        </p:nvSpPr>
        <p:spPr>
          <a:xfrm>
            <a:off x="2834640" y="5843016"/>
            <a:ext cx="3703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 = 2.5 × E^0.38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16"/>
          <p:cNvSpPr/>
          <p:nvPr/>
        </p:nvSpPr>
        <p:spPr>
          <a:xfrm>
            <a:off x="6583680" y="5815584"/>
            <a:ext cx="4572000" cy="438912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16"/>
          <p:cNvSpPr/>
          <p:nvPr/>
        </p:nvSpPr>
        <p:spPr>
          <a:xfrm>
            <a:off x="6675120" y="5843016"/>
            <a:ext cx="4434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 = 2.5 × 27.2^0.38 ≈ 8.1 months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16"/>
          <p:cNvSpPr/>
          <p:nvPr/>
        </p:nvSpPr>
        <p:spPr>
          <a:xfrm>
            <a:off x="457200" y="6291072"/>
            <a:ext cx="228600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16"/>
          <p:cNvSpPr/>
          <p:nvPr/>
        </p:nvSpPr>
        <p:spPr>
          <a:xfrm>
            <a:off x="548640" y="6318504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Team Size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16"/>
          <p:cNvSpPr/>
          <p:nvPr/>
        </p:nvSpPr>
        <p:spPr>
          <a:xfrm>
            <a:off x="2743200" y="6291072"/>
            <a:ext cx="384048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16"/>
          <p:cNvSpPr/>
          <p:nvPr/>
        </p:nvSpPr>
        <p:spPr>
          <a:xfrm>
            <a:off x="2834640" y="6318504"/>
            <a:ext cx="3703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 = E / 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16"/>
          <p:cNvSpPr/>
          <p:nvPr/>
        </p:nvSpPr>
        <p:spPr>
          <a:xfrm>
            <a:off x="6583680" y="6291072"/>
            <a:ext cx="457200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16"/>
          <p:cNvSpPr/>
          <p:nvPr/>
        </p:nvSpPr>
        <p:spPr>
          <a:xfrm>
            <a:off x="6675120" y="6318504"/>
            <a:ext cx="4434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N = 27.2 / 8.1 ≈ 3–4 developers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16"/>
          <p:cNvSpPr/>
          <p:nvPr/>
        </p:nvSpPr>
        <p:spPr>
          <a:xfrm>
            <a:off x="457200" y="649224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Infrastructure Costs: Firebase (free tier) | MinIO self-hosted (₹0 on-prem) | Redis/Postgres on VPS (~₹800/mo) | Total cloud cost ≈ ₹1,000/month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C"/>
        </a:solidFill>
      </p:bgPr>
    </p:bg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17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Project Scheduling — Gantt Chart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17"/>
          <p:cNvSpPr/>
          <p:nvPr/>
        </p:nvSpPr>
        <p:spPr>
          <a:xfrm>
            <a:off x="457200" y="868680"/>
            <a:ext cx="109728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17"/>
          <p:cNvSpPr/>
          <p:nvPr/>
        </p:nvSpPr>
        <p:spPr>
          <a:xfrm>
            <a:off x="3200400" y="1005840"/>
            <a:ext cx="484094" cy="347472"/>
          </a:xfrm>
          <a:prstGeom prst="rect">
            <a:avLst/>
          </a:prstGeom>
          <a:solidFill>
            <a:srgbClr val="0A234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17"/>
          <p:cNvSpPr/>
          <p:nvPr/>
        </p:nvSpPr>
        <p:spPr>
          <a:xfrm>
            <a:off x="3200400" y="1005840"/>
            <a:ext cx="48409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17"/>
          <p:cNvSpPr/>
          <p:nvPr/>
        </p:nvSpPr>
        <p:spPr>
          <a:xfrm>
            <a:off x="3684494" y="1005840"/>
            <a:ext cx="484094" cy="347472"/>
          </a:xfrm>
          <a:prstGeom prst="rect">
            <a:avLst/>
          </a:prstGeom>
          <a:solidFill>
            <a:srgbClr val="1C729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17"/>
          <p:cNvSpPr/>
          <p:nvPr/>
        </p:nvSpPr>
        <p:spPr>
          <a:xfrm>
            <a:off x="3684494" y="1005840"/>
            <a:ext cx="48409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17"/>
          <p:cNvSpPr/>
          <p:nvPr/>
        </p:nvSpPr>
        <p:spPr>
          <a:xfrm>
            <a:off x="4168588" y="1005840"/>
            <a:ext cx="484094" cy="347472"/>
          </a:xfrm>
          <a:prstGeom prst="rect">
            <a:avLst/>
          </a:prstGeom>
          <a:solidFill>
            <a:srgbClr val="0A234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17"/>
          <p:cNvSpPr/>
          <p:nvPr/>
        </p:nvSpPr>
        <p:spPr>
          <a:xfrm>
            <a:off x="4168588" y="1005840"/>
            <a:ext cx="48409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17"/>
          <p:cNvSpPr/>
          <p:nvPr/>
        </p:nvSpPr>
        <p:spPr>
          <a:xfrm>
            <a:off x="4652682" y="1005840"/>
            <a:ext cx="484094" cy="347472"/>
          </a:xfrm>
          <a:prstGeom prst="rect">
            <a:avLst/>
          </a:prstGeom>
          <a:solidFill>
            <a:srgbClr val="1C729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17"/>
          <p:cNvSpPr/>
          <p:nvPr/>
        </p:nvSpPr>
        <p:spPr>
          <a:xfrm>
            <a:off x="4652682" y="1005840"/>
            <a:ext cx="48409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17"/>
          <p:cNvSpPr/>
          <p:nvPr/>
        </p:nvSpPr>
        <p:spPr>
          <a:xfrm>
            <a:off x="5136776" y="1005840"/>
            <a:ext cx="484094" cy="347472"/>
          </a:xfrm>
          <a:prstGeom prst="rect">
            <a:avLst/>
          </a:prstGeom>
          <a:solidFill>
            <a:srgbClr val="0A234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17"/>
          <p:cNvSpPr/>
          <p:nvPr/>
        </p:nvSpPr>
        <p:spPr>
          <a:xfrm>
            <a:off x="5136776" y="1005840"/>
            <a:ext cx="48409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17"/>
          <p:cNvSpPr/>
          <p:nvPr/>
        </p:nvSpPr>
        <p:spPr>
          <a:xfrm>
            <a:off x="5620871" y="1005840"/>
            <a:ext cx="484094" cy="347472"/>
          </a:xfrm>
          <a:prstGeom prst="rect">
            <a:avLst/>
          </a:prstGeom>
          <a:solidFill>
            <a:srgbClr val="1C729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17"/>
          <p:cNvSpPr/>
          <p:nvPr/>
        </p:nvSpPr>
        <p:spPr>
          <a:xfrm>
            <a:off x="5620871" y="1005840"/>
            <a:ext cx="48409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17"/>
          <p:cNvSpPr/>
          <p:nvPr/>
        </p:nvSpPr>
        <p:spPr>
          <a:xfrm>
            <a:off x="6104965" y="1005840"/>
            <a:ext cx="484094" cy="347472"/>
          </a:xfrm>
          <a:prstGeom prst="rect">
            <a:avLst/>
          </a:prstGeom>
          <a:solidFill>
            <a:srgbClr val="0A234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17"/>
          <p:cNvSpPr/>
          <p:nvPr/>
        </p:nvSpPr>
        <p:spPr>
          <a:xfrm>
            <a:off x="6104965" y="1005840"/>
            <a:ext cx="48409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17"/>
          <p:cNvSpPr/>
          <p:nvPr/>
        </p:nvSpPr>
        <p:spPr>
          <a:xfrm>
            <a:off x="6589059" y="1005840"/>
            <a:ext cx="484094" cy="347472"/>
          </a:xfrm>
          <a:prstGeom prst="rect">
            <a:avLst/>
          </a:prstGeom>
          <a:solidFill>
            <a:srgbClr val="1C729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17"/>
          <p:cNvSpPr/>
          <p:nvPr/>
        </p:nvSpPr>
        <p:spPr>
          <a:xfrm>
            <a:off x="6589059" y="1005840"/>
            <a:ext cx="48409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17"/>
          <p:cNvSpPr/>
          <p:nvPr/>
        </p:nvSpPr>
        <p:spPr>
          <a:xfrm>
            <a:off x="7073153" y="1005840"/>
            <a:ext cx="484094" cy="347472"/>
          </a:xfrm>
          <a:prstGeom prst="rect">
            <a:avLst/>
          </a:prstGeom>
          <a:solidFill>
            <a:srgbClr val="0A234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17"/>
          <p:cNvSpPr/>
          <p:nvPr/>
        </p:nvSpPr>
        <p:spPr>
          <a:xfrm>
            <a:off x="7073153" y="1005840"/>
            <a:ext cx="48409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17"/>
          <p:cNvSpPr/>
          <p:nvPr/>
        </p:nvSpPr>
        <p:spPr>
          <a:xfrm>
            <a:off x="7557247" y="1005840"/>
            <a:ext cx="484094" cy="347472"/>
          </a:xfrm>
          <a:prstGeom prst="rect">
            <a:avLst/>
          </a:prstGeom>
          <a:solidFill>
            <a:srgbClr val="1C729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17"/>
          <p:cNvSpPr/>
          <p:nvPr/>
        </p:nvSpPr>
        <p:spPr>
          <a:xfrm>
            <a:off x="7557247" y="1005840"/>
            <a:ext cx="48409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17"/>
          <p:cNvSpPr/>
          <p:nvPr/>
        </p:nvSpPr>
        <p:spPr>
          <a:xfrm>
            <a:off x="8041341" y="1005840"/>
            <a:ext cx="484094" cy="347472"/>
          </a:xfrm>
          <a:prstGeom prst="rect">
            <a:avLst/>
          </a:prstGeom>
          <a:solidFill>
            <a:srgbClr val="0A234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17"/>
          <p:cNvSpPr/>
          <p:nvPr/>
        </p:nvSpPr>
        <p:spPr>
          <a:xfrm>
            <a:off x="8041341" y="1005840"/>
            <a:ext cx="48409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17"/>
          <p:cNvSpPr/>
          <p:nvPr/>
        </p:nvSpPr>
        <p:spPr>
          <a:xfrm>
            <a:off x="8525435" y="1005840"/>
            <a:ext cx="484094" cy="347472"/>
          </a:xfrm>
          <a:prstGeom prst="rect">
            <a:avLst/>
          </a:prstGeom>
          <a:solidFill>
            <a:srgbClr val="1C729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17"/>
          <p:cNvSpPr/>
          <p:nvPr/>
        </p:nvSpPr>
        <p:spPr>
          <a:xfrm>
            <a:off x="8525435" y="1005840"/>
            <a:ext cx="48409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17"/>
          <p:cNvSpPr/>
          <p:nvPr/>
        </p:nvSpPr>
        <p:spPr>
          <a:xfrm>
            <a:off x="9009529" y="1005840"/>
            <a:ext cx="484094" cy="347472"/>
          </a:xfrm>
          <a:prstGeom prst="rect">
            <a:avLst/>
          </a:prstGeom>
          <a:solidFill>
            <a:srgbClr val="0A234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17"/>
          <p:cNvSpPr/>
          <p:nvPr/>
        </p:nvSpPr>
        <p:spPr>
          <a:xfrm>
            <a:off x="9009529" y="1005840"/>
            <a:ext cx="48409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17"/>
          <p:cNvSpPr/>
          <p:nvPr/>
        </p:nvSpPr>
        <p:spPr>
          <a:xfrm>
            <a:off x="9493624" y="1005840"/>
            <a:ext cx="484094" cy="347472"/>
          </a:xfrm>
          <a:prstGeom prst="rect">
            <a:avLst/>
          </a:prstGeom>
          <a:solidFill>
            <a:srgbClr val="1C729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17"/>
          <p:cNvSpPr/>
          <p:nvPr/>
        </p:nvSpPr>
        <p:spPr>
          <a:xfrm>
            <a:off x="9493624" y="1005840"/>
            <a:ext cx="48409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17"/>
          <p:cNvSpPr/>
          <p:nvPr/>
        </p:nvSpPr>
        <p:spPr>
          <a:xfrm>
            <a:off x="9977718" y="1005840"/>
            <a:ext cx="484094" cy="347472"/>
          </a:xfrm>
          <a:prstGeom prst="rect">
            <a:avLst/>
          </a:prstGeom>
          <a:solidFill>
            <a:srgbClr val="0A234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17"/>
          <p:cNvSpPr/>
          <p:nvPr/>
        </p:nvSpPr>
        <p:spPr>
          <a:xfrm>
            <a:off x="9977718" y="1005840"/>
            <a:ext cx="48409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17"/>
          <p:cNvSpPr/>
          <p:nvPr/>
        </p:nvSpPr>
        <p:spPr>
          <a:xfrm>
            <a:off x="10461812" y="1005840"/>
            <a:ext cx="484094" cy="347472"/>
          </a:xfrm>
          <a:prstGeom prst="rect">
            <a:avLst/>
          </a:prstGeom>
          <a:solidFill>
            <a:srgbClr val="1C729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17"/>
          <p:cNvSpPr/>
          <p:nvPr/>
        </p:nvSpPr>
        <p:spPr>
          <a:xfrm>
            <a:off x="10461812" y="1005840"/>
            <a:ext cx="48409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17"/>
          <p:cNvSpPr/>
          <p:nvPr/>
        </p:nvSpPr>
        <p:spPr>
          <a:xfrm>
            <a:off x="10945906" y="1005840"/>
            <a:ext cx="484094" cy="347472"/>
          </a:xfrm>
          <a:prstGeom prst="rect">
            <a:avLst/>
          </a:prstGeom>
          <a:solidFill>
            <a:srgbClr val="0A234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17"/>
          <p:cNvSpPr/>
          <p:nvPr/>
        </p:nvSpPr>
        <p:spPr>
          <a:xfrm>
            <a:off x="10945906" y="1005840"/>
            <a:ext cx="48409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17"/>
          <p:cNvSpPr/>
          <p:nvPr/>
        </p:nvSpPr>
        <p:spPr>
          <a:xfrm>
            <a:off x="365760" y="1389888"/>
            <a:ext cx="2743200" cy="457200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17"/>
          <p:cNvSpPr/>
          <p:nvPr/>
        </p:nvSpPr>
        <p:spPr>
          <a:xfrm>
            <a:off x="438912" y="1417320"/>
            <a:ext cx="2697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Requirements Elicitation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17"/>
          <p:cNvSpPr/>
          <p:nvPr/>
        </p:nvSpPr>
        <p:spPr>
          <a:xfrm>
            <a:off x="3200400" y="1389888"/>
            <a:ext cx="8229600" cy="4572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17"/>
          <p:cNvSpPr/>
          <p:nvPr/>
        </p:nvSpPr>
        <p:spPr>
          <a:xfrm>
            <a:off x="3200400" y="1463040"/>
            <a:ext cx="968188" cy="310896"/>
          </a:xfrm>
          <a:prstGeom prst="rect">
            <a:avLst/>
          </a:prstGeom>
          <a:solidFill>
            <a:srgbClr val="0284C7"/>
          </a:solidFill>
          <a:ln cap="flat" cmpd="sng" w="127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17"/>
          <p:cNvSpPr/>
          <p:nvPr/>
        </p:nvSpPr>
        <p:spPr>
          <a:xfrm>
            <a:off x="365760" y="1883664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17"/>
          <p:cNvSpPr/>
          <p:nvPr/>
        </p:nvSpPr>
        <p:spPr>
          <a:xfrm>
            <a:off x="438912" y="1911096"/>
            <a:ext cx="2697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System Design &amp; Architecture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17"/>
          <p:cNvSpPr/>
          <p:nvPr/>
        </p:nvSpPr>
        <p:spPr>
          <a:xfrm>
            <a:off x="3200400" y="1883664"/>
            <a:ext cx="82296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17"/>
          <p:cNvSpPr/>
          <p:nvPr/>
        </p:nvSpPr>
        <p:spPr>
          <a:xfrm>
            <a:off x="3926541" y="1956816"/>
            <a:ext cx="1210235" cy="31089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17"/>
          <p:cNvSpPr/>
          <p:nvPr/>
        </p:nvSpPr>
        <p:spPr>
          <a:xfrm>
            <a:off x="365760" y="2377440"/>
            <a:ext cx="2743200" cy="457200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17"/>
          <p:cNvSpPr/>
          <p:nvPr/>
        </p:nvSpPr>
        <p:spPr>
          <a:xfrm>
            <a:off x="438912" y="2404872"/>
            <a:ext cx="2697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Sprint 1: Auth + DB Schema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17"/>
          <p:cNvSpPr/>
          <p:nvPr/>
        </p:nvSpPr>
        <p:spPr>
          <a:xfrm>
            <a:off x="3200400" y="2377440"/>
            <a:ext cx="8229600" cy="4572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17"/>
          <p:cNvSpPr/>
          <p:nvPr/>
        </p:nvSpPr>
        <p:spPr>
          <a:xfrm>
            <a:off x="4894729" y="2450592"/>
            <a:ext cx="1452282" cy="31089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17"/>
          <p:cNvSpPr/>
          <p:nvPr/>
        </p:nvSpPr>
        <p:spPr>
          <a:xfrm>
            <a:off x="365760" y="2871216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17"/>
          <p:cNvSpPr/>
          <p:nvPr/>
        </p:nvSpPr>
        <p:spPr>
          <a:xfrm>
            <a:off x="438912" y="2898648"/>
            <a:ext cx="2697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Sprint 2: Booking + Slots + FCM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17"/>
          <p:cNvSpPr/>
          <p:nvPr/>
        </p:nvSpPr>
        <p:spPr>
          <a:xfrm>
            <a:off x="3200400" y="2871216"/>
            <a:ext cx="82296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17"/>
          <p:cNvSpPr/>
          <p:nvPr/>
        </p:nvSpPr>
        <p:spPr>
          <a:xfrm>
            <a:off x="6104965" y="2944368"/>
            <a:ext cx="1936376" cy="310896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17"/>
          <p:cNvSpPr/>
          <p:nvPr/>
        </p:nvSpPr>
        <p:spPr>
          <a:xfrm>
            <a:off x="365760" y="3364992"/>
            <a:ext cx="2743200" cy="457200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17"/>
          <p:cNvSpPr/>
          <p:nvPr/>
        </p:nvSpPr>
        <p:spPr>
          <a:xfrm>
            <a:off x="438912" y="3392424"/>
            <a:ext cx="2697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Sprint 3: Chat + Video + AI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17"/>
          <p:cNvSpPr/>
          <p:nvPr/>
        </p:nvSpPr>
        <p:spPr>
          <a:xfrm>
            <a:off x="3200400" y="3364992"/>
            <a:ext cx="8229600" cy="4572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17"/>
          <p:cNvSpPr/>
          <p:nvPr/>
        </p:nvSpPr>
        <p:spPr>
          <a:xfrm>
            <a:off x="7557247" y="3438144"/>
            <a:ext cx="1936376" cy="310896"/>
          </a:xfrm>
          <a:prstGeom prst="rect">
            <a:avLst/>
          </a:prstGeom>
          <a:solidFill>
            <a:srgbClr val="BE185D"/>
          </a:solidFill>
          <a:ln cap="flat" cmpd="sng" w="12700">
            <a:solidFill>
              <a:srgbClr val="BE185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17"/>
          <p:cNvSpPr/>
          <p:nvPr/>
        </p:nvSpPr>
        <p:spPr>
          <a:xfrm>
            <a:off x="365760" y="3858768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17"/>
          <p:cNvSpPr/>
          <p:nvPr/>
        </p:nvSpPr>
        <p:spPr>
          <a:xfrm>
            <a:off x="438912" y="3886200"/>
            <a:ext cx="2697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Sprint 4: Records + Ratings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17"/>
          <p:cNvSpPr/>
          <p:nvPr/>
        </p:nvSpPr>
        <p:spPr>
          <a:xfrm>
            <a:off x="3200400" y="3858768"/>
            <a:ext cx="82296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17"/>
          <p:cNvSpPr/>
          <p:nvPr/>
        </p:nvSpPr>
        <p:spPr>
          <a:xfrm>
            <a:off x="9009529" y="3931920"/>
            <a:ext cx="1452282" cy="310896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17"/>
          <p:cNvSpPr/>
          <p:nvPr/>
        </p:nvSpPr>
        <p:spPr>
          <a:xfrm>
            <a:off x="365760" y="4352544"/>
            <a:ext cx="2743200" cy="457200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17"/>
          <p:cNvSpPr/>
          <p:nvPr/>
        </p:nvSpPr>
        <p:spPr>
          <a:xfrm>
            <a:off x="438912" y="4379976"/>
            <a:ext cx="2697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Testing &amp; Bug Fixes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17"/>
          <p:cNvSpPr/>
          <p:nvPr/>
        </p:nvSpPr>
        <p:spPr>
          <a:xfrm>
            <a:off x="3200400" y="4352544"/>
            <a:ext cx="8229600" cy="4572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17"/>
          <p:cNvSpPr/>
          <p:nvPr/>
        </p:nvSpPr>
        <p:spPr>
          <a:xfrm>
            <a:off x="9493624" y="4425696"/>
            <a:ext cx="1452282" cy="310896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17"/>
          <p:cNvSpPr/>
          <p:nvPr/>
        </p:nvSpPr>
        <p:spPr>
          <a:xfrm>
            <a:off x="365760" y="4846320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17"/>
          <p:cNvSpPr/>
          <p:nvPr/>
        </p:nvSpPr>
        <p:spPr>
          <a:xfrm>
            <a:off x="438912" y="4873752"/>
            <a:ext cx="2697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Deployment &amp; Documentation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17"/>
          <p:cNvSpPr/>
          <p:nvPr/>
        </p:nvSpPr>
        <p:spPr>
          <a:xfrm>
            <a:off x="3200400" y="4846320"/>
            <a:ext cx="82296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17"/>
          <p:cNvSpPr/>
          <p:nvPr/>
        </p:nvSpPr>
        <p:spPr>
          <a:xfrm>
            <a:off x="10461812" y="4919472"/>
            <a:ext cx="726141" cy="310896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17"/>
          <p:cNvSpPr/>
          <p:nvPr/>
        </p:nvSpPr>
        <p:spPr>
          <a:xfrm>
            <a:off x="4785001" y="5413248"/>
            <a:ext cx="219456" cy="219456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17"/>
          <p:cNvSpPr/>
          <p:nvPr/>
        </p:nvSpPr>
        <p:spPr>
          <a:xfrm>
            <a:off x="4346089" y="5641848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M1: Design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Complete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17"/>
          <p:cNvSpPr/>
          <p:nvPr/>
        </p:nvSpPr>
        <p:spPr>
          <a:xfrm>
            <a:off x="7689566" y="5413248"/>
            <a:ext cx="219456" cy="219456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17"/>
          <p:cNvSpPr/>
          <p:nvPr/>
        </p:nvSpPr>
        <p:spPr>
          <a:xfrm>
            <a:off x="7250654" y="5641848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M2: MVP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Release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17"/>
          <p:cNvSpPr/>
          <p:nvPr/>
        </p:nvSpPr>
        <p:spPr>
          <a:xfrm>
            <a:off x="10110037" y="5413248"/>
            <a:ext cx="219456" cy="219456"/>
          </a:xfrm>
          <a:prstGeom prst="ellipse">
            <a:avLst/>
          </a:prstGeom>
          <a:solidFill>
            <a:srgbClr val="BE185D"/>
          </a:solidFill>
          <a:ln cap="flat" cmpd="sng" w="12700">
            <a:solidFill>
              <a:srgbClr val="BE18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17"/>
          <p:cNvSpPr/>
          <p:nvPr/>
        </p:nvSpPr>
        <p:spPr>
          <a:xfrm>
            <a:off x="9671125" y="5641848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E185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E185D"/>
                </a:solidFill>
                <a:latin typeface="Calibri"/>
                <a:ea typeface="Calibri"/>
                <a:cs typeface="Calibri"/>
                <a:sym typeface="Calibri"/>
              </a:rPr>
              <a:t>M3: Feature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E185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E185D"/>
                </a:solidFill>
                <a:latin typeface="Calibri"/>
                <a:ea typeface="Calibri"/>
                <a:cs typeface="Calibri"/>
                <a:sym typeface="Calibri"/>
              </a:rPr>
              <a:t>Complete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17"/>
          <p:cNvSpPr/>
          <p:nvPr/>
        </p:nvSpPr>
        <p:spPr>
          <a:xfrm>
            <a:off x="11078225" y="5413248"/>
            <a:ext cx="219456" cy="219456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17"/>
          <p:cNvSpPr/>
          <p:nvPr/>
        </p:nvSpPr>
        <p:spPr>
          <a:xfrm>
            <a:off x="10639313" y="5641848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M4: Final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C"/>
        </a:solidFill>
      </p:bgPr>
    </p:bg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8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Risk Analysis (RMMM Plan)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18"/>
          <p:cNvSpPr/>
          <p:nvPr/>
        </p:nvSpPr>
        <p:spPr>
          <a:xfrm>
            <a:off x="457200" y="868680"/>
            <a:ext cx="109728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18"/>
          <p:cNvSpPr/>
          <p:nvPr/>
        </p:nvSpPr>
        <p:spPr>
          <a:xfrm>
            <a:off x="457200" y="96012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Reference: Pressman SE Ch.28 — Risk Identification, Projection (RE = P × C), RMMM Plan (Unit 4, 20CS5PCSEG)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18"/>
          <p:cNvSpPr/>
          <p:nvPr/>
        </p:nvSpPr>
        <p:spPr>
          <a:xfrm>
            <a:off x="365760" y="1298448"/>
            <a:ext cx="2560320" cy="512064"/>
          </a:xfrm>
          <a:prstGeom prst="rect">
            <a:avLst/>
          </a:prstGeom>
          <a:solidFill>
            <a:srgbClr val="0A2342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18"/>
          <p:cNvSpPr/>
          <p:nvPr/>
        </p:nvSpPr>
        <p:spPr>
          <a:xfrm>
            <a:off x="420624" y="132588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18"/>
          <p:cNvSpPr/>
          <p:nvPr/>
        </p:nvSpPr>
        <p:spPr>
          <a:xfrm>
            <a:off x="2926080" y="1298448"/>
            <a:ext cx="1188720" cy="512064"/>
          </a:xfrm>
          <a:prstGeom prst="rect">
            <a:avLst/>
          </a:prstGeom>
          <a:solidFill>
            <a:srgbClr val="0A2342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18"/>
          <p:cNvSpPr/>
          <p:nvPr/>
        </p:nvSpPr>
        <p:spPr>
          <a:xfrm>
            <a:off x="2980944" y="132588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18"/>
          <p:cNvSpPr/>
          <p:nvPr/>
        </p:nvSpPr>
        <p:spPr>
          <a:xfrm>
            <a:off x="4114800" y="1298448"/>
            <a:ext cx="1097280" cy="512064"/>
          </a:xfrm>
          <a:prstGeom prst="rect">
            <a:avLst/>
          </a:prstGeom>
          <a:solidFill>
            <a:srgbClr val="0A2342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18"/>
          <p:cNvSpPr/>
          <p:nvPr/>
        </p:nvSpPr>
        <p:spPr>
          <a:xfrm>
            <a:off x="4169664" y="132588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18"/>
          <p:cNvSpPr/>
          <p:nvPr/>
        </p:nvSpPr>
        <p:spPr>
          <a:xfrm>
            <a:off x="5212080" y="1298448"/>
            <a:ext cx="594360" cy="512064"/>
          </a:xfrm>
          <a:prstGeom prst="rect">
            <a:avLst/>
          </a:prstGeom>
          <a:solidFill>
            <a:srgbClr val="0A2342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18"/>
          <p:cNvSpPr/>
          <p:nvPr/>
        </p:nvSpPr>
        <p:spPr>
          <a:xfrm>
            <a:off x="5266944" y="132588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18"/>
          <p:cNvSpPr/>
          <p:nvPr/>
        </p:nvSpPr>
        <p:spPr>
          <a:xfrm>
            <a:off x="5806440" y="1298448"/>
            <a:ext cx="5303520" cy="512064"/>
          </a:xfrm>
          <a:prstGeom prst="rect">
            <a:avLst/>
          </a:prstGeom>
          <a:solidFill>
            <a:srgbClr val="0A2342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18"/>
          <p:cNvSpPr/>
          <p:nvPr/>
        </p:nvSpPr>
        <p:spPr>
          <a:xfrm>
            <a:off x="5861304" y="132588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Mitigation Strategy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18"/>
          <p:cNvSpPr/>
          <p:nvPr/>
        </p:nvSpPr>
        <p:spPr>
          <a:xfrm>
            <a:off x="365760" y="1856232"/>
            <a:ext cx="2560320" cy="512064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18"/>
          <p:cNvSpPr/>
          <p:nvPr/>
        </p:nvSpPr>
        <p:spPr>
          <a:xfrm>
            <a:off x="420624" y="1883664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Real-time WebSocket scaling under load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18"/>
          <p:cNvSpPr/>
          <p:nvPr/>
        </p:nvSpPr>
        <p:spPr>
          <a:xfrm>
            <a:off x="2926080" y="1856232"/>
            <a:ext cx="1188720" cy="512064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18"/>
          <p:cNvSpPr/>
          <p:nvPr/>
        </p:nvSpPr>
        <p:spPr>
          <a:xfrm>
            <a:off x="2980944" y="1883664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Medium (0.5)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18"/>
          <p:cNvSpPr/>
          <p:nvPr/>
        </p:nvSpPr>
        <p:spPr>
          <a:xfrm>
            <a:off x="4114800" y="1856232"/>
            <a:ext cx="1097280" cy="512064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18"/>
          <p:cNvSpPr/>
          <p:nvPr/>
        </p:nvSpPr>
        <p:spPr>
          <a:xfrm>
            <a:off x="4169664" y="1883664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High (4)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18"/>
          <p:cNvSpPr/>
          <p:nvPr/>
        </p:nvSpPr>
        <p:spPr>
          <a:xfrm>
            <a:off x="5212080" y="1856232"/>
            <a:ext cx="594360" cy="512064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18"/>
          <p:cNvSpPr/>
          <p:nvPr/>
        </p:nvSpPr>
        <p:spPr>
          <a:xfrm>
            <a:off x="5266944" y="1883664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18"/>
          <p:cNvSpPr/>
          <p:nvPr/>
        </p:nvSpPr>
        <p:spPr>
          <a:xfrm>
            <a:off x="5806440" y="1856232"/>
            <a:ext cx="5303520" cy="512064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18"/>
          <p:cNvSpPr/>
          <p:nvPr/>
        </p:nvSpPr>
        <p:spPr>
          <a:xfrm>
            <a:off x="5861304" y="1883664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 Redis pub/sub for multi-instance WS; load-test early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18"/>
          <p:cNvSpPr/>
          <p:nvPr/>
        </p:nvSpPr>
        <p:spPr>
          <a:xfrm>
            <a:off x="365760" y="2414016"/>
            <a:ext cx="256032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18"/>
          <p:cNvSpPr/>
          <p:nvPr/>
        </p:nvSpPr>
        <p:spPr>
          <a:xfrm>
            <a:off x="420624" y="2441448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Firebase Auth service downtime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18"/>
          <p:cNvSpPr/>
          <p:nvPr/>
        </p:nvSpPr>
        <p:spPr>
          <a:xfrm>
            <a:off x="2926080" y="2414016"/>
            <a:ext cx="118872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18"/>
          <p:cNvSpPr/>
          <p:nvPr/>
        </p:nvSpPr>
        <p:spPr>
          <a:xfrm>
            <a:off x="2980944" y="2441448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Low (0.2)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18"/>
          <p:cNvSpPr/>
          <p:nvPr/>
        </p:nvSpPr>
        <p:spPr>
          <a:xfrm>
            <a:off x="4114800" y="2414016"/>
            <a:ext cx="109728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18"/>
          <p:cNvSpPr/>
          <p:nvPr/>
        </p:nvSpPr>
        <p:spPr>
          <a:xfrm>
            <a:off x="4169664" y="2441448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High (5)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18"/>
          <p:cNvSpPr/>
          <p:nvPr/>
        </p:nvSpPr>
        <p:spPr>
          <a:xfrm>
            <a:off x="5212080" y="2414016"/>
            <a:ext cx="59436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18"/>
          <p:cNvSpPr/>
          <p:nvPr/>
        </p:nvSpPr>
        <p:spPr>
          <a:xfrm>
            <a:off x="5266944" y="2441448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18"/>
          <p:cNvSpPr/>
          <p:nvPr/>
        </p:nvSpPr>
        <p:spPr>
          <a:xfrm>
            <a:off x="5806440" y="2414016"/>
            <a:ext cx="530352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18"/>
          <p:cNvSpPr/>
          <p:nvPr/>
        </p:nvSpPr>
        <p:spPr>
          <a:xfrm>
            <a:off x="5861304" y="2441448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Implement local JWT fallback; monitor Firebase status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18"/>
          <p:cNvSpPr/>
          <p:nvPr/>
        </p:nvSpPr>
        <p:spPr>
          <a:xfrm>
            <a:off x="365760" y="2971800"/>
            <a:ext cx="2560320" cy="512064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18"/>
          <p:cNvSpPr/>
          <p:nvPr/>
        </p:nvSpPr>
        <p:spPr>
          <a:xfrm>
            <a:off x="420624" y="2999232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PostgreSQL ACID failure on concurrent booking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18"/>
          <p:cNvSpPr/>
          <p:nvPr/>
        </p:nvSpPr>
        <p:spPr>
          <a:xfrm>
            <a:off x="2926080" y="2971800"/>
            <a:ext cx="1188720" cy="512064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18"/>
          <p:cNvSpPr/>
          <p:nvPr/>
        </p:nvSpPr>
        <p:spPr>
          <a:xfrm>
            <a:off x="2980944" y="2999232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Low (0.15)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18"/>
          <p:cNvSpPr/>
          <p:nvPr/>
        </p:nvSpPr>
        <p:spPr>
          <a:xfrm>
            <a:off x="4114800" y="2971800"/>
            <a:ext cx="1097280" cy="512064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18"/>
          <p:cNvSpPr/>
          <p:nvPr/>
        </p:nvSpPr>
        <p:spPr>
          <a:xfrm>
            <a:off x="4169664" y="2999232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Critical (5)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18"/>
          <p:cNvSpPr/>
          <p:nvPr/>
        </p:nvSpPr>
        <p:spPr>
          <a:xfrm>
            <a:off x="5212080" y="2971800"/>
            <a:ext cx="594360" cy="512064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18"/>
          <p:cNvSpPr/>
          <p:nvPr/>
        </p:nvSpPr>
        <p:spPr>
          <a:xfrm>
            <a:off x="5266944" y="299923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0.75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18"/>
          <p:cNvSpPr/>
          <p:nvPr/>
        </p:nvSpPr>
        <p:spPr>
          <a:xfrm>
            <a:off x="5806440" y="2971800"/>
            <a:ext cx="5303520" cy="512064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18"/>
          <p:cNvSpPr/>
          <p:nvPr/>
        </p:nvSpPr>
        <p:spPr>
          <a:xfrm>
            <a:off x="5861304" y="2999232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Row-level locking + transactions; retry logic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18"/>
          <p:cNvSpPr/>
          <p:nvPr/>
        </p:nvSpPr>
        <p:spPr>
          <a:xfrm>
            <a:off x="365760" y="3529584"/>
            <a:ext cx="256032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18"/>
          <p:cNvSpPr/>
          <p:nvPr/>
        </p:nvSpPr>
        <p:spPr>
          <a:xfrm>
            <a:off x="420624" y="355701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Gemini API quota exceeded / rate limiting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18"/>
          <p:cNvSpPr/>
          <p:nvPr/>
        </p:nvSpPr>
        <p:spPr>
          <a:xfrm>
            <a:off x="2926080" y="3529584"/>
            <a:ext cx="118872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18"/>
          <p:cNvSpPr/>
          <p:nvPr/>
        </p:nvSpPr>
        <p:spPr>
          <a:xfrm>
            <a:off x="2980944" y="3557016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Medium (0.4)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18"/>
          <p:cNvSpPr/>
          <p:nvPr/>
        </p:nvSpPr>
        <p:spPr>
          <a:xfrm>
            <a:off x="4114800" y="3529584"/>
            <a:ext cx="109728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18"/>
          <p:cNvSpPr/>
          <p:nvPr/>
        </p:nvSpPr>
        <p:spPr>
          <a:xfrm>
            <a:off x="4169664" y="3557016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Medium (3)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18"/>
          <p:cNvSpPr/>
          <p:nvPr/>
        </p:nvSpPr>
        <p:spPr>
          <a:xfrm>
            <a:off x="5212080" y="3529584"/>
            <a:ext cx="59436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18"/>
          <p:cNvSpPr/>
          <p:nvPr/>
        </p:nvSpPr>
        <p:spPr>
          <a:xfrm>
            <a:off x="5266944" y="3557016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18"/>
          <p:cNvSpPr/>
          <p:nvPr/>
        </p:nvSpPr>
        <p:spPr>
          <a:xfrm>
            <a:off x="5806440" y="3529584"/>
            <a:ext cx="530352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18"/>
          <p:cNvSpPr/>
          <p:nvPr/>
        </p:nvSpPr>
        <p:spPr>
          <a:xfrm>
            <a:off x="5861304" y="3557016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Cache common responses in Redis; implement backoff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18"/>
          <p:cNvSpPr/>
          <p:nvPr/>
        </p:nvSpPr>
        <p:spPr>
          <a:xfrm>
            <a:off x="365760" y="4087368"/>
            <a:ext cx="2560320" cy="512064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18"/>
          <p:cNvSpPr/>
          <p:nvPr/>
        </p:nvSpPr>
        <p:spPr>
          <a:xfrm>
            <a:off x="420624" y="411480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Scope creep (prescription, insurance features)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18"/>
          <p:cNvSpPr/>
          <p:nvPr/>
        </p:nvSpPr>
        <p:spPr>
          <a:xfrm>
            <a:off x="2926080" y="4087368"/>
            <a:ext cx="1188720" cy="512064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18"/>
          <p:cNvSpPr/>
          <p:nvPr/>
        </p:nvSpPr>
        <p:spPr>
          <a:xfrm>
            <a:off x="2980944" y="41148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High (0.7)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18"/>
          <p:cNvSpPr/>
          <p:nvPr/>
        </p:nvSpPr>
        <p:spPr>
          <a:xfrm>
            <a:off x="4114800" y="4087368"/>
            <a:ext cx="1097280" cy="512064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18"/>
          <p:cNvSpPr/>
          <p:nvPr/>
        </p:nvSpPr>
        <p:spPr>
          <a:xfrm>
            <a:off x="4169664" y="4114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Medium (3)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18"/>
          <p:cNvSpPr/>
          <p:nvPr/>
        </p:nvSpPr>
        <p:spPr>
          <a:xfrm>
            <a:off x="5212080" y="4087368"/>
            <a:ext cx="594360" cy="512064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18"/>
          <p:cNvSpPr/>
          <p:nvPr/>
        </p:nvSpPr>
        <p:spPr>
          <a:xfrm>
            <a:off x="5266944" y="411480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18"/>
          <p:cNvSpPr/>
          <p:nvPr/>
        </p:nvSpPr>
        <p:spPr>
          <a:xfrm>
            <a:off x="5806440" y="4087368"/>
            <a:ext cx="5303520" cy="512064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18"/>
          <p:cNvSpPr/>
          <p:nvPr/>
        </p:nvSpPr>
        <p:spPr>
          <a:xfrm>
            <a:off x="5861304" y="411480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Enforce scope freeze; defer to v2.0 roadmap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18"/>
          <p:cNvSpPr/>
          <p:nvPr/>
        </p:nvSpPr>
        <p:spPr>
          <a:xfrm>
            <a:off x="365760" y="4645152"/>
            <a:ext cx="256032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18"/>
          <p:cNvSpPr/>
          <p:nvPr/>
        </p:nvSpPr>
        <p:spPr>
          <a:xfrm>
            <a:off x="420624" y="4672584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Team skill gap in WebRTC / video signaling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18"/>
          <p:cNvSpPr/>
          <p:nvPr/>
        </p:nvSpPr>
        <p:spPr>
          <a:xfrm>
            <a:off x="2926080" y="4645152"/>
            <a:ext cx="118872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18"/>
          <p:cNvSpPr/>
          <p:nvPr/>
        </p:nvSpPr>
        <p:spPr>
          <a:xfrm>
            <a:off x="2980944" y="4672584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Medium (0.45)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18"/>
          <p:cNvSpPr/>
          <p:nvPr/>
        </p:nvSpPr>
        <p:spPr>
          <a:xfrm>
            <a:off x="4114800" y="4645152"/>
            <a:ext cx="109728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18"/>
          <p:cNvSpPr/>
          <p:nvPr/>
        </p:nvSpPr>
        <p:spPr>
          <a:xfrm>
            <a:off x="4169664" y="4672584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High (4)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18"/>
          <p:cNvSpPr/>
          <p:nvPr/>
        </p:nvSpPr>
        <p:spPr>
          <a:xfrm>
            <a:off x="5212080" y="4645152"/>
            <a:ext cx="59436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18"/>
          <p:cNvSpPr/>
          <p:nvPr/>
        </p:nvSpPr>
        <p:spPr>
          <a:xfrm>
            <a:off x="5266944" y="4672584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18"/>
          <p:cNvSpPr/>
          <p:nvPr/>
        </p:nvSpPr>
        <p:spPr>
          <a:xfrm>
            <a:off x="5806440" y="4645152"/>
            <a:ext cx="530352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18"/>
          <p:cNvSpPr/>
          <p:nvPr/>
        </p:nvSpPr>
        <p:spPr>
          <a:xfrm>
            <a:off x="5861304" y="4672584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POC sprint; use proven signaling libraries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18"/>
          <p:cNvSpPr/>
          <p:nvPr/>
        </p:nvSpPr>
        <p:spPr>
          <a:xfrm>
            <a:off x="365760" y="5202936"/>
            <a:ext cx="2560320" cy="512064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18"/>
          <p:cNvSpPr/>
          <p:nvPr/>
        </p:nvSpPr>
        <p:spPr>
          <a:xfrm>
            <a:off x="420624" y="5230368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Changing Android API compatibility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18"/>
          <p:cNvSpPr/>
          <p:nvPr/>
        </p:nvSpPr>
        <p:spPr>
          <a:xfrm>
            <a:off x="2926080" y="5202936"/>
            <a:ext cx="1188720" cy="512064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18"/>
          <p:cNvSpPr/>
          <p:nvPr/>
        </p:nvSpPr>
        <p:spPr>
          <a:xfrm>
            <a:off x="2980944" y="5230368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Low (0.25)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18"/>
          <p:cNvSpPr/>
          <p:nvPr/>
        </p:nvSpPr>
        <p:spPr>
          <a:xfrm>
            <a:off x="4114800" y="5202936"/>
            <a:ext cx="1097280" cy="512064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18"/>
          <p:cNvSpPr/>
          <p:nvPr/>
        </p:nvSpPr>
        <p:spPr>
          <a:xfrm>
            <a:off x="4169664" y="5230368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Medium (3)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18"/>
          <p:cNvSpPr/>
          <p:nvPr/>
        </p:nvSpPr>
        <p:spPr>
          <a:xfrm>
            <a:off x="5212080" y="5202936"/>
            <a:ext cx="594360" cy="512064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18"/>
          <p:cNvSpPr/>
          <p:nvPr/>
        </p:nvSpPr>
        <p:spPr>
          <a:xfrm>
            <a:off x="5266944" y="5230368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0.75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18"/>
          <p:cNvSpPr/>
          <p:nvPr/>
        </p:nvSpPr>
        <p:spPr>
          <a:xfrm>
            <a:off x="5806440" y="5202936"/>
            <a:ext cx="5303520" cy="512064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18"/>
          <p:cNvSpPr/>
          <p:nvPr/>
        </p:nvSpPr>
        <p:spPr>
          <a:xfrm>
            <a:off x="5861304" y="5230368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Target API 26–34; test on multiple emulator versions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18"/>
          <p:cNvSpPr/>
          <p:nvPr/>
        </p:nvSpPr>
        <p:spPr>
          <a:xfrm>
            <a:off x="365760" y="5760720"/>
            <a:ext cx="256032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18"/>
          <p:cNvSpPr/>
          <p:nvPr/>
        </p:nvSpPr>
        <p:spPr>
          <a:xfrm>
            <a:off x="420624" y="5788152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MinIO storage running out of space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18"/>
          <p:cNvSpPr/>
          <p:nvPr/>
        </p:nvSpPr>
        <p:spPr>
          <a:xfrm>
            <a:off x="2926080" y="5760720"/>
            <a:ext cx="118872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18"/>
          <p:cNvSpPr/>
          <p:nvPr/>
        </p:nvSpPr>
        <p:spPr>
          <a:xfrm>
            <a:off x="2980944" y="5788152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Low (0.2)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18"/>
          <p:cNvSpPr/>
          <p:nvPr/>
        </p:nvSpPr>
        <p:spPr>
          <a:xfrm>
            <a:off x="4114800" y="5760720"/>
            <a:ext cx="109728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18"/>
          <p:cNvSpPr/>
          <p:nvPr/>
        </p:nvSpPr>
        <p:spPr>
          <a:xfrm>
            <a:off x="4169664" y="5788152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Medium (3)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18"/>
          <p:cNvSpPr/>
          <p:nvPr/>
        </p:nvSpPr>
        <p:spPr>
          <a:xfrm>
            <a:off x="5212080" y="5760720"/>
            <a:ext cx="59436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18"/>
          <p:cNvSpPr/>
          <p:nvPr/>
        </p:nvSpPr>
        <p:spPr>
          <a:xfrm>
            <a:off x="5266944" y="578815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18"/>
          <p:cNvSpPr/>
          <p:nvPr/>
        </p:nvSpPr>
        <p:spPr>
          <a:xfrm>
            <a:off x="5806440" y="5760720"/>
            <a:ext cx="530352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18"/>
          <p:cNvSpPr/>
          <p:nvPr/>
        </p:nvSpPr>
        <p:spPr>
          <a:xfrm>
            <a:off x="5861304" y="5788152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Set upload size limits; monitor disk; add LRU eviction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18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 = Risk Exposure = Probability × Impact (scale 1–5). Sorted by RE (descending). Proactive risk management approach — Pressman, Ch.28.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342"/>
        </a:solidFill>
      </p:bgPr>
    </p:bg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19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28090">
              <a:alpha val="14901"/>
            </a:srgbClr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19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02C39A">
              <a:alpha val="10196"/>
            </a:srgbClr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19"/>
          <p:cNvSpPr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 &amp; Future Scope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19"/>
          <p:cNvSpPr/>
          <p:nvPr/>
        </p:nvSpPr>
        <p:spPr>
          <a:xfrm>
            <a:off x="457200" y="886968"/>
            <a:ext cx="4572000" cy="36576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19"/>
          <p:cNvSpPr/>
          <p:nvPr/>
        </p:nvSpPr>
        <p:spPr>
          <a:xfrm>
            <a:off x="457200" y="1005840"/>
            <a:ext cx="5394960" cy="34747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19"/>
          <p:cNvSpPr/>
          <p:nvPr/>
        </p:nvSpPr>
        <p:spPr>
          <a:xfrm>
            <a:off x="457200" y="1005840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Was Achieved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19"/>
          <p:cNvSpPr/>
          <p:nvPr/>
        </p:nvSpPr>
        <p:spPr>
          <a:xfrm>
            <a:off x="502920" y="1517904"/>
            <a:ext cx="201168" cy="201168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19"/>
          <p:cNvSpPr/>
          <p:nvPr/>
        </p:nvSpPr>
        <p:spPr>
          <a:xfrm>
            <a:off x="804672" y="1472184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EE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DEEF4"/>
                </a:solidFill>
                <a:latin typeface="Calibri"/>
                <a:ea typeface="Calibri"/>
                <a:cs typeface="Calibri"/>
                <a:sym typeface="Calibri"/>
              </a:rPr>
              <a:t>Full-stack Android healthcare app — production-ready 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19"/>
          <p:cNvSpPr/>
          <p:nvPr/>
        </p:nvSpPr>
        <p:spPr>
          <a:xfrm>
            <a:off x="502920" y="1993392"/>
            <a:ext cx="201168" cy="201168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19"/>
          <p:cNvSpPr/>
          <p:nvPr/>
        </p:nvSpPr>
        <p:spPr>
          <a:xfrm>
            <a:off x="804672" y="1947672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EE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DEEF4"/>
                </a:solidFill>
                <a:latin typeface="Calibri"/>
                <a:ea typeface="Calibri"/>
                <a:cs typeface="Calibri"/>
                <a:sym typeface="Calibri"/>
              </a:rPr>
              <a:t>OTP auth, real-time chat, video calls, AI assistant — all in one app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19"/>
          <p:cNvSpPr/>
          <p:nvPr/>
        </p:nvSpPr>
        <p:spPr>
          <a:xfrm>
            <a:off x="502920" y="2468880"/>
            <a:ext cx="201168" cy="201168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19"/>
          <p:cNvSpPr/>
          <p:nvPr/>
        </p:nvSpPr>
        <p:spPr>
          <a:xfrm>
            <a:off x="804672" y="242316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EE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DEEF4"/>
                </a:solidFill>
                <a:latin typeface="Calibri"/>
                <a:ea typeface="Calibri"/>
                <a:cs typeface="Calibri"/>
                <a:sym typeface="Calibri"/>
              </a:rPr>
              <a:t>Automated slot generation via cron scheduler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19"/>
          <p:cNvSpPr/>
          <p:nvPr/>
        </p:nvSpPr>
        <p:spPr>
          <a:xfrm>
            <a:off x="502920" y="2944368"/>
            <a:ext cx="201168" cy="201168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19"/>
          <p:cNvSpPr/>
          <p:nvPr/>
        </p:nvSpPr>
        <p:spPr>
          <a:xfrm>
            <a:off x="804672" y="2898648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EE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DEEF4"/>
                </a:solidFill>
                <a:latin typeface="Calibri"/>
                <a:ea typeface="Calibri"/>
                <a:cs typeface="Calibri"/>
                <a:sym typeface="Calibri"/>
              </a:rPr>
              <a:t>Medical records stored securely in MinIO + PostgreSQL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19"/>
          <p:cNvSpPr/>
          <p:nvPr/>
        </p:nvSpPr>
        <p:spPr>
          <a:xfrm>
            <a:off x="502920" y="3419856"/>
            <a:ext cx="201168" cy="201168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19"/>
          <p:cNvSpPr/>
          <p:nvPr/>
        </p:nvSpPr>
        <p:spPr>
          <a:xfrm>
            <a:off x="804672" y="3374136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EE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DEEF4"/>
                </a:solidFill>
                <a:latin typeface="Calibri"/>
                <a:ea typeface="Calibri"/>
                <a:cs typeface="Calibri"/>
                <a:sym typeface="Calibri"/>
              </a:rPr>
              <a:t>Agile development across 4 sprints — ~9,833 LOC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19"/>
          <p:cNvSpPr/>
          <p:nvPr/>
        </p:nvSpPr>
        <p:spPr>
          <a:xfrm>
            <a:off x="502920" y="3895344"/>
            <a:ext cx="201168" cy="201168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19"/>
          <p:cNvSpPr/>
          <p:nvPr/>
        </p:nvSpPr>
        <p:spPr>
          <a:xfrm>
            <a:off x="804672" y="3849624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EE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DEEF4"/>
                </a:solidFill>
                <a:latin typeface="Calibri"/>
                <a:ea typeface="Calibri"/>
                <a:cs typeface="Calibri"/>
                <a:sym typeface="Calibri"/>
              </a:rPr>
              <a:t>Comprehensive testing: unit, integration, manual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19"/>
          <p:cNvSpPr/>
          <p:nvPr/>
        </p:nvSpPr>
        <p:spPr>
          <a:xfrm>
            <a:off x="502920" y="4370832"/>
            <a:ext cx="201168" cy="201168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19"/>
          <p:cNvSpPr/>
          <p:nvPr/>
        </p:nvSpPr>
        <p:spPr>
          <a:xfrm>
            <a:off x="804672" y="4325112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EE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DEEF4"/>
                </a:solidFill>
                <a:latin typeface="Calibri"/>
                <a:ea typeface="Calibri"/>
                <a:cs typeface="Calibri"/>
                <a:sym typeface="Calibri"/>
              </a:rPr>
              <a:t>Clean architecture: MVVM (Android) + modular Express (backend)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19"/>
          <p:cNvSpPr/>
          <p:nvPr/>
        </p:nvSpPr>
        <p:spPr>
          <a:xfrm>
            <a:off x="6309360" y="1005840"/>
            <a:ext cx="5394960" cy="34747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19"/>
          <p:cNvSpPr/>
          <p:nvPr/>
        </p:nvSpPr>
        <p:spPr>
          <a:xfrm>
            <a:off x="6309360" y="1005840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Future Enhancements (v2.0)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19"/>
          <p:cNvSpPr/>
          <p:nvPr/>
        </p:nvSpPr>
        <p:spPr>
          <a:xfrm>
            <a:off x="6309360" y="1426464"/>
            <a:ext cx="5394960" cy="402336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19"/>
          <p:cNvSpPr/>
          <p:nvPr/>
        </p:nvSpPr>
        <p:spPr>
          <a:xfrm>
            <a:off x="6309360" y="1426464"/>
            <a:ext cx="64008" cy="402336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19"/>
          <p:cNvSpPr/>
          <p:nvPr/>
        </p:nvSpPr>
        <p:spPr>
          <a:xfrm>
            <a:off x="6492240" y="1444752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E-Prescription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19"/>
          <p:cNvSpPr/>
          <p:nvPr/>
        </p:nvSpPr>
        <p:spPr>
          <a:xfrm>
            <a:off x="6492240" y="1627632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EEF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DEEF4"/>
                </a:solidFill>
                <a:latin typeface="Calibri"/>
                <a:ea typeface="Calibri"/>
                <a:cs typeface="Calibri"/>
                <a:sym typeface="Calibri"/>
              </a:rPr>
              <a:t>Digital prescription generation &amp; pharmacy integration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19"/>
          <p:cNvSpPr/>
          <p:nvPr/>
        </p:nvSpPr>
        <p:spPr>
          <a:xfrm>
            <a:off x="6309360" y="1901952"/>
            <a:ext cx="5394960" cy="402336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19"/>
          <p:cNvSpPr/>
          <p:nvPr/>
        </p:nvSpPr>
        <p:spPr>
          <a:xfrm>
            <a:off x="6309360" y="1901952"/>
            <a:ext cx="64008" cy="402336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19"/>
          <p:cNvSpPr/>
          <p:nvPr/>
        </p:nvSpPr>
        <p:spPr>
          <a:xfrm>
            <a:off x="6492240" y="192024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Lab Reports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19"/>
          <p:cNvSpPr/>
          <p:nvPr/>
        </p:nvSpPr>
        <p:spPr>
          <a:xfrm>
            <a:off x="6492240" y="2103120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EEF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DEEF4"/>
                </a:solidFill>
                <a:latin typeface="Calibri"/>
                <a:ea typeface="Calibri"/>
                <a:cs typeface="Calibri"/>
                <a:sym typeface="Calibri"/>
              </a:rPr>
              <a:t>Lab test booking, results delivery &amp; history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19"/>
          <p:cNvSpPr/>
          <p:nvPr/>
        </p:nvSpPr>
        <p:spPr>
          <a:xfrm>
            <a:off x="6309360" y="2377440"/>
            <a:ext cx="5394960" cy="402336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19"/>
          <p:cNvSpPr/>
          <p:nvPr/>
        </p:nvSpPr>
        <p:spPr>
          <a:xfrm>
            <a:off x="6309360" y="2377440"/>
            <a:ext cx="64008" cy="402336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19"/>
          <p:cNvSpPr/>
          <p:nvPr/>
        </p:nvSpPr>
        <p:spPr>
          <a:xfrm>
            <a:off x="6492240" y="2395728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Insurance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19"/>
          <p:cNvSpPr/>
          <p:nvPr/>
        </p:nvSpPr>
        <p:spPr>
          <a:xfrm>
            <a:off x="6492240" y="2578608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EEF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DEEF4"/>
                </a:solidFill>
                <a:latin typeface="Calibri"/>
                <a:ea typeface="Calibri"/>
                <a:cs typeface="Calibri"/>
                <a:sym typeface="Calibri"/>
              </a:rPr>
              <a:t>Health insurance claim verification &amp; processing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19"/>
          <p:cNvSpPr/>
          <p:nvPr/>
        </p:nvSpPr>
        <p:spPr>
          <a:xfrm>
            <a:off x="6309360" y="2852928"/>
            <a:ext cx="5394960" cy="402336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19"/>
          <p:cNvSpPr/>
          <p:nvPr/>
        </p:nvSpPr>
        <p:spPr>
          <a:xfrm>
            <a:off x="6309360" y="2852928"/>
            <a:ext cx="64008" cy="402336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19"/>
          <p:cNvSpPr/>
          <p:nvPr/>
        </p:nvSpPr>
        <p:spPr>
          <a:xfrm>
            <a:off x="6492240" y="2871216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ML Recommendations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19"/>
          <p:cNvSpPr/>
          <p:nvPr/>
        </p:nvSpPr>
        <p:spPr>
          <a:xfrm>
            <a:off x="6492240" y="3054096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EEF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DEEF4"/>
                </a:solidFill>
                <a:latin typeface="Calibri"/>
                <a:ea typeface="Calibri"/>
                <a:cs typeface="Calibri"/>
                <a:sym typeface="Calibri"/>
              </a:rPr>
              <a:t>Personalized doctor suggestions using ML models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19"/>
          <p:cNvSpPr/>
          <p:nvPr/>
        </p:nvSpPr>
        <p:spPr>
          <a:xfrm>
            <a:off x="6309360" y="3328416"/>
            <a:ext cx="5394960" cy="402336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19"/>
          <p:cNvSpPr/>
          <p:nvPr/>
        </p:nvSpPr>
        <p:spPr>
          <a:xfrm>
            <a:off x="6309360" y="3328416"/>
            <a:ext cx="64008" cy="402336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19"/>
          <p:cNvSpPr/>
          <p:nvPr/>
        </p:nvSpPr>
        <p:spPr>
          <a:xfrm>
            <a:off x="6492240" y="3346704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Multi-language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19"/>
          <p:cNvSpPr/>
          <p:nvPr/>
        </p:nvSpPr>
        <p:spPr>
          <a:xfrm>
            <a:off x="6492240" y="3529584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EEF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DEEF4"/>
                </a:solidFill>
                <a:latin typeface="Calibri"/>
                <a:ea typeface="Calibri"/>
                <a:cs typeface="Calibri"/>
                <a:sym typeface="Calibri"/>
              </a:rPr>
              <a:t>Hindi, Kannada and regional language support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19"/>
          <p:cNvSpPr/>
          <p:nvPr/>
        </p:nvSpPr>
        <p:spPr>
          <a:xfrm>
            <a:off x="6309360" y="3803904"/>
            <a:ext cx="5394960" cy="402336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19"/>
          <p:cNvSpPr/>
          <p:nvPr/>
        </p:nvSpPr>
        <p:spPr>
          <a:xfrm>
            <a:off x="6309360" y="3803904"/>
            <a:ext cx="64008" cy="402336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19"/>
          <p:cNvSpPr/>
          <p:nvPr/>
        </p:nvSpPr>
        <p:spPr>
          <a:xfrm>
            <a:off x="6492240" y="3822192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Telemedicine Portal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19"/>
          <p:cNvSpPr/>
          <p:nvPr/>
        </p:nvSpPr>
        <p:spPr>
          <a:xfrm>
            <a:off x="6492240" y="4005072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EEF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DEEF4"/>
                </a:solidFill>
                <a:latin typeface="Calibri"/>
                <a:ea typeface="Calibri"/>
                <a:cs typeface="Calibri"/>
                <a:sym typeface="Calibri"/>
              </a:rPr>
              <a:t>Web-based dashboard for doctors/hospitals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19"/>
          <p:cNvSpPr/>
          <p:nvPr/>
        </p:nvSpPr>
        <p:spPr>
          <a:xfrm>
            <a:off x="6309360" y="4279392"/>
            <a:ext cx="5394960" cy="402336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19"/>
          <p:cNvSpPr/>
          <p:nvPr/>
        </p:nvSpPr>
        <p:spPr>
          <a:xfrm>
            <a:off x="6309360" y="4279392"/>
            <a:ext cx="64008" cy="402336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19"/>
          <p:cNvSpPr/>
          <p:nvPr/>
        </p:nvSpPr>
        <p:spPr>
          <a:xfrm>
            <a:off x="6492240" y="429768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Wearable Integration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19"/>
          <p:cNvSpPr/>
          <p:nvPr/>
        </p:nvSpPr>
        <p:spPr>
          <a:xfrm>
            <a:off x="6492240" y="4480560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EEF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DEEF4"/>
                </a:solidFill>
                <a:latin typeface="Calibri"/>
                <a:ea typeface="Calibri"/>
                <a:cs typeface="Calibri"/>
                <a:sym typeface="Calibri"/>
              </a:rPr>
              <a:t>Health data sync from smartwatches &amp; fitness trackers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BFC"/>
        </a:solidFill>
      </p:bgPr>
    </p:bg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2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20"/>
          <p:cNvSpPr/>
          <p:nvPr/>
        </p:nvSpPr>
        <p:spPr>
          <a:xfrm>
            <a:off x="457200" y="868680"/>
            <a:ext cx="109728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20"/>
          <p:cNvSpPr/>
          <p:nvPr/>
        </p:nvSpPr>
        <p:spPr>
          <a:xfrm>
            <a:off x="457200" y="1024128"/>
            <a:ext cx="457200" cy="40233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20"/>
          <p:cNvSpPr/>
          <p:nvPr/>
        </p:nvSpPr>
        <p:spPr>
          <a:xfrm>
            <a:off x="457200" y="1024128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[1]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20"/>
          <p:cNvSpPr/>
          <p:nvPr/>
        </p:nvSpPr>
        <p:spPr>
          <a:xfrm>
            <a:off x="914400" y="1024128"/>
            <a:ext cx="1069848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20"/>
          <p:cNvSpPr/>
          <p:nvPr/>
        </p:nvSpPr>
        <p:spPr>
          <a:xfrm>
            <a:off x="987552" y="1042416"/>
            <a:ext cx="10561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R. S. Pressman, Software Engineering: A Practitioner's Approach, 7th ed., McGraw-Hill, 2010. (Course textbook — Unit 4: Ch.26, 27, 28)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20"/>
          <p:cNvSpPr/>
          <p:nvPr/>
        </p:nvSpPr>
        <p:spPr>
          <a:xfrm>
            <a:off x="457200" y="1490472"/>
            <a:ext cx="457200" cy="40233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20"/>
          <p:cNvSpPr/>
          <p:nvPr/>
        </p:nvSpPr>
        <p:spPr>
          <a:xfrm>
            <a:off x="457200" y="1490472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[2]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20"/>
          <p:cNvSpPr/>
          <p:nvPr/>
        </p:nvSpPr>
        <p:spPr>
          <a:xfrm>
            <a:off x="914400" y="1490472"/>
            <a:ext cx="10698480" cy="402336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20"/>
          <p:cNvSpPr/>
          <p:nvPr/>
        </p:nvSpPr>
        <p:spPr>
          <a:xfrm>
            <a:off x="987552" y="1508760"/>
            <a:ext cx="10561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I. Sommerville, Software Engineering, 9th ed., Pearson, 2011. (Course reference — Unit 2: Requirements Engineering; Unit 3: Architectural Design)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20"/>
          <p:cNvSpPr/>
          <p:nvPr/>
        </p:nvSpPr>
        <p:spPr>
          <a:xfrm>
            <a:off x="457200" y="1956816"/>
            <a:ext cx="457200" cy="40233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20"/>
          <p:cNvSpPr/>
          <p:nvPr/>
        </p:nvSpPr>
        <p:spPr>
          <a:xfrm>
            <a:off x="457200" y="1956816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[3]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20"/>
          <p:cNvSpPr/>
          <p:nvPr/>
        </p:nvSpPr>
        <p:spPr>
          <a:xfrm>
            <a:off x="914400" y="1956816"/>
            <a:ext cx="1069848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20"/>
          <p:cNvSpPr/>
          <p:nvPr/>
        </p:nvSpPr>
        <p:spPr>
          <a:xfrm>
            <a:off x="987552" y="1975104"/>
            <a:ext cx="10561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Prof. Sandhya A. Kulkarni, Unit 2 Lecture Slides — Requirements Engineering Process. 20CS5PCSEG, Dept. of CSE.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20"/>
          <p:cNvSpPr/>
          <p:nvPr/>
        </p:nvSpPr>
        <p:spPr>
          <a:xfrm>
            <a:off x="457200" y="2423160"/>
            <a:ext cx="457200" cy="40233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20"/>
          <p:cNvSpPr/>
          <p:nvPr/>
        </p:nvSpPr>
        <p:spPr>
          <a:xfrm>
            <a:off x="457200" y="2423160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[4]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20"/>
          <p:cNvSpPr/>
          <p:nvPr/>
        </p:nvSpPr>
        <p:spPr>
          <a:xfrm>
            <a:off x="914400" y="2423160"/>
            <a:ext cx="10698480" cy="402336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20"/>
          <p:cNvSpPr/>
          <p:nvPr/>
        </p:nvSpPr>
        <p:spPr>
          <a:xfrm>
            <a:off x="987552" y="2441448"/>
            <a:ext cx="10561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Prof. Sneha S. Bagalkot, Unit 3 Lecture Slides — Architectural Design &amp; OO Design. 20CS5PCSEG, Dept. of CSE.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20"/>
          <p:cNvSpPr/>
          <p:nvPr/>
        </p:nvSpPr>
        <p:spPr>
          <a:xfrm>
            <a:off x="457200" y="2889504"/>
            <a:ext cx="457200" cy="40233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20"/>
          <p:cNvSpPr/>
          <p:nvPr/>
        </p:nvSpPr>
        <p:spPr>
          <a:xfrm>
            <a:off x="457200" y="2889504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[5]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20"/>
          <p:cNvSpPr/>
          <p:nvPr/>
        </p:nvSpPr>
        <p:spPr>
          <a:xfrm>
            <a:off x="914400" y="2889504"/>
            <a:ext cx="1069848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20"/>
          <p:cNvSpPr/>
          <p:nvPr/>
        </p:nvSpPr>
        <p:spPr>
          <a:xfrm>
            <a:off x="987552" y="2907792"/>
            <a:ext cx="10561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Prof. Sneha S. Bagalkot, Unit 4 Lecture Slides — Project Management, Estimation, Risk Analysis. 20CS5PCSEG, Dept. of CSE.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20"/>
          <p:cNvSpPr/>
          <p:nvPr/>
        </p:nvSpPr>
        <p:spPr>
          <a:xfrm>
            <a:off x="457200" y="3355848"/>
            <a:ext cx="457200" cy="40233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20"/>
          <p:cNvSpPr/>
          <p:nvPr/>
        </p:nvSpPr>
        <p:spPr>
          <a:xfrm>
            <a:off x="457200" y="3355848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[6]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20"/>
          <p:cNvSpPr/>
          <p:nvPr/>
        </p:nvSpPr>
        <p:spPr>
          <a:xfrm>
            <a:off x="914400" y="3355848"/>
            <a:ext cx="10698480" cy="402336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20"/>
          <p:cNvSpPr/>
          <p:nvPr/>
        </p:nvSpPr>
        <p:spPr>
          <a:xfrm>
            <a:off x="987552" y="3374136"/>
            <a:ext cx="10561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Android Developers Documentation — Jetpack Compose, ViewModel, StateFlow. https://developer.android.com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20"/>
          <p:cNvSpPr/>
          <p:nvPr/>
        </p:nvSpPr>
        <p:spPr>
          <a:xfrm>
            <a:off x="457200" y="3822192"/>
            <a:ext cx="457200" cy="40233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20"/>
          <p:cNvSpPr/>
          <p:nvPr/>
        </p:nvSpPr>
        <p:spPr>
          <a:xfrm>
            <a:off x="457200" y="3822192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[7]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20"/>
          <p:cNvSpPr/>
          <p:nvPr/>
        </p:nvSpPr>
        <p:spPr>
          <a:xfrm>
            <a:off x="914400" y="3822192"/>
            <a:ext cx="1069848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20"/>
          <p:cNvSpPr/>
          <p:nvPr/>
        </p:nvSpPr>
        <p:spPr>
          <a:xfrm>
            <a:off x="987552" y="3840480"/>
            <a:ext cx="10561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Node.js + Express Documentation — https://expressjs.com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20"/>
          <p:cNvSpPr/>
          <p:nvPr/>
        </p:nvSpPr>
        <p:spPr>
          <a:xfrm>
            <a:off x="457200" y="4288536"/>
            <a:ext cx="457200" cy="40233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20"/>
          <p:cNvSpPr/>
          <p:nvPr/>
        </p:nvSpPr>
        <p:spPr>
          <a:xfrm>
            <a:off x="457200" y="4288536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[8]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20"/>
          <p:cNvSpPr/>
          <p:nvPr/>
        </p:nvSpPr>
        <p:spPr>
          <a:xfrm>
            <a:off x="914400" y="4288536"/>
            <a:ext cx="10698480" cy="402336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20"/>
          <p:cNvSpPr/>
          <p:nvPr/>
        </p:nvSpPr>
        <p:spPr>
          <a:xfrm>
            <a:off x="987552" y="4306824"/>
            <a:ext cx="10561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PostgreSQL 15 Documentation — https://www.postgresql.org/docs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20"/>
          <p:cNvSpPr/>
          <p:nvPr/>
        </p:nvSpPr>
        <p:spPr>
          <a:xfrm>
            <a:off x="457200" y="4754880"/>
            <a:ext cx="457200" cy="40233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20"/>
          <p:cNvSpPr/>
          <p:nvPr/>
        </p:nvSpPr>
        <p:spPr>
          <a:xfrm>
            <a:off x="457200" y="4754880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[9]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20"/>
          <p:cNvSpPr/>
          <p:nvPr/>
        </p:nvSpPr>
        <p:spPr>
          <a:xfrm>
            <a:off x="914400" y="4754880"/>
            <a:ext cx="1069848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20"/>
          <p:cNvSpPr/>
          <p:nvPr/>
        </p:nvSpPr>
        <p:spPr>
          <a:xfrm>
            <a:off x="987552" y="4773168"/>
            <a:ext cx="10561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Firebase Authentication Documentation — https://firebase.google.com/docs/auth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20"/>
          <p:cNvSpPr/>
          <p:nvPr/>
        </p:nvSpPr>
        <p:spPr>
          <a:xfrm>
            <a:off x="457200" y="5221224"/>
            <a:ext cx="457200" cy="40233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20"/>
          <p:cNvSpPr/>
          <p:nvPr/>
        </p:nvSpPr>
        <p:spPr>
          <a:xfrm>
            <a:off x="457200" y="5221224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[10]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20"/>
          <p:cNvSpPr/>
          <p:nvPr/>
        </p:nvSpPr>
        <p:spPr>
          <a:xfrm>
            <a:off x="914400" y="5221224"/>
            <a:ext cx="10698480" cy="402336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20"/>
          <p:cNvSpPr/>
          <p:nvPr/>
        </p:nvSpPr>
        <p:spPr>
          <a:xfrm>
            <a:off x="987552" y="5239512"/>
            <a:ext cx="10561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Google Gemini API Documentation — https://ai.google.dev/gemini-api/docs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20"/>
          <p:cNvSpPr/>
          <p:nvPr/>
        </p:nvSpPr>
        <p:spPr>
          <a:xfrm>
            <a:off x="457200" y="5687568"/>
            <a:ext cx="457200" cy="40233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20"/>
          <p:cNvSpPr/>
          <p:nvPr/>
        </p:nvSpPr>
        <p:spPr>
          <a:xfrm>
            <a:off x="457200" y="5687568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[11]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20"/>
          <p:cNvSpPr/>
          <p:nvPr/>
        </p:nvSpPr>
        <p:spPr>
          <a:xfrm>
            <a:off x="914400" y="5687568"/>
            <a:ext cx="1069848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20"/>
          <p:cNvSpPr/>
          <p:nvPr/>
        </p:nvSpPr>
        <p:spPr>
          <a:xfrm>
            <a:off x="987552" y="5705856"/>
            <a:ext cx="10561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MinIO Object Storage Documentation — https://min.io/docs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20"/>
          <p:cNvSpPr/>
          <p:nvPr/>
        </p:nvSpPr>
        <p:spPr>
          <a:xfrm>
            <a:off x="457200" y="6153912"/>
            <a:ext cx="457200" cy="40233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20"/>
          <p:cNvSpPr/>
          <p:nvPr/>
        </p:nvSpPr>
        <p:spPr>
          <a:xfrm>
            <a:off x="457200" y="6153912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[12]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20"/>
          <p:cNvSpPr/>
          <p:nvPr/>
        </p:nvSpPr>
        <p:spPr>
          <a:xfrm>
            <a:off x="914400" y="6153912"/>
            <a:ext cx="10698480" cy="402336"/>
          </a:xfrm>
          <a:prstGeom prst="rect">
            <a:avLst/>
          </a:prstGeom>
          <a:solidFill>
            <a:srgbClr val="F4FB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20"/>
          <p:cNvSpPr/>
          <p:nvPr/>
        </p:nvSpPr>
        <p:spPr>
          <a:xfrm>
            <a:off x="987552" y="6172200"/>
            <a:ext cx="10561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B. W. Boehm, Software Engineering Economics, Prentice Hall, 1981. (COCOMO model reference)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Technology Stack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97D"/>
                </a:solidFill>
                <a:latin typeface="Aptos"/>
              </a:defRPr>
            </a:pPr>
            <a:r>
              <a:t>Complete tools and services used in MediSync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43000"/>
          <a:ext cx="1120140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3733800"/>
                <a:gridCol w="3733800"/>
              </a:tblGrid>
              <a:tr h="574040"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Mobile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Kotlin, Jetpack Compose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Android UI and navigation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MVVM + Repository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Clean separation of UI, state and data access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Local Cache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Room / SQLite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Offline cache for records/profile-related 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Node.js, Express.js, TypeScript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REST APIs and business logic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PostgreSQL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Relational data and constraints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Object Storage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MinIO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Profile photos, reports, PDFs and chat attachments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Real-Time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WebSocket + WebRTC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Chat delivery and video consultation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Notifications / AI / Maps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FCM, Gemini API, Google Maps SDK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Push alerts, AI assistance and clinic location</a:t>
                      </a:r>
                    </a:p>
                  </a:txBody>
                  <a:tcPr>
                    <a:solidFill>
                      <a:srgbClr val="F1F8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465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97D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97D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Major Technology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97D"/>
                </a:solidFill>
                <a:latin typeface="Aptos"/>
              </a:defRPr>
            </a:pPr>
            <a:r>
              <a:t>How important technologies are used in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525780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1307592"/>
            <a:ext cx="118872" cy="43891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271016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  <a:r>
              <a:t>MinIO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70992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111827"/>
                </a:solidFill>
                <a:latin typeface="Aptos"/>
              </a:defRPr>
            </a:pPr>
            <a:r>
              <a:t>Stores file bytes outside DB; database stores file key and metadata.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143000"/>
            <a:ext cx="525780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36792" y="1307592"/>
            <a:ext cx="118872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271016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  <a:r>
              <a:t>WebRTC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170992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111827"/>
                </a:solidFill>
                <a:latin typeface="Aptos"/>
              </a:defRPr>
            </a:pPr>
            <a:r>
              <a:t>Enables live video consultation; WebSocket handles signaling.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743200"/>
            <a:ext cx="525780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8952" y="2907792"/>
            <a:ext cx="118872" cy="4389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2871216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  <a:r>
              <a:t>Room / SQLite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31012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111827"/>
                </a:solidFill>
                <a:latin typeface="Aptos"/>
              </a:defRPr>
            </a:pPr>
            <a:r>
              <a:t>Keeps selected app data available offline and improves reliability.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743200"/>
            <a:ext cx="525780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36792" y="2907792"/>
            <a:ext cx="118872" cy="43891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2871216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331012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111827"/>
                </a:solidFill>
                <a:latin typeface="Aptos"/>
              </a:defRPr>
            </a:pPr>
            <a:r>
              <a:t>Central relational database for users, slots, appointments, chats and records.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343400"/>
            <a:ext cx="525780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8952" y="4507992"/>
            <a:ext cx="118872" cy="43891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4471416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  <a:r>
              <a:t>FCM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91032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111827"/>
                </a:solidFill>
                <a:latin typeface="Aptos"/>
              </a:defRPr>
            </a:pPr>
            <a:r>
              <a:t>Sends notifications for chat and appointment events when users are offline.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343400"/>
            <a:ext cx="525780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36792" y="4507992"/>
            <a:ext cx="118872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6248" y="4471416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  <a:r>
              <a:t>Gemini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8" y="491032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111827"/>
                </a:solidFill>
                <a:latin typeface="Aptos"/>
              </a:defRPr>
            </a:pPr>
            <a:r>
              <a:t>Provides patient-side AI health guidance and report/image discussion.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97D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465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97D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Non-Functional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97D"/>
                </a:solidFill>
                <a:latin typeface="Aptos"/>
              </a:defRPr>
            </a:pPr>
            <a:r>
              <a:t>Quality requirements for the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3584448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7512" y="1261872"/>
            <a:ext cx="118872" cy="43891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225295"/>
            <a:ext cx="3035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664207"/>
            <a:ext cx="317296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69">
                <a:solidFill>
                  <a:srgbClr val="111827"/>
                </a:solidFill>
                <a:latin typeface="Aptos"/>
              </a:defRPr>
            </a:pPr>
            <a:r>
              <a:t>JWT protected APIs.</a:t>
            </a:r>
          </a:p>
          <a:p>
            <a:pPr>
              <a:spcAft>
                <a:spcPts val="300"/>
              </a:spcAft>
              <a:defRPr sz="869">
                <a:solidFill>
                  <a:srgbClr val="111827"/>
                </a:solidFill>
                <a:latin typeface="Aptos"/>
              </a:defRPr>
            </a:pPr>
            <a:r>
              <a:t>Role-based access for patient and doctor data.</a:t>
            </a:r>
          </a:p>
          <a:p>
            <a:pPr>
              <a:spcAft>
                <a:spcPts val="300"/>
              </a:spcAft>
              <a:defRPr sz="869">
                <a:solidFill>
                  <a:srgbClr val="111827"/>
                </a:solidFill>
                <a:latin typeface="Aptos"/>
              </a:defRPr>
            </a:pPr>
            <a:r>
              <a:t>Controlled file access through MinIO URLs/policies.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097280"/>
            <a:ext cx="3584448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53712" y="1261872"/>
            <a:ext cx="118872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1225295"/>
            <a:ext cx="3035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1664207"/>
            <a:ext cx="317296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69">
                <a:solidFill>
                  <a:srgbClr val="111827"/>
                </a:solidFill>
                <a:latin typeface="Aptos"/>
              </a:defRPr>
            </a:pPr>
            <a:r>
              <a:t>No crash on network failure.</a:t>
            </a:r>
          </a:p>
          <a:p>
            <a:pPr>
              <a:spcAft>
                <a:spcPts val="300"/>
              </a:spcAft>
              <a:defRPr sz="869">
                <a:solidFill>
                  <a:srgbClr val="111827"/>
                </a:solidFill>
                <a:latin typeface="Aptos"/>
              </a:defRPr>
            </a:pPr>
            <a:r>
              <a:t>Cached records remain visible when refresh fails.</a:t>
            </a:r>
          </a:p>
          <a:p>
            <a:pPr>
              <a:spcAft>
                <a:spcPts val="300"/>
              </a:spcAft>
              <a:defRPr sz="869">
                <a:solidFill>
                  <a:srgbClr val="111827"/>
                </a:solidFill>
                <a:latin typeface="Aptos"/>
              </a:defRPr>
            </a:pPr>
            <a:r>
              <a:t>Booking prevents duplicate slot allocation.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097280"/>
            <a:ext cx="3584448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39912" y="1261872"/>
            <a:ext cx="118872" cy="4389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59368" y="1225295"/>
            <a:ext cx="3035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7928" y="1664207"/>
            <a:ext cx="317296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69">
                <a:solidFill>
                  <a:srgbClr val="111827"/>
                </a:solidFill>
                <a:latin typeface="Aptos"/>
              </a:defRPr>
            </a:pPr>
            <a:r>
              <a:t>File bytes stored in MinIO, not database.</a:t>
            </a:r>
          </a:p>
          <a:p>
            <a:pPr>
              <a:spcAft>
                <a:spcPts val="300"/>
              </a:spcAft>
              <a:defRPr sz="869">
                <a:solidFill>
                  <a:srgbClr val="111827"/>
                </a:solidFill>
                <a:latin typeface="Aptos"/>
              </a:defRPr>
            </a:pPr>
            <a:r>
              <a:t>Search and filters respond quickly on mobile.</a:t>
            </a:r>
          </a:p>
          <a:p>
            <a:pPr>
              <a:spcAft>
                <a:spcPts val="300"/>
              </a:spcAft>
              <a:defRPr sz="869">
                <a:solidFill>
                  <a:srgbClr val="111827"/>
                </a:solidFill>
                <a:latin typeface="Aptos"/>
              </a:defRPr>
            </a:pPr>
            <a:r>
              <a:t>Lightweight API responses for frequent screens.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74720"/>
            <a:ext cx="3584448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7512" y="3639312"/>
            <a:ext cx="118872" cy="43891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602736"/>
            <a:ext cx="3035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  <a:r>
              <a:t>Usability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041648"/>
            <a:ext cx="317296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69">
                <a:solidFill>
                  <a:srgbClr val="111827"/>
                </a:solidFill>
                <a:latin typeface="Aptos"/>
              </a:defRPr>
            </a:pPr>
            <a:r>
              <a:t>Clear navigation and readable mobile UI.</a:t>
            </a:r>
          </a:p>
          <a:p>
            <a:pPr>
              <a:spcAft>
                <a:spcPts val="300"/>
              </a:spcAft>
              <a:defRPr sz="869">
                <a:solidFill>
                  <a:srgbClr val="111827"/>
                </a:solidFill>
                <a:latin typeface="Aptos"/>
              </a:defRPr>
            </a:pPr>
            <a:r>
              <a:t>Search, filters and refresh actions visible.</a:t>
            </a:r>
          </a:p>
          <a:p>
            <a:pPr>
              <a:spcAft>
                <a:spcPts val="300"/>
              </a:spcAft>
              <a:defRPr sz="869">
                <a:solidFill>
                  <a:srgbClr val="111827"/>
                </a:solidFill>
                <a:latin typeface="Aptos"/>
              </a:defRPr>
            </a:pPr>
            <a:r>
              <a:t>Consistent patient and doctor workflows.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474720"/>
            <a:ext cx="3584448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53712" y="3639312"/>
            <a:ext cx="118872" cy="43891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3602736"/>
            <a:ext cx="3035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  <a:r>
              <a:t>Maintainability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4041648"/>
            <a:ext cx="317296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69">
                <a:solidFill>
                  <a:srgbClr val="111827"/>
                </a:solidFill>
                <a:latin typeface="Aptos"/>
              </a:defRPr>
            </a:pPr>
            <a:r>
              <a:t>MVVM, repository and module-wise backend controllers.</a:t>
            </a:r>
          </a:p>
          <a:p>
            <a:pPr>
              <a:spcAft>
                <a:spcPts val="300"/>
              </a:spcAft>
              <a:defRPr sz="869">
                <a:solidFill>
                  <a:srgbClr val="111827"/>
                </a:solidFill>
                <a:latin typeface="Aptos"/>
              </a:defRPr>
            </a:pPr>
            <a:r>
              <a:t>Environment variables for deployment services.</a:t>
            </a:r>
          </a:p>
          <a:p>
            <a:pPr>
              <a:spcAft>
                <a:spcPts val="300"/>
              </a:spcAft>
              <a:defRPr sz="869">
                <a:solidFill>
                  <a:srgbClr val="111827"/>
                </a:solidFill>
                <a:latin typeface="Aptos"/>
              </a:defRPr>
            </a:pPr>
            <a:r>
              <a:t>Reusable components for bottom bar, drawer and profile UI.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474720"/>
            <a:ext cx="3584448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39912" y="3639312"/>
            <a:ext cx="118872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59368" y="3602736"/>
            <a:ext cx="3035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  <a:r>
              <a:t>Scalability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67928" y="4041648"/>
            <a:ext cx="317296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69">
                <a:solidFill>
                  <a:srgbClr val="111827"/>
                </a:solidFill>
                <a:latin typeface="Aptos"/>
              </a:defRPr>
            </a:pPr>
            <a:r>
              <a:t>Database, storage, backend and realtime services can scale separately.</a:t>
            </a:r>
          </a:p>
          <a:p>
            <a:pPr>
              <a:spcAft>
                <a:spcPts val="300"/>
              </a:spcAft>
              <a:defRPr sz="869">
                <a:solidFill>
                  <a:srgbClr val="111827"/>
                </a:solidFill>
                <a:latin typeface="Aptos"/>
              </a:defRPr>
            </a:pPr>
            <a:r>
              <a:t>Object storage reduces database load.</a:t>
            </a:r>
          </a:p>
          <a:p>
            <a:pPr>
              <a:spcAft>
                <a:spcPts val="300"/>
              </a:spcAft>
              <a:defRPr sz="869">
                <a:solidFill>
                  <a:srgbClr val="111827"/>
                </a:solidFill>
                <a:latin typeface="Aptos"/>
              </a:defRPr>
            </a:pPr>
            <a:r>
              <a:t>WebSocket/FCM separation supports communication growth.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97D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465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97D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Detailed Appointment State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97D"/>
                </a:solidFill>
                <a:latin typeface="Aptos"/>
              </a:defRPr>
            </a:pPr>
            <a:r>
              <a:t>Correct UML-style statechart for MediSync appointment lifecycle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788920"/>
            <a:ext cx="256032" cy="256032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08760" y="2606040"/>
            <a:ext cx="1554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779776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  <a:latin typeface="Aptos"/>
              </a:defRPr>
            </a:pPr>
            <a:r>
              <a:t>Slot Available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606040"/>
            <a:ext cx="1554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779776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  <a:latin typeface="Aptos"/>
              </a:defRPr>
            </a:pPr>
            <a:r>
              <a:t>Booking Requested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606040"/>
            <a:ext cx="1554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2779776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  <a:latin typeface="Aptos"/>
              </a:defRPr>
            </a:pPr>
            <a:r>
              <a:t>Accepted / Booked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417320"/>
            <a:ext cx="1554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591056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  <a:latin typeface="Aptos"/>
              </a:defRPr>
            </a:pPr>
            <a:r>
              <a:t>Consultation Active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1417320"/>
            <a:ext cx="1554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21240" y="1591056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3840480"/>
            <a:ext cx="1554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014215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  <a:latin typeface="Aptos"/>
              </a:defRPr>
            </a:pPr>
            <a:r>
              <a:t>Cancelled / Expired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3840480"/>
            <a:ext cx="1554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0" y="4014215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1827"/>
                </a:solidFill>
                <a:latin typeface="Aptos"/>
              </a:defRPr>
            </a:pPr>
            <a:r>
              <a:t>Rated / Closed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33271" y="2916936"/>
            <a:ext cx="475489" cy="0"/>
          </a:xfrm>
          <a:prstGeom prst="line">
            <a:avLst/>
          </a:prstGeom>
          <a:ln w="1778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33271" y="3118104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97D"/>
                </a:solidFill>
                <a:latin typeface="Aptos"/>
              </a:defRPr>
            </a:pPr>
            <a:r>
              <a:t>create slot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63240" y="2916936"/>
            <a:ext cx="457200" cy="0"/>
          </a:xfrm>
          <a:prstGeom prst="line">
            <a:avLst/>
          </a:prstGeom>
          <a:ln w="1778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63240" y="3118104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97D"/>
                </a:solidFill>
                <a:latin typeface="Aptos"/>
              </a:defRPr>
            </a:pPr>
            <a:r>
              <a:t>patient selects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74920" y="2916936"/>
            <a:ext cx="594360" cy="0"/>
          </a:xfrm>
          <a:prstGeom prst="line">
            <a:avLst/>
          </a:prstGeom>
          <a:ln w="1778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74920" y="3118104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97D"/>
                </a:solidFill>
                <a:latin typeface="Aptos"/>
              </a:defRPr>
            </a:pPr>
            <a:r>
              <a:t>confirm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7223760" y="1783080"/>
            <a:ext cx="594360" cy="914400"/>
          </a:xfrm>
          <a:prstGeom prst="line">
            <a:avLst/>
          </a:prstGeom>
          <a:ln w="1778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223760" y="1984248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97D"/>
                </a:solidFill>
                <a:latin typeface="Aptos"/>
              </a:defRPr>
            </a:pPr>
            <a:r>
              <a:t>join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72600" y="1737360"/>
            <a:ext cx="502920" cy="0"/>
          </a:xfrm>
          <a:prstGeom prst="line">
            <a:avLst/>
          </a:prstGeom>
          <a:ln w="1778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372600" y="1938528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97D"/>
                </a:solidFill>
                <a:latin typeface="Aptos"/>
              </a:defRPr>
            </a:pPr>
            <a:r>
              <a:t>finish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223760" y="3154680"/>
            <a:ext cx="594360" cy="1005840"/>
          </a:xfrm>
          <a:prstGeom prst="line">
            <a:avLst/>
          </a:prstGeom>
          <a:ln w="1778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223760" y="3355848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97D"/>
                </a:solidFill>
                <a:latin typeface="Aptos"/>
              </a:defRPr>
            </a:pPr>
            <a:r>
              <a:t>cancel/no-show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72600" y="4160520"/>
            <a:ext cx="502920" cy="0"/>
          </a:xfrm>
          <a:prstGeom prst="line">
            <a:avLst/>
          </a:prstGeom>
          <a:ln w="1778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372600" y="4361688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97D"/>
                </a:solidFill>
                <a:latin typeface="Aptos"/>
              </a:defRPr>
            </a:pPr>
            <a:r>
              <a:t>rate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80160" y="5257800"/>
            <a:ext cx="9784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444751" y="5422392"/>
            <a:ext cx="118872" cy="43891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64207" y="5385816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  <a:r>
              <a:t>Why this diagram is important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72768" y="5824728"/>
            <a:ext cx="937260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19">
                <a:solidFill>
                  <a:srgbClr val="111827"/>
                </a:solidFill>
                <a:latin typeface="Aptos"/>
              </a:defRPr>
            </a:pPr>
            <a:r>
              <a:t>It shows valid states of one Appointment object.</a:t>
            </a:r>
          </a:p>
          <a:p>
            <a:pPr>
              <a:spcAft>
                <a:spcPts val="300"/>
              </a:spcAft>
              <a:defRPr sz="919">
                <a:solidFill>
                  <a:srgbClr val="111827"/>
                </a:solidFill>
                <a:latin typeface="Aptos"/>
              </a:defRPr>
            </a:pPr>
            <a:r>
              <a:t>It identifies event-driven transitions such as confirm, join, complete, cancel and rate.</a:t>
            </a:r>
          </a:p>
          <a:p>
            <a:pPr>
              <a:spcAft>
                <a:spcPts val="300"/>
              </a:spcAft>
              <a:defRPr sz="919">
                <a:solidFill>
                  <a:srgbClr val="111827"/>
                </a:solidFill>
                <a:latin typeface="Aptos"/>
              </a:defRPr>
            </a:pPr>
            <a:r>
              <a:t>It supports testing: invalid transitions like booking an already booked slot must be rejected.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465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97D"/>
                </a:solidFill>
                <a:latin typeface="Aptos"/>
              </a:defRPr>
            </a:pPr>
            <a:r>
              <a:t>MediSync | Software Engineering Presentation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4465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97D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2026-05-26T19:02:20Z</dcterms:created>
  <dc:creator>PptxGenJS</dc:creator>
</cp:coreProperties>
</file>