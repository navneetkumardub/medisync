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83" r:id="rId29"/>
    <p:sldId id="284" r:id="rId34"/>
    <p:sldId id="285" r:id="rId35"/>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9.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4" Type="http://schemas.openxmlformats.org/officeDocument/2006/relationships/slide" Target="slides/slide24.xml"/><Relationship Id="rId35"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337560"/>
            <a:ext cx="12191695" cy="502920"/>
          </a:xfrm>
          <a:prstGeom prst="rect">
            <a:avLst/>
          </a:prstGeom>
          <a:solidFill>
            <a:srgbClr val="BA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822960"/>
            <a:ext cx="82296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923544"/>
            <a:ext cx="411480" cy="274320"/>
          </a:xfrm>
          <a:prstGeom prst="rect">
            <a:avLst/>
          </a:prstGeom>
          <a:noFill/>
        </p:spPr>
        <p:txBody>
          <a:bodyPr wrap="square">
            <a:spAutoFit/>
          </a:bodyPr>
          <a:lstStyle/>
          <a:p>
            <a:pPr algn="ctr">
              <a:defRPr sz="3100" b="1">
                <a:solidFill>
                  <a:srgbClr val="0EA5E9"/>
                </a:solidFill>
                <a:latin typeface="Aptos"/>
              </a:defRPr>
            </a:pPr>
            <a:r>
              <a:t>+</a:t>
            </a:r>
          </a:p>
        </p:txBody>
      </p:sp>
      <p:sp>
        <p:nvSpPr>
          <p:cNvPr id="7" name="TextBox 6"/>
          <p:cNvSpPr txBox="1"/>
          <p:nvPr/>
        </p:nvSpPr>
        <p:spPr>
          <a:xfrm>
            <a:off x="1920240" y="868680"/>
            <a:ext cx="5943600" cy="502920"/>
          </a:xfrm>
          <a:prstGeom prst="rect">
            <a:avLst/>
          </a:prstGeom>
          <a:noFill/>
        </p:spPr>
        <p:txBody>
          <a:bodyPr wrap="square">
            <a:spAutoFit/>
          </a:bodyPr>
          <a:lstStyle/>
          <a:p>
            <a:pPr algn="l">
              <a:defRPr sz="3400" b="1">
                <a:solidFill>
                  <a:srgbClr val="FFFFFF"/>
                </a:solidFill>
                <a:latin typeface="Aptos"/>
              </a:defRPr>
            </a:pPr>
            <a:r>
              <a:t>MediSync</a:t>
            </a:r>
          </a:p>
        </p:txBody>
      </p:sp>
      <p:sp>
        <p:nvSpPr>
          <p:cNvPr id="8" name="TextBox 7"/>
          <p:cNvSpPr txBox="1"/>
          <p:nvPr/>
        </p:nvSpPr>
        <p:spPr>
          <a:xfrm>
            <a:off x="1938528" y="1389888"/>
            <a:ext cx="6858000" cy="320040"/>
          </a:xfrm>
          <a:prstGeom prst="rect">
            <a:avLst/>
          </a:prstGeom>
          <a:noFill/>
        </p:spPr>
        <p:txBody>
          <a:bodyPr wrap="square">
            <a:spAutoFit/>
          </a:bodyPr>
          <a:lstStyle/>
          <a:p>
            <a:pPr algn="l">
              <a:defRPr sz="1600" b="0">
                <a:solidFill>
                  <a:srgbClr val="FFFFFF"/>
                </a:solidFill>
                <a:latin typeface="Aptos"/>
              </a:defRPr>
            </a:pPr>
            <a:r>
              <a:t>Doctor-Patient Appointment and Healthcare Management System</a:t>
            </a:r>
          </a:p>
        </p:txBody>
      </p:sp>
      <p:sp>
        <p:nvSpPr>
          <p:cNvPr id="9" name="TextBox 8"/>
          <p:cNvSpPr txBox="1"/>
          <p:nvPr/>
        </p:nvSpPr>
        <p:spPr>
          <a:xfrm>
            <a:off x="1938528" y="1965960"/>
            <a:ext cx="8046720" cy="731520"/>
          </a:xfrm>
          <a:prstGeom prst="rect">
            <a:avLst/>
          </a:prstGeom>
          <a:noFill/>
        </p:spPr>
        <p:txBody>
          <a:bodyPr wrap="square">
            <a:spAutoFit/>
          </a:bodyPr>
          <a:lstStyle/>
          <a:p>
            <a:pPr algn="l">
              <a:defRPr sz="1300" b="0">
                <a:solidFill>
                  <a:srgbClr val="FFFFFF"/>
                </a:solidFill>
                <a:latin typeface="Aptos"/>
              </a:defRPr>
            </a:pPr>
            <a:r>
              <a:t>A full-stack Android healthcare platform connecting patients and doctors through appointment booking, secure records, chat, video consultation, AI assistance, and clinic location services.</a:t>
            </a:r>
          </a:p>
        </p:txBody>
      </p:sp>
      <p:sp>
        <p:nvSpPr>
          <p:cNvPr id="10" name="TextBox 9"/>
          <p:cNvSpPr txBox="1"/>
          <p:nvPr/>
        </p:nvSpPr>
        <p:spPr>
          <a:xfrm>
            <a:off x="868680" y="4224528"/>
            <a:ext cx="2743200" cy="274320"/>
          </a:xfrm>
          <a:prstGeom prst="rect">
            <a:avLst/>
          </a:prstGeom>
          <a:noFill/>
        </p:spPr>
        <p:txBody>
          <a:bodyPr wrap="square">
            <a:spAutoFit/>
          </a:bodyPr>
          <a:lstStyle/>
          <a:p>
            <a:pPr algn="l">
              <a:defRPr sz="1600" b="1">
                <a:solidFill>
                  <a:srgbClr val="0F172A"/>
                </a:solidFill>
                <a:latin typeface="Aptos"/>
              </a:defRPr>
            </a:pPr>
            <a:r>
              <a:t>Team Members</a:t>
            </a:r>
          </a:p>
        </p:txBody>
      </p:sp>
      <p:graphicFrame>
        <p:nvGraphicFramePr>
          <p:cNvPr id="11" name="Table 10"/>
          <p:cNvGraphicFramePr>
            <a:graphicFrameLocks noGrp="1"/>
          </p:cNvGraphicFramePr>
          <p:nvPr/>
        </p:nvGraphicFramePr>
        <p:xfrm>
          <a:off x="868680" y="4617720"/>
          <a:ext cx="10424160" cy="1143000"/>
        </p:xfrm>
        <a:graphic>
          <a:graphicData uri="http://schemas.openxmlformats.org/drawingml/2006/table">
            <a:tbl>
              <a:tblPr firstRow="1" bandRow="1">
                <a:tableStyleId>{5C22544A-7EE6-4342-B048-85BDC9FD1C3A}</a:tableStyleId>
              </a:tblPr>
              <a:tblGrid>
                <a:gridCol w="5852160"/>
                <a:gridCol w="4572000"/>
              </a:tblGrid>
              <a:tr h="381000">
                <a:tc>
                  <a:txBody>
                    <a:bodyPr/>
                    <a:lstStyle/>
                    <a:p>
                      <a:pPr>
                        <a:defRPr b="1" sz="1200">
                          <a:solidFill>
                            <a:srgbClr val="FFFFFF"/>
                          </a:solidFill>
                        </a:defRPr>
                      </a:pPr>
                      <a:r>
                        <a:t>Name</a:t>
                      </a:r>
                    </a:p>
                  </a:txBody>
                  <a:tcPr>
                    <a:solidFill>
                      <a:srgbClr val="0EA5E9"/>
                    </a:solidFill>
                  </a:tcPr>
                </a:tc>
                <a:tc>
                  <a:txBody>
                    <a:bodyPr/>
                    <a:lstStyle/>
                    <a:p>
                      <a:pPr>
                        <a:defRPr b="1" sz="1200">
                          <a:solidFill>
                            <a:srgbClr val="FFFFFF"/>
                          </a:solidFill>
                        </a:defRPr>
                      </a:pPr>
                      <a:r>
                        <a:t>USN</a:t>
                      </a:r>
                    </a:p>
                  </a:txBody>
                  <a:tcPr>
                    <a:solidFill>
                      <a:srgbClr val="0EA5E9"/>
                    </a:solidFill>
                  </a:tcPr>
                </a:tc>
              </a:tr>
              <a:tr h="381000">
                <a:tc>
                  <a:txBody>
                    <a:bodyPr/>
                    <a:lstStyle/>
                    <a:p>
                      <a:pPr>
                        <a:defRPr sz="1200">
                          <a:solidFill>
                            <a:srgbClr val="0F172A"/>
                          </a:solidFill>
                        </a:defRPr>
                      </a:pPr>
                      <a:r>
                        <a:t>Navneet Kumar Dubey</a:t>
                      </a:r>
                    </a:p>
                  </a:txBody>
                  <a:tcPr>
                    <a:solidFill>
                      <a:srgbClr val="FFFFFF"/>
                    </a:solidFill>
                  </a:tcPr>
                </a:tc>
                <a:tc>
                  <a:txBody>
                    <a:bodyPr/>
                    <a:lstStyle/>
                    <a:p>
                      <a:pPr>
                        <a:defRPr sz="1200">
                          <a:solidFill>
                            <a:srgbClr val="0F172A"/>
                          </a:solidFill>
                        </a:defRPr>
                      </a:pPr>
                      <a:r>
                        <a:t>1BF24CS194</a:t>
                      </a:r>
                    </a:p>
                  </a:txBody>
                  <a:tcPr>
                    <a:solidFill>
                      <a:srgbClr val="FFFFFF"/>
                    </a:solidFill>
                  </a:tcPr>
                </a:tc>
              </a:tr>
              <a:tr h="381000">
                <a:tc>
                  <a:txBody>
                    <a:bodyPr/>
                    <a:lstStyle/>
                    <a:p>
                      <a:pPr>
                        <a:defRPr sz="1200">
                          <a:solidFill>
                            <a:srgbClr val="0F172A"/>
                          </a:solidFill>
                        </a:defRPr>
                      </a:pPr>
                      <a:r>
                        <a:t>Babu Ld</a:t>
                      </a:r>
                    </a:p>
                  </a:txBody>
                  <a:tcPr>
                    <a:solidFill>
                      <a:srgbClr val="F1F5F9"/>
                    </a:solidFill>
                  </a:tcPr>
                </a:tc>
                <a:tc>
                  <a:txBody>
                    <a:bodyPr/>
                    <a:lstStyle/>
                    <a:p>
                      <a:pPr>
                        <a:defRPr sz="1200">
                          <a:solidFill>
                            <a:srgbClr val="0F172A"/>
                          </a:solidFill>
                        </a:defRPr>
                      </a:pPr>
                      <a:r>
                        <a:t>1BM25CS423</a:t>
                      </a:r>
                    </a:p>
                  </a:txBody>
                  <a:tcPr>
                    <a:solidFill>
                      <a:srgbClr val="F1F5F9"/>
                    </a:solidFill>
                  </a:tcPr>
                </a:tc>
              </a:tr>
            </a:tbl>
          </a:graphicData>
        </a:graphic>
      </p:graphicFrame>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Overview</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MediSync does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17320"/>
            <a:ext cx="10881360" cy="685800"/>
          </a:xfrm>
          <a:prstGeom prst="rect">
            <a:avLst/>
          </a:prstGeom>
          <a:noFill/>
        </p:spPr>
        <p:txBody>
          <a:bodyPr wrap="square">
            <a:spAutoFit/>
          </a:bodyPr>
          <a:lstStyle/>
          <a:p>
            <a:pPr algn="l">
              <a:defRPr sz="1600" b="0">
                <a:solidFill>
                  <a:srgbClr val="0F172A"/>
                </a:solidFill>
                <a:latin typeface="Aptos"/>
              </a:defRPr>
            </a:pPr>
            <a:r>
              <a:t>MediSync is designed as a single healthcare workspace where patients can find doctors, book consultations, keep reports, chat with doctors, and use AI guidance, while doctors can manage schedules, clinic location, appointments, and patient communication.</a:t>
            </a:r>
          </a:p>
        </p:txBody>
      </p:sp>
      <p:sp>
        <p:nvSpPr>
          <p:cNvPr id="7" name="Rounded Rectangle 6"/>
          <p:cNvSpPr/>
          <p:nvPr/>
        </p:nvSpPr>
        <p:spPr>
          <a:xfrm>
            <a:off x="68580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63347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399032" y="2587752"/>
            <a:ext cx="4389120" cy="274320"/>
          </a:xfrm>
          <a:prstGeom prst="rect">
            <a:avLst/>
          </a:prstGeom>
          <a:noFill/>
        </p:spPr>
        <p:txBody>
          <a:bodyPr wrap="square">
            <a:spAutoFit/>
          </a:bodyPr>
          <a:lstStyle/>
          <a:p>
            <a:pPr algn="l">
              <a:defRPr sz="1350" b="1">
                <a:solidFill>
                  <a:srgbClr val="0F172A"/>
                </a:solidFill>
                <a:latin typeface="Aptos"/>
              </a:defRPr>
            </a:pPr>
            <a:r>
              <a:t>Patient Side</a:t>
            </a:r>
          </a:p>
        </p:txBody>
      </p:sp>
      <p:sp>
        <p:nvSpPr>
          <p:cNvPr id="11" name="TextBox 10"/>
          <p:cNvSpPr txBox="1"/>
          <p:nvPr/>
        </p:nvSpPr>
        <p:spPr>
          <a:xfrm>
            <a:off x="1399032" y="2935224"/>
            <a:ext cx="4389120" cy="822960"/>
          </a:xfrm>
          <a:prstGeom prst="rect">
            <a:avLst/>
          </a:prstGeom>
          <a:noFill/>
        </p:spPr>
        <p:txBody>
          <a:bodyPr wrap="square">
            <a:spAutoFit/>
          </a:bodyPr>
          <a:lstStyle/>
          <a:p>
            <a:pPr algn="l">
              <a:defRPr sz="1080" b="0">
                <a:solidFill>
                  <a:srgbClr val="64748B"/>
                </a:solidFill>
                <a:latin typeface="Aptos"/>
              </a:defRPr>
            </a:pPr>
            <a:r>
              <a:t>Doctor search, appointment booking, AI health chat, medical record storage, appointment history, chat and video consultation.</a:t>
            </a:r>
          </a:p>
        </p:txBody>
      </p:sp>
      <p:sp>
        <p:nvSpPr>
          <p:cNvPr id="12" name="Rounded Rectangle 11"/>
          <p:cNvSpPr/>
          <p:nvPr/>
        </p:nvSpPr>
        <p:spPr>
          <a:xfrm>
            <a:off x="626364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64807"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3" y="263347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6976872" y="2587752"/>
            <a:ext cx="4389120" cy="274320"/>
          </a:xfrm>
          <a:prstGeom prst="rect">
            <a:avLst/>
          </a:prstGeom>
          <a:noFill/>
        </p:spPr>
        <p:txBody>
          <a:bodyPr wrap="square">
            <a:spAutoFit/>
          </a:bodyPr>
          <a:lstStyle/>
          <a:p>
            <a:pPr algn="l">
              <a:defRPr sz="1350" b="1">
                <a:solidFill>
                  <a:srgbClr val="0F172A"/>
                </a:solidFill>
                <a:latin typeface="Aptos"/>
              </a:defRPr>
            </a:pPr>
            <a:r>
              <a:t>Doctor Side</a:t>
            </a:r>
          </a:p>
        </p:txBody>
      </p:sp>
      <p:sp>
        <p:nvSpPr>
          <p:cNvPr id="16" name="TextBox 15"/>
          <p:cNvSpPr txBox="1"/>
          <p:nvPr/>
        </p:nvSpPr>
        <p:spPr>
          <a:xfrm>
            <a:off x="6976872" y="2935224"/>
            <a:ext cx="4389120" cy="822960"/>
          </a:xfrm>
          <a:prstGeom prst="rect">
            <a:avLst/>
          </a:prstGeom>
          <a:noFill/>
        </p:spPr>
        <p:txBody>
          <a:bodyPr wrap="square">
            <a:spAutoFit/>
          </a:bodyPr>
          <a:lstStyle/>
          <a:p>
            <a:pPr algn="l">
              <a:defRPr sz="1080" b="0">
                <a:solidFill>
                  <a:srgbClr val="64748B"/>
                </a:solidFill>
                <a:latin typeface="Aptos"/>
              </a:defRPr>
            </a:pPr>
            <a:r>
              <a:t>Profile management, clinic location on map, weekly and custom slot management, appointment dashboard, patient chats and video calls.</a:t>
            </a:r>
          </a:p>
        </p:txBody>
      </p:sp>
      <p:sp>
        <p:nvSpPr>
          <p:cNvPr id="17" name="Rounded Rectangle 16"/>
          <p:cNvSpPr/>
          <p:nvPr/>
        </p:nvSpPr>
        <p:spPr>
          <a:xfrm>
            <a:off x="68580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6968"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437083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0" name="TextBox 19"/>
          <p:cNvSpPr txBox="1"/>
          <p:nvPr/>
        </p:nvSpPr>
        <p:spPr>
          <a:xfrm>
            <a:off x="1399032" y="4325112"/>
            <a:ext cx="4389120" cy="274320"/>
          </a:xfrm>
          <a:prstGeom prst="rect">
            <a:avLst/>
          </a:prstGeom>
          <a:noFill/>
        </p:spPr>
        <p:txBody>
          <a:bodyPr wrap="square">
            <a:spAutoFit/>
          </a:bodyPr>
          <a:lstStyle/>
          <a:p>
            <a:pPr algn="l">
              <a:defRPr sz="1350" b="1">
                <a:solidFill>
                  <a:srgbClr val="0F172A"/>
                </a:solidFill>
                <a:latin typeface="Aptos"/>
              </a:defRPr>
            </a:pPr>
            <a:r>
              <a:t>Communication Layer</a:t>
            </a:r>
          </a:p>
        </p:txBody>
      </p:sp>
      <p:sp>
        <p:nvSpPr>
          <p:cNvPr id="21" name="TextBox 20"/>
          <p:cNvSpPr txBox="1"/>
          <p:nvPr/>
        </p:nvSpPr>
        <p:spPr>
          <a:xfrm>
            <a:off x="1399032" y="4672583"/>
            <a:ext cx="4389120" cy="822960"/>
          </a:xfrm>
          <a:prstGeom prst="rect">
            <a:avLst/>
          </a:prstGeom>
          <a:noFill/>
        </p:spPr>
        <p:txBody>
          <a:bodyPr wrap="square">
            <a:spAutoFit/>
          </a:bodyPr>
          <a:lstStyle/>
          <a:p>
            <a:pPr algn="l">
              <a:defRPr sz="1080" b="0">
                <a:solidFill>
                  <a:srgbClr val="64748B"/>
                </a:solidFill>
                <a:latin typeface="Aptos"/>
              </a:defRPr>
            </a:pPr>
            <a:r>
              <a:t>Real-time chat, WebSocket events, Firebase notifications, and WebRTC-based video consultation support doctor-patient interaction.</a:t>
            </a:r>
          </a:p>
        </p:txBody>
      </p:sp>
      <p:sp>
        <p:nvSpPr>
          <p:cNvPr id="22" name="Rounded Rectangle 21"/>
          <p:cNvSpPr/>
          <p:nvPr/>
        </p:nvSpPr>
        <p:spPr>
          <a:xfrm>
            <a:off x="626364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64807"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7103" y="437083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5" name="TextBox 24"/>
          <p:cNvSpPr txBox="1"/>
          <p:nvPr/>
        </p:nvSpPr>
        <p:spPr>
          <a:xfrm>
            <a:off x="6976872" y="4325112"/>
            <a:ext cx="4389120" cy="274320"/>
          </a:xfrm>
          <a:prstGeom prst="rect">
            <a:avLst/>
          </a:prstGeom>
          <a:noFill/>
        </p:spPr>
        <p:txBody>
          <a:bodyPr wrap="square">
            <a:spAutoFit/>
          </a:bodyPr>
          <a:lstStyle/>
          <a:p>
            <a:pPr algn="l">
              <a:defRPr sz="1350" b="1">
                <a:solidFill>
                  <a:srgbClr val="0F172A"/>
                </a:solidFill>
                <a:latin typeface="Aptos"/>
              </a:defRPr>
            </a:pPr>
            <a:r>
              <a:t>Storage and Records</a:t>
            </a:r>
          </a:p>
        </p:txBody>
      </p:sp>
      <p:sp>
        <p:nvSpPr>
          <p:cNvPr id="26" name="TextBox 25"/>
          <p:cNvSpPr txBox="1"/>
          <p:nvPr/>
        </p:nvSpPr>
        <p:spPr>
          <a:xfrm>
            <a:off x="6976872" y="4672583"/>
            <a:ext cx="4389120" cy="822960"/>
          </a:xfrm>
          <a:prstGeom prst="rect">
            <a:avLst/>
          </a:prstGeom>
          <a:noFill/>
        </p:spPr>
        <p:txBody>
          <a:bodyPr wrap="square">
            <a:spAutoFit/>
          </a:bodyPr>
          <a:lstStyle/>
          <a:p>
            <a:pPr algn="l">
              <a:defRPr sz="1080" b="0">
                <a:solidFill>
                  <a:srgbClr val="64748B"/>
                </a:solidFill>
                <a:latin typeface="Aptos"/>
              </a:defRPr>
            </a:pPr>
            <a:r>
              <a:t>PostgreSQL stores structured records, MinIO stores files/photos, and local app caching supports offline viewing of downloaded records.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Problem Statement</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Why this system is needed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10515600" cy="4480560"/>
          </a:xfrm>
          <a:prstGeom prst="rect">
            <a:avLst/>
          </a:prstGeom>
          <a:noFill/>
        </p:spPr>
        <p:txBody>
          <a:bodyPr wrap="square">
            <a:spAutoFit/>
          </a:bodyPr>
          <a:lstStyle/>
          <a:p>
            <a:pPr>
              <a:spcAft>
                <a:spcPts val="700"/>
              </a:spcAft>
              <a:defRPr sz="1600">
                <a:solidFill>
                  <a:srgbClr val="0F172A"/>
                </a:solidFill>
                <a:latin typeface="Aptos"/>
              </a:defRPr>
            </a:pPr>
            <a:r>
              <a:t>• Patients often need separate tools for finding doctors, booking appointments, storing reports, and communicating after consultation.</a:t>
            </a:r>
          </a:p>
          <a:p>
            <a:pPr>
              <a:spcAft>
                <a:spcPts val="700"/>
              </a:spcAft>
              <a:defRPr sz="1600">
                <a:solidFill>
                  <a:srgbClr val="0F172A"/>
                </a:solidFill>
                <a:latin typeface="Aptos"/>
              </a:defRPr>
            </a:pPr>
            <a:r>
              <a:t>• Manual or semi-manual appointment handling can create confusion about available slots, consultation mode, fees, and clinic location.</a:t>
            </a:r>
          </a:p>
          <a:p>
            <a:pPr>
              <a:spcAft>
                <a:spcPts val="700"/>
              </a:spcAft>
              <a:defRPr sz="1600">
                <a:solidFill>
                  <a:srgbClr val="0F172A"/>
                </a:solidFill>
                <a:latin typeface="Aptos"/>
              </a:defRPr>
            </a:pPr>
            <a:r>
              <a:t>• Medical reports are frequently scattered across devices or chats, making follow-up care slower and less organized.</a:t>
            </a:r>
          </a:p>
          <a:p>
            <a:pPr>
              <a:spcAft>
                <a:spcPts val="700"/>
              </a:spcAft>
              <a:defRPr sz="1600">
                <a:solidFill>
                  <a:srgbClr val="0F172A"/>
                </a:solidFill>
                <a:latin typeface="Aptos"/>
              </a:defRPr>
            </a:pPr>
            <a:r>
              <a:t>• Doctors need a simple workflow to manage clinic location, online/offline slots, appointments, patient chats, and reminders.</a:t>
            </a:r>
          </a:p>
          <a:p>
            <a:pPr>
              <a:spcAft>
                <a:spcPts val="700"/>
              </a:spcAft>
              <a:defRPr sz="1600">
                <a:solidFill>
                  <a:srgbClr val="0F172A"/>
                </a:solidFill>
                <a:latin typeface="Aptos"/>
              </a:defRPr>
            </a:pPr>
            <a:r>
              <a:t>• A reliable healthcare app must support secure authentication, real-time updates, notifications, and access to important data even during network issues.</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Objectives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Core goals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62763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581912"/>
            <a:ext cx="4251959" cy="274320"/>
          </a:xfrm>
          <a:prstGeom prst="rect">
            <a:avLst/>
          </a:prstGeom>
          <a:noFill/>
        </p:spPr>
        <p:txBody>
          <a:bodyPr wrap="square">
            <a:spAutoFit/>
          </a:bodyPr>
          <a:lstStyle/>
          <a:p>
            <a:pPr algn="l">
              <a:defRPr sz="1350" b="1">
                <a:solidFill>
                  <a:srgbClr val="0F172A"/>
                </a:solidFill>
                <a:latin typeface="Aptos"/>
              </a:defRPr>
            </a:pPr>
            <a:r>
              <a:t>Secure Access</a:t>
            </a:r>
          </a:p>
        </p:txBody>
      </p:sp>
      <p:sp>
        <p:nvSpPr>
          <p:cNvPr id="10" name="TextBox 9"/>
          <p:cNvSpPr txBox="1"/>
          <p:nvPr/>
        </p:nvSpPr>
        <p:spPr>
          <a:xfrm>
            <a:off x="1444752" y="1929384"/>
            <a:ext cx="4251959" cy="548640"/>
          </a:xfrm>
          <a:prstGeom prst="rect">
            <a:avLst/>
          </a:prstGeom>
          <a:noFill/>
        </p:spPr>
        <p:txBody>
          <a:bodyPr wrap="square">
            <a:spAutoFit/>
          </a:bodyPr>
          <a:lstStyle/>
          <a:p>
            <a:pPr algn="l">
              <a:defRPr sz="1080" b="0">
                <a:solidFill>
                  <a:srgbClr val="64748B"/>
                </a:solidFill>
                <a:latin typeface="Aptos"/>
              </a:defRPr>
            </a:pPr>
            <a:r>
              <a:t>OTP login and JWT-based protected API access for patient and doctor roles.</a:t>
            </a:r>
          </a:p>
        </p:txBody>
      </p:sp>
      <p:sp>
        <p:nvSpPr>
          <p:cNvPr id="11" name="Rounded Rectangle 10"/>
          <p:cNvSpPr/>
          <p:nvPr/>
        </p:nvSpPr>
        <p:spPr>
          <a:xfrm>
            <a:off x="6309359"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62763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581912"/>
            <a:ext cx="4251959"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929384"/>
            <a:ext cx="4251959" cy="548640"/>
          </a:xfrm>
          <a:prstGeom prst="rect">
            <a:avLst/>
          </a:prstGeom>
          <a:noFill/>
        </p:spPr>
        <p:txBody>
          <a:bodyPr wrap="square">
            <a:spAutoFit/>
          </a:bodyPr>
          <a:lstStyle/>
          <a:p>
            <a:pPr algn="l">
              <a:defRPr sz="1080" b="0">
                <a:solidFill>
                  <a:srgbClr val="64748B"/>
                </a:solidFill>
                <a:latin typeface="Aptos"/>
              </a:defRPr>
            </a:pPr>
            <a:r>
              <a:t>Search and filter doctors by name, speciality, and consultation mode.</a:t>
            </a:r>
          </a:p>
        </p:txBody>
      </p:sp>
      <p:sp>
        <p:nvSpPr>
          <p:cNvPr id="16" name="Rounded Rectangle 15"/>
          <p:cNvSpPr/>
          <p:nvPr/>
        </p:nvSpPr>
        <p:spPr>
          <a:xfrm>
            <a:off x="731520"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1363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3090672"/>
            <a:ext cx="4251959" cy="274320"/>
          </a:xfrm>
          <a:prstGeom prst="rect">
            <a:avLst/>
          </a:prstGeom>
          <a:noFill/>
        </p:spPr>
        <p:txBody>
          <a:bodyPr wrap="square">
            <a:spAutoFit/>
          </a:bodyPr>
          <a:lstStyle/>
          <a:p>
            <a:pPr algn="l">
              <a:defRPr sz="1350" b="1">
                <a:solidFill>
                  <a:srgbClr val="0F172A"/>
                </a:solidFill>
                <a:latin typeface="Aptos"/>
              </a:defRPr>
            </a:pPr>
            <a:r>
              <a:t>Appointment Booking</a:t>
            </a:r>
          </a:p>
        </p:txBody>
      </p:sp>
      <p:sp>
        <p:nvSpPr>
          <p:cNvPr id="20" name="TextBox 19"/>
          <p:cNvSpPr txBox="1"/>
          <p:nvPr/>
        </p:nvSpPr>
        <p:spPr>
          <a:xfrm>
            <a:off x="1444752" y="3438144"/>
            <a:ext cx="4251959" cy="548640"/>
          </a:xfrm>
          <a:prstGeom prst="rect">
            <a:avLst/>
          </a:prstGeom>
          <a:noFill/>
        </p:spPr>
        <p:txBody>
          <a:bodyPr wrap="square">
            <a:spAutoFit/>
          </a:bodyPr>
          <a:lstStyle/>
          <a:p>
            <a:pPr algn="l">
              <a:defRPr sz="1080" b="0">
                <a:solidFill>
                  <a:srgbClr val="64748B"/>
                </a:solidFill>
                <a:latin typeface="Aptos"/>
              </a:defRPr>
            </a:pPr>
            <a:r>
              <a:t>Book slots with real-time status updates and prevent duplicate booking.</a:t>
            </a:r>
          </a:p>
        </p:txBody>
      </p:sp>
      <p:sp>
        <p:nvSpPr>
          <p:cNvPr id="21" name="Rounded Rectangle 20"/>
          <p:cNvSpPr/>
          <p:nvPr/>
        </p:nvSpPr>
        <p:spPr>
          <a:xfrm>
            <a:off x="6309359"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1363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3090672"/>
            <a:ext cx="4251959" cy="274320"/>
          </a:xfrm>
          <a:prstGeom prst="rect">
            <a:avLst/>
          </a:prstGeom>
          <a:noFill/>
        </p:spPr>
        <p:txBody>
          <a:bodyPr wrap="square">
            <a:spAutoFit/>
          </a:bodyPr>
          <a:lstStyle/>
          <a:p>
            <a:pPr algn="l">
              <a:defRPr sz="1350" b="1">
                <a:solidFill>
                  <a:srgbClr val="0F172A"/>
                </a:solidFill>
                <a:latin typeface="Aptos"/>
              </a:defRPr>
            </a:pPr>
            <a:r>
              <a:t>Connected Care</a:t>
            </a:r>
          </a:p>
        </p:txBody>
      </p:sp>
      <p:sp>
        <p:nvSpPr>
          <p:cNvPr id="25" name="TextBox 24"/>
          <p:cNvSpPr txBox="1"/>
          <p:nvPr/>
        </p:nvSpPr>
        <p:spPr>
          <a:xfrm>
            <a:off x="7022592" y="3438144"/>
            <a:ext cx="4251959" cy="548640"/>
          </a:xfrm>
          <a:prstGeom prst="rect">
            <a:avLst/>
          </a:prstGeom>
          <a:noFill/>
        </p:spPr>
        <p:txBody>
          <a:bodyPr wrap="square">
            <a:spAutoFit/>
          </a:bodyPr>
          <a:lstStyle/>
          <a:p>
            <a:pPr algn="l">
              <a:defRPr sz="1080" b="0">
                <a:solidFill>
                  <a:srgbClr val="64748B"/>
                </a:solidFill>
                <a:latin typeface="Aptos"/>
              </a:defRPr>
            </a:pPr>
            <a:r>
              <a:t>Enable chat, file sharing, notifications, and video calls between patient and doctor.</a:t>
            </a:r>
          </a:p>
        </p:txBody>
      </p:sp>
      <p:sp>
        <p:nvSpPr>
          <p:cNvPr id="26" name="Rounded Rectangle 25"/>
          <p:cNvSpPr/>
          <p:nvPr/>
        </p:nvSpPr>
        <p:spPr>
          <a:xfrm>
            <a:off x="731520"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64515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444752" y="4599431"/>
            <a:ext cx="4251959" cy="274320"/>
          </a:xfrm>
          <a:prstGeom prst="rect">
            <a:avLst/>
          </a:prstGeom>
          <a:noFill/>
        </p:spPr>
        <p:txBody>
          <a:bodyPr wrap="square">
            <a:spAutoFit/>
          </a:bodyPr>
          <a:lstStyle/>
          <a:p>
            <a:pPr algn="l">
              <a:defRPr sz="1350" b="1">
                <a:solidFill>
                  <a:srgbClr val="0F172A"/>
                </a:solidFill>
                <a:latin typeface="Aptos"/>
              </a:defRPr>
            </a:pPr>
            <a:r>
              <a:t>Medical Records</a:t>
            </a:r>
          </a:p>
        </p:txBody>
      </p:sp>
      <p:sp>
        <p:nvSpPr>
          <p:cNvPr id="30" name="TextBox 29"/>
          <p:cNvSpPr txBox="1"/>
          <p:nvPr/>
        </p:nvSpPr>
        <p:spPr>
          <a:xfrm>
            <a:off x="1444752" y="4946904"/>
            <a:ext cx="4251959" cy="548640"/>
          </a:xfrm>
          <a:prstGeom prst="rect">
            <a:avLst/>
          </a:prstGeom>
          <a:noFill/>
        </p:spPr>
        <p:txBody>
          <a:bodyPr wrap="square">
            <a:spAutoFit/>
          </a:bodyPr>
          <a:lstStyle/>
          <a:p>
            <a:pPr algn="l">
              <a:defRPr sz="1080" b="0">
                <a:solidFill>
                  <a:srgbClr val="64748B"/>
                </a:solidFill>
                <a:latin typeface="Aptos"/>
              </a:defRPr>
            </a:pPr>
            <a:r>
              <a:t>Store and retrieve medical reports with local cache support.</a:t>
            </a:r>
          </a:p>
        </p:txBody>
      </p:sp>
      <p:sp>
        <p:nvSpPr>
          <p:cNvPr id="31" name="Rounded Rectangle 30"/>
          <p:cNvSpPr/>
          <p:nvPr/>
        </p:nvSpPr>
        <p:spPr>
          <a:xfrm>
            <a:off x="6309359"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64515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599431"/>
            <a:ext cx="4251959" cy="274320"/>
          </a:xfrm>
          <a:prstGeom prst="rect">
            <a:avLst/>
          </a:prstGeom>
          <a:noFill/>
        </p:spPr>
        <p:txBody>
          <a:bodyPr wrap="square">
            <a:spAutoFit/>
          </a:bodyPr>
          <a:lstStyle/>
          <a:p>
            <a:pPr algn="l">
              <a:defRPr sz="1350" b="1">
                <a:solidFill>
                  <a:srgbClr val="0F172A"/>
                </a:solidFill>
                <a:latin typeface="Aptos"/>
              </a:defRPr>
            </a:pPr>
            <a:r>
              <a:t>AI Guidance</a:t>
            </a:r>
          </a:p>
        </p:txBody>
      </p:sp>
      <p:sp>
        <p:nvSpPr>
          <p:cNvPr id="35" name="TextBox 34"/>
          <p:cNvSpPr txBox="1"/>
          <p:nvPr/>
        </p:nvSpPr>
        <p:spPr>
          <a:xfrm>
            <a:off x="7022592" y="4946904"/>
            <a:ext cx="4251959" cy="548640"/>
          </a:xfrm>
          <a:prstGeom prst="rect">
            <a:avLst/>
          </a:prstGeom>
          <a:noFill/>
        </p:spPr>
        <p:txBody>
          <a:bodyPr wrap="square">
            <a:spAutoFit/>
          </a:bodyPr>
          <a:lstStyle/>
          <a:p>
            <a:pPr algn="l">
              <a:defRPr sz="1080" b="0">
                <a:solidFill>
                  <a:srgbClr val="64748B"/>
                </a:solidFill>
                <a:latin typeface="Aptos"/>
              </a:defRPr>
            </a:pPr>
            <a:r>
              <a:t>Provide an AI assistant for basic health questions and report/image support.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Boundaries of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39496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743200" cy="320040"/>
          </a:xfrm>
          <a:prstGeom prst="rect">
            <a:avLst/>
          </a:prstGeom>
          <a:noFill/>
        </p:spPr>
        <p:txBody>
          <a:bodyPr wrap="square">
            <a:spAutoFit/>
          </a:bodyPr>
          <a:lstStyle/>
          <a:p>
            <a:pPr algn="l">
              <a:defRPr sz="1800" b="1">
                <a:solidFill>
                  <a:srgbClr val="0EA5E9"/>
                </a:solidFill>
                <a:latin typeface="Aptos"/>
              </a:defRPr>
            </a:pPr>
            <a:r>
              <a:t>In Scope</a:t>
            </a:r>
          </a:p>
        </p:txBody>
      </p:sp>
      <p:sp>
        <p:nvSpPr>
          <p:cNvPr id="8" name="TextBox 7"/>
          <p:cNvSpPr txBox="1"/>
          <p:nvPr/>
        </p:nvSpPr>
        <p:spPr>
          <a:xfrm>
            <a:off x="1005840" y="2148840"/>
            <a:ext cx="4800600" cy="3657600"/>
          </a:xfrm>
          <a:prstGeom prst="rect">
            <a:avLst/>
          </a:prstGeom>
          <a:noFill/>
        </p:spPr>
        <p:txBody>
          <a:bodyPr wrap="square">
            <a:spAutoFit/>
          </a:bodyPr>
          <a:lstStyle/>
          <a:p>
            <a:pPr>
              <a:spcAft>
                <a:spcPts val="700"/>
              </a:spcAft>
              <a:defRPr sz="1280">
                <a:solidFill>
                  <a:srgbClr val="0F172A"/>
                </a:solidFill>
                <a:latin typeface="Aptos"/>
              </a:defRPr>
            </a:pPr>
            <a:r>
              <a:t>• Patient and doctor registration and profile management</a:t>
            </a:r>
          </a:p>
          <a:p>
            <a:pPr>
              <a:spcAft>
                <a:spcPts val="700"/>
              </a:spcAft>
              <a:defRPr sz="1280">
                <a:solidFill>
                  <a:srgbClr val="0F172A"/>
                </a:solidFill>
                <a:latin typeface="Aptos"/>
              </a:defRPr>
            </a:pPr>
            <a:r>
              <a:t>• Doctor search, slot display, and appointment booking</a:t>
            </a:r>
          </a:p>
          <a:p>
            <a:pPr>
              <a:spcAft>
                <a:spcPts val="700"/>
              </a:spcAft>
              <a:defRPr sz="1280">
                <a:solidFill>
                  <a:srgbClr val="0F172A"/>
                </a:solidFill>
                <a:latin typeface="Aptos"/>
              </a:defRPr>
            </a:pPr>
            <a:r>
              <a:t>• Doctor schedule, custom slot, and clinic location management</a:t>
            </a:r>
          </a:p>
          <a:p>
            <a:pPr>
              <a:spcAft>
                <a:spcPts val="700"/>
              </a:spcAft>
              <a:defRPr sz="1280">
                <a:solidFill>
                  <a:srgbClr val="0F172A"/>
                </a:solidFill>
                <a:latin typeface="Aptos"/>
              </a:defRPr>
            </a:pPr>
            <a:r>
              <a:t>• Medical records upload, listing, caching, and filtering</a:t>
            </a:r>
          </a:p>
          <a:p>
            <a:pPr>
              <a:spcAft>
                <a:spcPts val="700"/>
              </a:spcAft>
              <a:defRPr sz="1280">
                <a:solidFill>
                  <a:srgbClr val="0F172A"/>
                </a:solidFill>
                <a:latin typeface="Aptos"/>
              </a:defRPr>
            </a:pPr>
            <a:r>
              <a:t>• Real-time chat, notifications, and video consultation</a:t>
            </a:r>
          </a:p>
          <a:p>
            <a:pPr>
              <a:spcAft>
                <a:spcPts val="700"/>
              </a:spcAft>
              <a:defRPr sz="1280">
                <a:solidFill>
                  <a:srgbClr val="0F172A"/>
                </a:solidFill>
                <a:latin typeface="Aptos"/>
              </a:defRPr>
            </a:pPr>
            <a:r>
              <a:t>• AI health assistant for guidance and report/image support</a:t>
            </a:r>
          </a:p>
        </p:txBody>
      </p:sp>
      <p:sp>
        <p:nvSpPr>
          <p:cNvPr id="9" name="Rounded Rectangle 8"/>
          <p:cNvSpPr/>
          <p:nvPr/>
        </p:nvSpPr>
        <p:spPr>
          <a:xfrm>
            <a:off x="6400800" y="1417320"/>
            <a:ext cx="507492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664208"/>
            <a:ext cx="2743200" cy="320040"/>
          </a:xfrm>
          <a:prstGeom prst="rect">
            <a:avLst/>
          </a:prstGeom>
          <a:noFill/>
        </p:spPr>
        <p:txBody>
          <a:bodyPr wrap="square">
            <a:spAutoFit/>
          </a:bodyPr>
          <a:lstStyle/>
          <a:p>
            <a:pPr algn="l">
              <a:defRPr sz="1800" b="1">
                <a:solidFill>
                  <a:srgbClr val="EF4444"/>
                </a:solidFill>
                <a:latin typeface="Aptos"/>
              </a:defRPr>
            </a:pPr>
            <a:r>
              <a:t>Out of Scope</a:t>
            </a:r>
          </a:p>
        </p:txBody>
      </p:sp>
      <p:sp>
        <p:nvSpPr>
          <p:cNvPr id="11" name="TextBox 10"/>
          <p:cNvSpPr txBox="1"/>
          <p:nvPr/>
        </p:nvSpPr>
        <p:spPr>
          <a:xfrm>
            <a:off x="6675120" y="2148840"/>
            <a:ext cx="4526280" cy="3657600"/>
          </a:xfrm>
          <a:prstGeom prst="rect">
            <a:avLst/>
          </a:prstGeom>
          <a:noFill/>
        </p:spPr>
        <p:txBody>
          <a:bodyPr wrap="square">
            <a:spAutoFit/>
          </a:bodyPr>
          <a:lstStyle/>
          <a:p>
            <a:pPr>
              <a:spcAft>
                <a:spcPts val="700"/>
              </a:spcAft>
              <a:defRPr sz="1280">
                <a:solidFill>
                  <a:srgbClr val="0F172A"/>
                </a:solidFill>
                <a:latin typeface="Aptos"/>
              </a:defRPr>
            </a:pPr>
            <a:r>
              <a:t>• Emergency medical decision-making or ambulance dispatch</a:t>
            </a:r>
          </a:p>
          <a:p>
            <a:pPr>
              <a:spcAft>
                <a:spcPts val="700"/>
              </a:spcAft>
              <a:defRPr sz="1280">
                <a:solidFill>
                  <a:srgbClr val="0F172A"/>
                </a:solidFill>
                <a:latin typeface="Aptos"/>
              </a:defRPr>
            </a:pPr>
            <a:r>
              <a:t>• Replacing professional diagnosis or treatment advice</a:t>
            </a:r>
          </a:p>
          <a:p>
            <a:pPr>
              <a:spcAft>
                <a:spcPts val="700"/>
              </a:spcAft>
              <a:defRPr sz="1280">
                <a:solidFill>
                  <a:srgbClr val="0F172A"/>
                </a:solidFill>
                <a:latin typeface="Aptos"/>
              </a:defRPr>
            </a:pPr>
            <a:r>
              <a:t>• Payment gateway integration in the current version</a:t>
            </a:r>
          </a:p>
          <a:p>
            <a:pPr>
              <a:spcAft>
                <a:spcPts val="700"/>
              </a:spcAft>
              <a:defRPr sz="1280">
                <a:solidFill>
                  <a:srgbClr val="0F172A"/>
                </a:solidFill>
                <a:latin typeface="Aptos"/>
              </a:defRPr>
            </a:pPr>
            <a:r>
              <a:t>• Hospital-wide ERP modules such as pharmacy inventory or billing</a:t>
            </a:r>
          </a:p>
          <a:p>
            <a:pPr>
              <a:spcAft>
                <a:spcPts val="700"/>
              </a:spcAft>
              <a:defRPr sz="1280">
                <a:solidFill>
                  <a:srgbClr val="0F172A"/>
                </a:solidFill>
                <a:latin typeface="Aptos"/>
              </a:defRPr>
            </a:pPr>
            <a:r>
              <a:t>• Advanced clinical decision support beyond general AI guidance</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Technology Stack</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Tools and platforms used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Android App</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Kotlin, Jetpack Compose, MVVM, Repository Pattern, Room/SQLite cache</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Backend API</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Node.js, Express.js, TypeScript, JWT middleware, REST API routes</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Database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PostgreSQL for users, profiles, appointments, chat, records, ratings</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Real-Time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WebSockets for chat/video signalling and Redis for pub-sub/session support</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Storage</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MinIO object storage for profile photos, chat files, and medical reports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External Services</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Firebase Cloud Messaging, Google Maps, Gemini AI, WebRTC</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Software Engineering Approach</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Iterative development aligned with Agile principles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12080" cy="43891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00100" y="2032317"/>
            <a:ext cx="4983480" cy="2976245"/>
          </a:xfrm>
          <a:prstGeom prst="rect">
            <a:avLst/>
          </a:prstGeom>
          <a:ln w="6350">
            <a:solidFill>
              <a:srgbClr val="CBD5E1"/>
            </a:solidFill>
          </a:ln>
        </p:spPr>
      </p:pic>
      <p:sp>
        <p:nvSpPr>
          <p:cNvPr id="8" name="TextBox 7"/>
          <p:cNvSpPr txBox="1"/>
          <p:nvPr/>
        </p:nvSpPr>
        <p:spPr>
          <a:xfrm>
            <a:off x="6263640" y="1417320"/>
            <a:ext cx="5212080" cy="1097280"/>
          </a:xfrm>
          <a:prstGeom prst="rect">
            <a:avLst/>
          </a:prstGeom>
          <a:noFill/>
        </p:spPr>
        <p:txBody>
          <a:bodyPr wrap="square">
            <a:spAutoFit/>
          </a:bodyPr>
          <a:lstStyle/>
          <a:p>
            <a:pPr algn="l">
              <a:defRPr sz="1450" b="0">
                <a:solidFill>
                  <a:srgbClr val="0F172A"/>
                </a:solidFill>
                <a:latin typeface="Aptos"/>
              </a:defRPr>
            </a:pPr>
            <a:r>
              <a:t>Development was handled in iterative increments: first authentication and profile flows, then appointment booking, then records and chat, followed by video calling, AI assistant, offline caching, and UI refinement.</a:t>
            </a:r>
          </a:p>
        </p:txBody>
      </p:sp>
      <p:sp>
        <p:nvSpPr>
          <p:cNvPr id="9" name="TextBox 8"/>
          <p:cNvSpPr txBox="1"/>
          <p:nvPr/>
        </p:nvSpPr>
        <p:spPr>
          <a:xfrm>
            <a:off x="6263640" y="2788920"/>
            <a:ext cx="5074920" cy="2926080"/>
          </a:xfrm>
          <a:prstGeom prst="rect">
            <a:avLst/>
          </a:prstGeom>
          <a:noFill/>
        </p:spPr>
        <p:txBody>
          <a:bodyPr wrap="square">
            <a:spAutoFit/>
          </a:bodyPr>
          <a:lstStyle/>
          <a:p>
            <a:pPr>
              <a:spcAft>
                <a:spcPts val="800"/>
              </a:spcAft>
              <a:defRPr sz="1350">
                <a:solidFill>
                  <a:srgbClr val="0F172A"/>
                </a:solidFill>
                <a:latin typeface="Aptos"/>
              </a:defRPr>
            </a:pPr>
            <a:r>
              <a:t>1. Requirement analysis from patient and doctor workflows</a:t>
            </a:r>
          </a:p>
          <a:p>
            <a:pPr>
              <a:spcAft>
                <a:spcPts val="800"/>
              </a:spcAft>
              <a:defRPr sz="1350">
                <a:solidFill>
                  <a:srgbClr val="0F172A"/>
                </a:solidFill>
                <a:latin typeface="Aptos"/>
              </a:defRPr>
            </a:pPr>
            <a:r>
              <a:t>2. Modular design for authentication, appointment, chat, records, and doctor scheduling</a:t>
            </a:r>
          </a:p>
          <a:p>
            <a:pPr>
              <a:spcAft>
                <a:spcPts val="800"/>
              </a:spcAft>
              <a:defRPr sz="1350">
                <a:solidFill>
                  <a:srgbClr val="0F172A"/>
                </a:solidFill>
                <a:latin typeface="Aptos"/>
              </a:defRPr>
            </a:pPr>
            <a:r>
              <a:t>3. Implementation using Android MVVM and backend REST/WebSocket services</a:t>
            </a:r>
          </a:p>
          <a:p>
            <a:pPr>
              <a:spcAft>
                <a:spcPts val="800"/>
              </a:spcAft>
              <a:defRPr sz="1350">
                <a:solidFill>
                  <a:srgbClr val="0F172A"/>
                </a:solidFill>
                <a:latin typeface="Aptos"/>
              </a:defRPr>
            </a:pPr>
            <a:r>
              <a:t>4. Scenario-based testing for success, failure, offline, and edge cases</a:t>
            </a:r>
          </a:p>
          <a:p>
            <a:pPr>
              <a:spcAft>
                <a:spcPts val="800"/>
              </a:spcAft>
              <a:defRPr sz="1350">
                <a:solidFill>
                  <a:srgbClr val="0F172A"/>
                </a:solidFill>
                <a:latin typeface="Aptos"/>
              </a:defRPr>
            </a:pPr>
            <a:r>
              <a:t>5. Deployment and refinement after real device testing</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Module-wise system functions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0784"/>
            <a:ext cx="3063240" cy="320040"/>
          </a:xfrm>
          <a:prstGeom prst="rect">
            <a:avLst/>
          </a:prstGeom>
          <a:noFill/>
        </p:spPr>
        <p:txBody>
          <a:bodyPr wrap="square">
            <a:spAutoFit/>
          </a:bodyPr>
          <a:lstStyle/>
          <a:p>
            <a:pPr algn="l">
              <a:defRPr sz="1600" b="1">
                <a:solidFill>
                  <a:srgbClr val="0EA5E9"/>
                </a:solidFill>
                <a:latin typeface="Aptos"/>
              </a:defRPr>
            </a:pPr>
            <a:r>
              <a:t>Patient Module</a:t>
            </a:r>
          </a:p>
        </p:txBody>
      </p:sp>
      <p:sp>
        <p:nvSpPr>
          <p:cNvPr id="8" name="TextBox 7"/>
          <p:cNvSpPr txBox="1"/>
          <p:nvPr/>
        </p:nvSpPr>
        <p:spPr>
          <a:xfrm>
            <a:off x="8961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Login/register as patient</a:t>
            </a:r>
          </a:p>
          <a:p>
            <a:pPr>
              <a:spcAft>
                <a:spcPts val="700"/>
              </a:spcAft>
              <a:defRPr sz="1220">
                <a:solidFill>
                  <a:srgbClr val="0F172A"/>
                </a:solidFill>
                <a:latin typeface="Aptos"/>
              </a:defRPr>
            </a:pPr>
            <a:r>
              <a:t>• Search doctors by speciality</a:t>
            </a:r>
          </a:p>
          <a:p>
            <a:pPr>
              <a:spcAft>
                <a:spcPts val="700"/>
              </a:spcAft>
              <a:defRPr sz="1220">
                <a:solidFill>
                  <a:srgbClr val="0F172A"/>
                </a:solidFill>
                <a:latin typeface="Aptos"/>
              </a:defRPr>
            </a:pPr>
            <a:r>
              <a:t>• Book online/offline slots</a:t>
            </a:r>
          </a:p>
          <a:p>
            <a:pPr>
              <a:spcAft>
                <a:spcPts val="700"/>
              </a:spcAft>
              <a:defRPr sz="1220">
                <a:solidFill>
                  <a:srgbClr val="0F172A"/>
                </a:solidFill>
                <a:latin typeface="Aptos"/>
              </a:defRPr>
            </a:pPr>
            <a:r>
              <a:t>• View appointment details</a:t>
            </a:r>
          </a:p>
          <a:p>
            <a:pPr>
              <a:spcAft>
                <a:spcPts val="700"/>
              </a:spcAft>
              <a:defRPr sz="1220">
                <a:solidFill>
                  <a:srgbClr val="0F172A"/>
                </a:solidFill>
                <a:latin typeface="Aptos"/>
              </a:defRPr>
            </a:pPr>
            <a:r>
              <a:t>• Upload and view records</a:t>
            </a:r>
          </a:p>
        </p:txBody>
      </p:sp>
      <p:sp>
        <p:nvSpPr>
          <p:cNvPr id="9" name="Rounded Rectangle 8"/>
          <p:cNvSpPr/>
          <p:nvPr/>
        </p:nvSpPr>
        <p:spPr>
          <a:xfrm>
            <a:off x="45262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700784"/>
            <a:ext cx="3063240" cy="320040"/>
          </a:xfrm>
          <a:prstGeom prst="rect">
            <a:avLst/>
          </a:prstGeom>
          <a:noFill/>
        </p:spPr>
        <p:txBody>
          <a:bodyPr wrap="square">
            <a:spAutoFit/>
          </a:bodyPr>
          <a:lstStyle/>
          <a:p>
            <a:pPr algn="l">
              <a:defRPr sz="1600" b="1">
                <a:solidFill>
                  <a:srgbClr val="10B981"/>
                </a:solidFill>
                <a:latin typeface="Aptos"/>
              </a:defRPr>
            </a:pPr>
            <a:r>
              <a:t>Doctor Module</a:t>
            </a:r>
          </a:p>
        </p:txBody>
      </p:sp>
      <p:sp>
        <p:nvSpPr>
          <p:cNvPr id="11" name="TextBox 10"/>
          <p:cNvSpPr txBox="1"/>
          <p:nvPr/>
        </p:nvSpPr>
        <p:spPr>
          <a:xfrm>
            <a:off x="47823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Create professional profile</a:t>
            </a:r>
          </a:p>
          <a:p>
            <a:pPr>
              <a:spcAft>
                <a:spcPts val="700"/>
              </a:spcAft>
              <a:defRPr sz="1220">
                <a:solidFill>
                  <a:srgbClr val="0F172A"/>
                </a:solidFill>
                <a:latin typeface="Aptos"/>
              </a:defRPr>
            </a:pPr>
            <a:r>
              <a:t>• Set clinic map location</a:t>
            </a:r>
          </a:p>
          <a:p>
            <a:pPr>
              <a:spcAft>
                <a:spcPts val="700"/>
              </a:spcAft>
              <a:defRPr sz="1220">
                <a:solidFill>
                  <a:srgbClr val="0F172A"/>
                </a:solidFill>
                <a:latin typeface="Aptos"/>
              </a:defRPr>
            </a:pPr>
            <a:r>
              <a:t>• Manage weekly/custom slots</a:t>
            </a:r>
          </a:p>
          <a:p>
            <a:pPr>
              <a:spcAft>
                <a:spcPts val="700"/>
              </a:spcAft>
              <a:defRPr sz="1220">
                <a:solidFill>
                  <a:srgbClr val="0F172A"/>
                </a:solidFill>
                <a:latin typeface="Aptos"/>
              </a:defRPr>
            </a:pPr>
            <a:r>
              <a:t>• View dashboard and appointments</a:t>
            </a:r>
          </a:p>
          <a:p>
            <a:pPr>
              <a:spcAft>
                <a:spcPts val="700"/>
              </a:spcAft>
              <a:defRPr sz="1220">
                <a:solidFill>
                  <a:srgbClr val="0F172A"/>
                </a:solidFill>
                <a:latin typeface="Aptos"/>
              </a:defRPr>
            </a:pPr>
            <a:r>
              <a:t>• Chat or video call patients</a:t>
            </a:r>
          </a:p>
        </p:txBody>
      </p:sp>
      <p:sp>
        <p:nvSpPr>
          <p:cNvPr id="12" name="Rounded Rectangle 11"/>
          <p:cNvSpPr/>
          <p:nvPr/>
        </p:nvSpPr>
        <p:spPr>
          <a:xfrm>
            <a:off x="84124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1700784"/>
            <a:ext cx="3063240" cy="320040"/>
          </a:xfrm>
          <a:prstGeom prst="rect">
            <a:avLst/>
          </a:prstGeom>
          <a:noFill/>
        </p:spPr>
        <p:txBody>
          <a:bodyPr wrap="square">
            <a:spAutoFit/>
          </a:bodyPr>
          <a:lstStyle/>
          <a:p>
            <a:pPr algn="l">
              <a:defRPr sz="1600" b="1">
                <a:solidFill>
                  <a:srgbClr val="7C3AED"/>
                </a:solidFill>
                <a:latin typeface="Aptos"/>
              </a:defRPr>
            </a:pPr>
            <a:r>
              <a:t>System Module</a:t>
            </a:r>
          </a:p>
        </p:txBody>
      </p:sp>
      <p:sp>
        <p:nvSpPr>
          <p:cNvPr id="14" name="TextBox 13"/>
          <p:cNvSpPr txBox="1"/>
          <p:nvPr/>
        </p:nvSpPr>
        <p:spPr>
          <a:xfrm>
            <a:off x="8668511"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Generate JWT sessions</a:t>
            </a:r>
          </a:p>
          <a:p>
            <a:pPr>
              <a:spcAft>
                <a:spcPts val="700"/>
              </a:spcAft>
              <a:defRPr sz="1220">
                <a:solidFill>
                  <a:srgbClr val="0F172A"/>
                </a:solidFill>
                <a:latin typeface="Aptos"/>
              </a:defRPr>
            </a:pPr>
            <a:r>
              <a:t>• Prevent duplicate slot booking</a:t>
            </a:r>
          </a:p>
          <a:p>
            <a:pPr>
              <a:spcAft>
                <a:spcPts val="700"/>
              </a:spcAft>
              <a:defRPr sz="1220">
                <a:solidFill>
                  <a:srgbClr val="0F172A"/>
                </a:solidFill>
                <a:latin typeface="Aptos"/>
              </a:defRPr>
            </a:pPr>
            <a:r>
              <a:t>• Send FCM notifications</a:t>
            </a:r>
          </a:p>
          <a:p>
            <a:pPr>
              <a:spcAft>
                <a:spcPts val="700"/>
              </a:spcAft>
              <a:defRPr sz="1220">
                <a:solidFill>
                  <a:srgbClr val="0F172A"/>
                </a:solidFill>
                <a:latin typeface="Aptos"/>
              </a:defRPr>
            </a:pPr>
            <a:r>
              <a:t>• Store files in MinIO</a:t>
            </a:r>
          </a:p>
          <a:p>
            <a:pPr>
              <a:spcAft>
                <a:spcPts val="700"/>
              </a:spcAft>
              <a:defRPr sz="1220">
                <a:solidFill>
                  <a:srgbClr val="0F172A"/>
                </a:solidFill>
                <a:latin typeface="Aptos"/>
              </a:defRPr>
            </a:pPr>
            <a:r>
              <a:t>• Cache records locally</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Non-Functional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Quality attributes expected from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490472"/>
            <a:ext cx="4251959" cy="274320"/>
          </a:xfrm>
          <a:prstGeom prst="rect">
            <a:avLst/>
          </a:prstGeom>
          <a:noFill/>
        </p:spPr>
        <p:txBody>
          <a:bodyPr wrap="square">
            <a:spAutoFit/>
          </a:bodyPr>
          <a:lstStyle/>
          <a:p>
            <a:pPr algn="l">
              <a:defRPr sz="1350" b="1">
                <a:solidFill>
                  <a:srgbClr val="0F172A"/>
                </a:solidFill>
                <a:latin typeface="Aptos"/>
              </a:defRPr>
            </a:pPr>
            <a:r>
              <a:t>Security</a:t>
            </a:r>
          </a:p>
        </p:txBody>
      </p:sp>
      <p:sp>
        <p:nvSpPr>
          <p:cNvPr id="10" name="TextBox 9"/>
          <p:cNvSpPr txBox="1"/>
          <p:nvPr/>
        </p:nvSpPr>
        <p:spPr>
          <a:xfrm>
            <a:off x="1444752" y="1837943"/>
            <a:ext cx="4251959" cy="502919"/>
          </a:xfrm>
          <a:prstGeom prst="rect">
            <a:avLst/>
          </a:prstGeom>
          <a:noFill/>
        </p:spPr>
        <p:txBody>
          <a:bodyPr wrap="square">
            <a:spAutoFit/>
          </a:bodyPr>
          <a:lstStyle/>
          <a:p>
            <a:pPr algn="l">
              <a:defRPr sz="1080" b="0">
                <a:solidFill>
                  <a:srgbClr val="64748B"/>
                </a:solidFill>
                <a:latin typeface="Aptos"/>
              </a:defRPr>
            </a:pPr>
            <a:r>
              <a:t>JWT-protected APIs, OTP login, role-based access, and controlled file access through object storage.</a:t>
            </a:r>
          </a:p>
        </p:txBody>
      </p:sp>
      <p:sp>
        <p:nvSpPr>
          <p:cNvPr id="11" name="Rounded Rectangle 10"/>
          <p:cNvSpPr/>
          <p:nvPr/>
        </p:nvSpPr>
        <p:spPr>
          <a:xfrm>
            <a:off x="6309359"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251959" cy="274320"/>
          </a:xfrm>
          <a:prstGeom prst="rect">
            <a:avLst/>
          </a:prstGeom>
          <a:noFill/>
        </p:spPr>
        <p:txBody>
          <a:bodyPr wrap="square">
            <a:spAutoFit/>
          </a:bodyPr>
          <a:lstStyle/>
          <a:p>
            <a:pPr algn="l">
              <a:defRPr sz="1350" b="1">
                <a:solidFill>
                  <a:srgbClr val="0F172A"/>
                </a:solidFill>
                <a:latin typeface="Aptos"/>
              </a:defRPr>
            </a:pPr>
            <a:r>
              <a:t>Reliability</a:t>
            </a:r>
          </a:p>
        </p:txBody>
      </p:sp>
      <p:sp>
        <p:nvSpPr>
          <p:cNvPr id="15" name="TextBox 14"/>
          <p:cNvSpPr txBox="1"/>
          <p:nvPr/>
        </p:nvSpPr>
        <p:spPr>
          <a:xfrm>
            <a:off x="7022592" y="1837943"/>
            <a:ext cx="4251959" cy="502919"/>
          </a:xfrm>
          <a:prstGeom prst="rect">
            <a:avLst/>
          </a:prstGeom>
          <a:noFill/>
        </p:spPr>
        <p:txBody>
          <a:bodyPr wrap="square">
            <a:spAutoFit/>
          </a:bodyPr>
          <a:lstStyle/>
          <a:p>
            <a:pPr algn="l">
              <a:defRPr sz="1080" b="0">
                <a:solidFill>
                  <a:srgbClr val="64748B"/>
                </a:solidFill>
                <a:latin typeface="Aptos"/>
              </a:defRPr>
            </a:pPr>
            <a:r>
              <a:t>Appointment slot status is updated transactionally to avoid double booking and inconsistent data.</a:t>
            </a:r>
          </a:p>
        </p:txBody>
      </p:sp>
      <p:sp>
        <p:nvSpPr>
          <p:cNvPr id="16" name="Rounded Rectangle 15"/>
          <p:cNvSpPr/>
          <p:nvPr/>
        </p:nvSpPr>
        <p:spPr>
          <a:xfrm>
            <a:off x="731520"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2971800"/>
            <a:ext cx="4251959" cy="274320"/>
          </a:xfrm>
          <a:prstGeom prst="rect">
            <a:avLst/>
          </a:prstGeom>
          <a:noFill/>
        </p:spPr>
        <p:txBody>
          <a:bodyPr wrap="square">
            <a:spAutoFit/>
          </a:bodyPr>
          <a:lstStyle/>
          <a:p>
            <a:pPr algn="l">
              <a:defRPr sz="1350" b="1">
                <a:solidFill>
                  <a:srgbClr val="0F172A"/>
                </a:solidFill>
                <a:latin typeface="Aptos"/>
              </a:defRPr>
            </a:pPr>
            <a:r>
              <a:t>Performance</a:t>
            </a:r>
          </a:p>
        </p:txBody>
      </p:sp>
      <p:sp>
        <p:nvSpPr>
          <p:cNvPr id="20" name="TextBox 19"/>
          <p:cNvSpPr txBox="1"/>
          <p:nvPr/>
        </p:nvSpPr>
        <p:spPr>
          <a:xfrm>
            <a:off x="1444752" y="3319272"/>
            <a:ext cx="4251959" cy="502919"/>
          </a:xfrm>
          <a:prstGeom prst="rect">
            <a:avLst/>
          </a:prstGeom>
          <a:noFill/>
        </p:spPr>
        <p:txBody>
          <a:bodyPr wrap="square">
            <a:spAutoFit/>
          </a:bodyPr>
          <a:lstStyle/>
          <a:p>
            <a:pPr algn="l">
              <a:defRPr sz="1080" b="0">
                <a:solidFill>
                  <a:srgbClr val="64748B"/>
                </a:solidFill>
                <a:latin typeface="Aptos"/>
              </a:defRPr>
            </a:pPr>
            <a:r>
              <a:t>REST APIs, indexed tables, Redis pub-sub, and local caching reduce repeated loading and improve response time.</a:t>
            </a:r>
          </a:p>
        </p:txBody>
      </p:sp>
      <p:sp>
        <p:nvSpPr>
          <p:cNvPr id="21" name="Rounded Rectangle 20"/>
          <p:cNvSpPr/>
          <p:nvPr/>
        </p:nvSpPr>
        <p:spPr>
          <a:xfrm>
            <a:off x="6309359"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251959" cy="274320"/>
          </a:xfrm>
          <a:prstGeom prst="rect">
            <a:avLst/>
          </a:prstGeom>
          <a:noFill/>
        </p:spPr>
        <p:txBody>
          <a:bodyPr wrap="square">
            <a:spAutoFit/>
          </a:bodyPr>
          <a:lstStyle/>
          <a:p>
            <a:pPr algn="l">
              <a:defRPr sz="1350" b="1">
                <a:solidFill>
                  <a:srgbClr val="0F172A"/>
                </a:solidFill>
                <a:latin typeface="Aptos"/>
              </a:defRPr>
            </a:pPr>
            <a:r>
              <a:t>Usability</a:t>
            </a:r>
          </a:p>
        </p:txBody>
      </p:sp>
      <p:sp>
        <p:nvSpPr>
          <p:cNvPr id="25" name="TextBox 24"/>
          <p:cNvSpPr txBox="1"/>
          <p:nvPr/>
        </p:nvSpPr>
        <p:spPr>
          <a:xfrm>
            <a:off x="7022592" y="3319272"/>
            <a:ext cx="4251959" cy="502919"/>
          </a:xfrm>
          <a:prstGeom prst="rect">
            <a:avLst/>
          </a:prstGeom>
          <a:noFill/>
        </p:spPr>
        <p:txBody>
          <a:bodyPr wrap="square">
            <a:spAutoFit/>
          </a:bodyPr>
          <a:lstStyle/>
          <a:p>
            <a:pPr algn="l">
              <a:defRPr sz="1080" b="0">
                <a:solidFill>
                  <a:srgbClr val="64748B"/>
                </a:solidFill>
                <a:latin typeface="Aptos"/>
              </a:defRPr>
            </a:pPr>
            <a:r>
              <a:t>Clean doctor/patient dashboards, search filters, bottom navigation, and direct actions improve learnability.</a:t>
            </a:r>
          </a:p>
        </p:txBody>
      </p:sp>
      <p:sp>
        <p:nvSpPr>
          <p:cNvPr id="26" name="Rounded Rectangle 25"/>
          <p:cNvSpPr/>
          <p:nvPr/>
        </p:nvSpPr>
        <p:spPr>
          <a:xfrm>
            <a:off x="731520"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29" name="TextBox 28"/>
          <p:cNvSpPr txBox="1"/>
          <p:nvPr/>
        </p:nvSpPr>
        <p:spPr>
          <a:xfrm>
            <a:off x="1444752" y="4453128"/>
            <a:ext cx="4251959" cy="274320"/>
          </a:xfrm>
          <a:prstGeom prst="rect">
            <a:avLst/>
          </a:prstGeom>
          <a:noFill/>
        </p:spPr>
        <p:txBody>
          <a:bodyPr wrap="square">
            <a:spAutoFit/>
          </a:bodyPr>
          <a:lstStyle/>
          <a:p>
            <a:pPr algn="l">
              <a:defRPr sz="1350" b="1">
                <a:solidFill>
                  <a:srgbClr val="0F172A"/>
                </a:solidFill>
                <a:latin typeface="Aptos"/>
              </a:defRPr>
            </a:pPr>
            <a:r>
              <a:t>Maintainability</a:t>
            </a:r>
          </a:p>
        </p:txBody>
      </p:sp>
      <p:sp>
        <p:nvSpPr>
          <p:cNvPr id="30" name="TextBox 29"/>
          <p:cNvSpPr txBox="1"/>
          <p:nvPr/>
        </p:nvSpPr>
        <p:spPr>
          <a:xfrm>
            <a:off x="1444752" y="4800600"/>
            <a:ext cx="4251959" cy="502919"/>
          </a:xfrm>
          <a:prstGeom prst="rect">
            <a:avLst/>
          </a:prstGeom>
          <a:noFill/>
        </p:spPr>
        <p:txBody>
          <a:bodyPr wrap="square">
            <a:spAutoFit/>
          </a:bodyPr>
          <a:lstStyle/>
          <a:p>
            <a:pPr algn="l">
              <a:defRPr sz="1080" b="0">
                <a:solidFill>
                  <a:srgbClr val="64748B"/>
                </a:solidFill>
                <a:latin typeface="Aptos"/>
              </a:defRPr>
            </a:pPr>
            <a:r>
              <a:t>Separate routes, controllers, repositories, view models, and composables keep modules easier to modify.</a:t>
            </a:r>
          </a:p>
        </p:txBody>
      </p:sp>
      <p:sp>
        <p:nvSpPr>
          <p:cNvPr id="31" name="Rounded Rectangle 30"/>
          <p:cNvSpPr/>
          <p:nvPr/>
        </p:nvSpPr>
        <p:spPr>
          <a:xfrm>
            <a:off x="6309359"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251959" cy="274320"/>
          </a:xfrm>
          <a:prstGeom prst="rect">
            <a:avLst/>
          </a:prstGeom>
          <a:noFill/>
        </p:spPr>
        <p:txBody>
          <a:bodyPr wrap="square">
            <a:spAutoFit/>
          </a:bodyPr>
          <a:lstStyle/>
          <a:p>
            <a:pPr algn="l">
              <a:defRPr sz="1350" b="1">
                <a:solidFill>
                  <a:srgbClr val="0F172A"/>
                </a:solidFill>
                <a:latin typeface="Aptos"/>
              </a:defRPr>
            </a:pPr>
            <a:r>
              <a:t>Availability</a:t>
            </a:r>
          </a:p>
        </p:txBody>
      </p:sp>
      <p:sp>
        <p:nvSpPr>
          <p:cNvPr id="35" name="TextBox 34"/>
          <p:cNvSpPr txBox="1"/>
          <p:nvPr/>
        </p:nvSpPr>
        <p:spPr>
          <a:xfrm>
            <a:off x="7022592" y="4800600"/>
            <a:ext cx="4251959" cy="502919"/>
          </a:xfrm>
          <a:prstGeom prst="rect">
            <a:avLst/>
          </a:prstGeom>
          <a:noFill/>
        </p:spPr>
        <p:txBody>
          <a:bodyPr wrap="square">
            <a:spAutoFit/>
          </a:bodyPr>
          <a:lstStyle/>
          <a:p>
            <a:pPr algn="l">
              <a:defRPr sz="1080" b="0">
                <a:solidFill>
                  <a:srgbClr val="64748B"/>
                </a:solidFill>
                <a:latin typeface="Aptos"/>
              </a:defRPr>
            </a:pPr>
            <a:r>
              <a:t>PM2 process management, deployed backend, Dockerized services, and cached records support practical usage.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Major Functional Modules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High-level breakdown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Authentication &amp; Profile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OTP login, role selection, patient/doctor profile forms, profile photo support</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Speciality categories, search results, doctor detail screen, ratings, location preview</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Appointment Engine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Slot picker, booking validation, appointment list/detail, status and consultation type</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Doctor Scheduling</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Weekly templates, custom slots, fees, duration, online/offline mode</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Communication</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Chat rooms, text/file/image sharing, read status, notifications, video calls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Records &amp; AI</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Medical reports, local cache, PDF/image access, Gemini-powered AI assistant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System Architecture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Client-server architecture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8.png"/>
          <p:cNvPicPr>
            <a:picLocks noChangeAspect="1"/>
          </p:cNvPicPr>
          <p:nvPr/>
        </p:nvPicPr>
        <p:blipFill>
          <a:blip r:embed="rId2"/>
          <a:stretch>
            <a:fillRect/>
          </a:stretch>
        </p:blipFill>
        <p:spPr>
          <a:xfrm>
            <a:off x="2024742" y="1440180"/>
            <a:ext cx="8386354"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Layered Architecture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Abstract machine view from the report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25880"/>
            <a:ext cx="653796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91540" y="1979294"/>
            <a:ext cx="6309360" cy="3768090"/>
          </a:xfrm>
          <a:prstGeom prst="rect">
            <a:avLst/>
          </a:prstGeom>
          <a:ln w="6350">
            <a:solidFill>
              <a:srgbClr val="CBD5E1"/>
            </a:solidFill>
          </a:ln>
        </p:spPr>
      </p:pic>
      <p:sp>
        <p:nvSpPr>
          <p:cNvPr id="8" name="TextBox 7"/>
          <p:cNvSpPr txBox="1"/>
          <p:nvPr/>
        </p:nvSpPr>
        <p:spPr>
          <a:xfrm>
            <a:off x="7543800" y="1508760"/>
            <a:ext cx="4023360" cy="4480560"/>
          </a:xfrm>
          <a:prstGeom prst="rect">
            <a:avLst/>
          </a:prstGeom>
          <a:noFill/>
        </p:spPr>
        <p:txBody>
          <a:bodyPr wrap="square">
            <a:spAutoFit/>
          </a:bodyPr>
          <a:lstStyle/>
          <a:p>
            <a:pPr>
              <a:spcAft>
                <a:spcPts val="700"/>
              </a:spcAft>
              <a:defRPr sz="1350">
                <a:solidFill>
                  <a:srgbClr val="0F172A"/>
                </a:solidFill>
                <a:latin typeface="Aptos"/>
              </a:defRPr>
            </a:pPr>
            <a:r>
              <a:t>• Presentation layer: Jetpack Compose screens and reusable UI components.</a:t>
            </a:r>
          </a:p>
          <a:p>
            <a:pPr>
              <a:spcAft>
                <a:spcPts val="700"/>
              </a:spcAft>
              <a:defRPr sz="1350">
                <a:solidFill>
                  <a:srgbClr val="0F172A"/>
                </a:solidFill>
                <a:latin typeface="Aptos"/>
              </a:defRPr>
            </a:pPr>
            <a:r>
              <a:t>• ViewModel layer: screen state, validation, loading, and navigation events.</a:t>
            </a:r>
          </a:p>
          <a:p>
            <a:pPr>
              <a:spcAft>
                <a:spcPts val="700"/>
              </a:spcAft>
              <a:defRPr sz="1350">
                <a:solidFill>
                  <a:srgbClr val="0F172A"/>
                </a:solidFill>
                <a:latin typeface="Aptos"/>
              </a:defRPr>
            </a:pPr>
            <a:r>
              <a:t>• Repository layer: coordinates API, cache, and local data access.</a:t>
            </a:r>
          </a:p>
          <a:p>
            <a:pPr>
              <a:spcAft>
                <a:spcPts val="700"/>
              </a:spcAft>
              <a:defRPr sz="1350">
                <a:solidFill>
                  <a:srgbClr val="0F172A"/>
                </a:solidFill>
                <a:latin typeface="Aptos"/>
              </a:defRPr>
            </a:pPr>
            <a:r>
              <a:t>• Backend service layer: controllers, routes, middleware, WebSocket handlers.</a:t>
            </a:r>
          </a:p>
          <a:p>
            <a:pPr>
              <a:spcAft>
                <a:spcPts val="700"/>
              </a:spcAft>
              <a:defRPr sz="1350">
                <a:solidFill>
                  <a:srgbClr val="0F172A"/>
                </a:solidFill>
                <a:latin typeface="Aptos"/>
              </a:defRPr>
            </a:pPr>
            <a:r>
              <a:t>• Data layer: PostgreSQL, MinIO, Redis, and Firebase/AI integrations.</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Repository and Data Access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app data is organized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58368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3.png"/>
          <p:cNvPicPr>
            <a:picLocks noChangeAspect="1"/>
          </p:cNvPicPr>
          <p:nvPr/>
        </p:nvPicPr>
        <p:blipFill>
          <a:blip r:embed="rId2"/>
          <a:stretch>
            <a:fillRect/>
          </a:stretch>
        </p:blipFill>
        <p:spPr>
          <a:xfrm>
            <a:off x="845820" y="2052320"/>
            <a:ext cx="6355080" cy="3530600"/>
          </a:xfrm>
          <a:prstGeom prst="rect">
            <a:avLst/>
          </a:prstGeom>
          <a:ln w="6350">
            <a:solidFill>
              <a:srgbClr val="CBD5E1"/>
            </a:solidFill>
          </a:ln>
        </p:spPr>
      </p:pic>
      <p:sp>
        <p:nvSpPr>
          <p:cNvPr id="8" name="TextBox 7"/>
          <p:cNvSpPr txBox="1"/>
          <p:nvPr/>
        </p:nvSpPr>
        <p:spPr>
          <a:xfrm>
            <a:off x="7543800" y="1508760"/>
            <a:ext cx="4023360" cy="1143000"/>
          </a:xfrm>
          <a:prstGeom prst="rect">
            <a:avLst/>
          </a:prstGeom>
          <a:noFill/>
        </p:spPr>
        <p:txBody>
          <a:bodyPr wrap="square">
            <a:spAutoFit/>
          </a:bodyPr>
          <a:lstStyle/>
          <a:p>
            <a:pPr algn="l">
              <a:defRPr sz="1400" b="0">
                <a:solidFill>
                  <a:srgbClr val="0F172A"/>
                </a:solidFill>
                <a:latin typeface="Aptos"/>
              </a:defRPr>
            </a:pPr>
            <a:r>
              <a:t>The repository pattern keeps UI code independent from network and local data sources. ViewModels request data from repositories, repositories decide whether to use cached local data or backend APIs, and the UI observes clean state updates.</a:t>
            </a:r>
          </a:p>
        </p:txBody>
      </p:sp>
      <p:sp>
        <p:nvSpPr>
          <p:cNvPr id="9" name="TextBox 8"/>
          <p:cNvSpPr txBox="1"/>
          <p:nvPr/>
        </p:nvSpPr>
        <p:spPr>
          <a:xfrm>
            <a:off x="7543800" y="2880360"/>
            <a:ext cx="3931920" cy="2377440"/>
          </a:xfrm>
          <a:prstGeom prst="rect">
            <a:avLst/>
          </a:prstGeom>
          <a:noFill/>
        </p:spPr>
        <p:txBody>
          <a:bodyPr wrap="square">
            <a:spAutoFit/>
          </a:bodyPr>
          <a:lstStyle/>
          <a:p>
            <a:pPr>
              <a:spcAft>
                <a:spcPts val="700"/>
              </a:spcAft>
              <a:defRPr sz="1350">
                <a:solidFill>
                  <a:srgbClr val="0F172A"/>
                </a:solidFill>
                <a:latin typeface="Aptos"/>
              </a:defRPr>
            </a:pPr>
            <a:r>
              <a:t>• Cleaner separation of concerns</a:t>
            </a:r>
          </a:p>
          <a:p>
            <a:pPr>
              <a:spcAft>
                <a:spcPts val="700"/>
              </a:spcAft>
              <a:defRPr sz="1350">
                <a:solidFill>
                  <a:srgbClr val="0F172A"/>
                </a:solidFill>
                <a:latin typeface="Aptos"/>
              </a:defRPr>
            </a:pPr>
            <a:r>
              <a:t>• Better testability of app logic</a:t>
            </a:r>
          </a:p>
          <a:p>
            <a:pPr>
              <a:spcAft>
                <a:spcPts val="700"/>
              </a:spcAft>
              <a:defRPr sz="1350">
                <a:solidFill>
                  <a:srgbClr val="0F172A"/>
                </a:solidFill>
                <a:latin typeface="Aptos"/>
              </a:defRPr>
            </a:pPr>
            <a:r>
              <a:t>• Offline-friendly medical record access</a:t>
            </a:r>
          </a:p>
          <a:p>
            <a:pPr>
              <a:spcAft>
                <a:spcPts val="700"/>
              </a:spcAft>
              <a:defRPr sz="1350">
                <a:solidFill>
                  <a:srgbClr val="0F172A"/>
                </a:solidFill>
                <a:latin typeface="Aptos"/>
              </a:defRPr>
            </a:pPr>
            <a:r>
              <a:t>• Reusable data operations across screens</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Use Case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Major actors and system interactions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4.png"/>
          <p:cNvPicPr>
            <a:picLocks noChangeAspect="1"/>
          </p:cNvPicPr>
          <p:nvPr/>
        </p:nvPicPr>
        <p:blipFill>
          <a:blip r:embed="rId2"/>
          <a:stretch>
            <a:fillRect/>
          </a:stretch>
        </p:blipFill>
        <p:spPr>
          <a:xfrm>
            <a:off x="3838008" y="1440180"/>
            <a:ext cx="4759822"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 Flow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Flow of data between actors, app, backend, and storage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234440"/>
            <a:ext cx="11064240" cy="53492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edisync_data_flow_diagram_report.png"/>
          <p:cNvPicPr>
            <a:picLocks noChangeAspect="1"/>
          </p:cNvPicPr>
          <p:nvPr/>
        </p:nvPicPr>
        <p:blipFill>
          <a:blip r:embed="rId2"/>
          <a:stretch>
            <a:fillRect/>
          </a:stretch>
        </p:blipFill>
        <p:spPr>
          <a:xfrm>
            <a:off x="2471110" y="1348740"/>
            <a:ext cx="7493619" cy="51206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State / Activity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Main booking and consultation states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76656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9.png"/>
          <p:cNvPicPr>
            <a:picLocks noChangeAspect="1"/>
          </p:cNvPicPr>
          <p:nvPr/>
        </p:nvPicPr>
        <p:blipFill>
          <a:blip r:embed="rId2"/>
          <a:stretch>
            <a:fillRect/>
          </a:stretch>
        </p:blipFill>
        <p:spPr>
          <a:xfrm>
            <a:off x="2124385" y="1440180"/>
            <a:ext cx="3980829" cy="4754880"/>
          </a:xfrm>
          <a:prstGeom prst="rect">
            <a:avLst/>
          </a:prstGeom>
          <a:ln w="6350">
            <a:solidFill>
              <a:srgbClr val="CBD5E1"/>
            </a:solidFill>
          </a:ln>
        </p:spPr>
      </p:pic>
      <p:sp>
        <p:nvSpPr>
          <p:cNvPr id="8" name="TextBox 7"/>
          <p:cNvSpPr txBox="1"/>
          <p:nvPr/>
        </p:nvSpPr>
        <p:spPr>
          <a:xfrm>
            <a:off x="7726679" y="1508760"/>
            <a:ext cx="3794760" cy="4206240"/>
          </a:xfrm>
          <a:prstGeom prst="rect">
            <a:avLst/>
          </a:prstGeom>
          <a:noFill/>
        </p:spPr>
        <p:txBody>
          <a:bodyPr wrap="square">
            <a:spAutoFit/>
          </a:bodyPr>
          <a:lstStyle/>
          <a:p>
            <a:pPr>
              <a:spcAft>
                <a:spcPts val="700"/>
              </a:spcAft>
              <a:defRPr sz="1340">
                <a:solidFill>
                  <a:srgbClr val="0F172A"/>
                </a:solidFill>
                <a:latin typeface="Aptos"/>
              </a:defRPr>
            </a:pPr>
            <a:r>
              <a:t>• User authenticates and enters role-specific workspace.</a:t>
            </a:r>
          </a:p>
          <a:p>
            <a:pPr>
              <a:spcAft>
                <a:spcPts val="700"/>
              </a:spcAft>
              <a:defRPr sz="1340">
                <a:solidFill>
                  <a:srgbClr val="0F172A"/>
                </a:solidFill>
                <a:latin typeface="Aptos"/>
              </a:defRPr>
            </a:pPr>
            <a:r>
              <a:t>• Patient searches doctor and selects available slot.</a:t>
            </a:r>
          </a:p>
          <a:p>
            <a:pPr>
              <a:spcAft>
                <a:spcPts val="700"/>
              </a:spcAft>
              <a:defRPr sz="1340">
                <a:solidFill>
                  <a:srgbClr val="0F172A"/>
                </a:solidFill>
                <a:latin typeface="Aptos"/>
              </a:defRPr>
            </a:pPr>
            <a:r>
              <a:t>• Slot moves from available to booked after transaction succeeds.</a:t>
            </a:r>
          </a:p>
          <a:p>
            <a:pPr>
              <a:spcAft>
                <a:spcPts val="700"/>
              </a:spcAft>
              <a:defRPr sz="1340">
                <a:solidFill>
                  <a:srgbClr val="0F172A"/>
                </a:solidFill>
                <a:latin typeface="Aptos"/>
              </a:defRPr>
            </a:pPr>
            <a:r>
              <a:t>• Appointment details, chat, records, and video call become accessible.</a:t>
            </a:r>
          </a:p>
          <a:p>
            <a:pPr>
              <a:spcAft>
                <a:spcPts val="700"/>
              </a:spcAft>
              <a:defRPr sz="1340">
                <a:solidFill>
                  <a:srgbClr val="0F172A"/>
                </a:solidFill>
                <a:latin typeface="Aptos"/>
              </a:defRPr>
            </a:pPr>
            <a:r>
              <a:t>• Consultation can end with completed status, rating, and follow-up record sharing.</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Sequence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Typical interaction flow</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7.png"/>
          <p:cNvPicPr>
            <a:picLocks noChangeAspect="1"/>
          </p:cNvPicPr>
          <p:nvPr/>
        </p:nvPicPr>
        <p:blipFill>
          <a:blip r:embed="rId2"/>
          <a:stretch>
            <a:fillRect/>
          </a:stretch>
        </p:blipFill>
        <p:spPr>
          <a:xfrm>
            <a:off x="1596657" y="1440180"/>
            <a:ext cx="9242525"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ER / Structural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Database structure used in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234440"/>
            <a:ext cx="7406640" cy="5257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5.png"/>
          <p:cNvPicPr>
            <a:picLocks noChangeAspect="1"/>
          </p:cNvPicPr>
          <p:nvPr/>
        </p:nvPicPr>
        <p:blipFill>
          <a:blip r:embed="rId2"/>
          <a:stretch>
            <a:fillRect/>
          </a:stretch>
        </p:blipFill>
        <p:spPr>
          <a:xfrm>
            <a:off x="2784633" y="1348740"/>
            <a:ext cx="3300412" cy="5029200"/>
          </a:xfrm>
          <a:prstGeom prst="rect">
            <a:avLst/>
          </a:prstGeom>
          <a:ln w="6350">
            <a:solidFill>
              <a:srgbClr val="CBD5E1"/>
            </a:solidFill>
          </a:ln>
        </p:spPr>
      </p:pic>
      <p:sp>
        <p:nvSpPr>
          <p:cNvPr id="8" name="TextBox 7"/>
          <p:cNvSpPr txBox="1"/>
          <p:nvPr/>
        </p:nvSpPr>
        <p:spPr>
          <a:xfrm>
            <a:off x="8458200" y="1508760"/>
            <a:ext cx="3246120" cy="4206240"/>
          </a:xfrm>
          <a:prstGeom prst="rect">
            <a:avLst/>
          </a:prstGeom>
          <a:noFill/>
        </p:spPr>
        <p:txBody>
          <a:bodyPr wrap="square">
            <a:spAutoFit/>
          </a:bodyPr>
          <a:lstStyle/>
          <a:p>
            <a:pPr>
              <a:spcAft>
                <a:spcPts val="700"/>
              </a:spcAft>
              <a:defRPr sz="1250">
                <a:solidFill>
                  <a:srgbClr val="0F172A"/>
                </a:solidFill>
                <a:latin typeface="Aptos"/>
              </a:defRPr>
            </a:pPr>
            <a:r>
              <a:t>• users is the central entity for patient and doctor roles.</a:t>
            </a:r>
          </a:p>
          <a:p>
            <a:pPr>
              <a:spcAft>
                <a:spcPts val="700"/>
              </a:spcAft>
              <a:defRPr sz="1250">
                <a:solidFill>
                  <a:srgbClr val="0F172A"/>
                </a:solidFill>
                <a:latin typeface="Aptos"/>
              </a:defRPr>
            </a:pPr>
            <a:r>
              <a:t>• Profile tables extend user data separately for patient and doctor details.</a:t>
            </a:r>
          </a:p>
          <a:p>
            <a:pPr>
              <a:spcAft>
                <a:spcPts val="700"/>
              </a:spcAft>
              <a:defRPr sz="1250">
                <a:solidFill>
                  <a:srgbClr val="0F172A"/>
                </a:solidFill>
                <a:latin typeface="Aptos"/>
              </a:defRPr>
            </a:pPr>
            <a:r>
              <a:t>• appointment_slots and appointments manage booking lifecycle.</a:t>
            </a:r>
          </a:p>
          <a:p>
            <a:pPr>
              <a:spcAft>
                <a:spcPts val="700"/>
              </a:spcAft>
              <a:defRPr sz="1250">
                <a:solidFill>
                  <a:srgbClr val="0F172A"/>
                </a:solidFill>
                <a:latin typeface="Aptos"/>
              </a:defRPr>
            </a:pPr>
            <a:r>
              <a:t>• chat_rooms and chat_messages support doctor-patient communication.</a:t>
            </a:r>
          </a:p>
          <a:p>
            <a:pPr>
              <a:spcAft>
                <a:spcPts val="700"/>
              </a:spcAft>
              <a:defRPr sz="1250">
                <a:solidFill>
                  <a:srgbClr val="0F172A"/>
                </a:solidFill>
                <a:latin typeface="Aptos"/>
              </a:defRPr>
            </a:pPr>
            <a:r>
              <a:t>• medical_reports and doctor_ratings store reports and feedback.</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Detailed Design: API and Services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Backend responsibilities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18488"/>
            <a:ext cx="3200400" cy="274320"/>
          </a:xfrm>
          <a:prstGeom prst="rect">
            <a:avLst/>
          </a:prstGeom>
          <a:noFill/>
        </p:spPr>
        <p:txBody>
          <a:bodyPr wrap="square">
            <a:spAutoFit/>
          </a:bodyPr>
          <a:lstStyle/>
          <a:p>
            <a:pPr algn="l">
              <a:defRPr sz="1500" b="1">
                <a:solidFill>
                  <a:srgbClr val="0EA5E9"/>
                </a:solidFill>
                <a:latin typeface="Aptos"/>
              </a:defRPr>
            </a:pPr>
            <a:r>
              <a:t>Authentication</a:t>
            </a:r>
          </a:p>
        </p:txBody>
      </p:sp>
      <p:sp>
        <p:nvSpPr>
          <p:cNvPr id="8" name="TextBox 7"/>
          <p:cNvSpPr txBox="1"/>
          <p:nvPr/>
        </p:nvSpPr>
        <p:spPr>
          <a:xfrm>
            <a:off x="100584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POST /auth/send-otp</a:t>
            </a:r>
          </a:p>
          <a:p>
            <a:pPr>
              <a:spcAft>
                <a:spcPts val="700"/>
              </a:spcAft>
              <a:defRPr sz="1120">
                <a:solidFill>
                  <a:srgbClr val="0F172A"/>
                </a:solidFill>
                <a:latin typeface="Aptos"/>
              </a:defRPr>
            </a:pPr>
            <a:r>
              <a:t>• POST /auth/verify-otp</a:t>
            </a:r>
          </a:p>
          <a:p>
            <a:pPr>
              <a:spcAft>
                <a:spcPts val="700"/>
              </a:spcAft>
              <a:defRPr sz="1120">
                <a:solidFill>
                  <a:srgbClr val="0F172A"/>
                </a:solidFill>
                <a:latin typeface="Aptos"/>
              </a:defRPr>
            </a:pPr>
            <a:r>
              <a:t>• JWT middleware for protected routes</a:t>
            </a:r>
          </a:p>
        </p:txBody>
      </p:sp>
      <p:sp>
        <p:nvSpPr>
          <p:cNvPr id="9" name="Rounded Rectangle 8"/>
          <p:cNvSpPr/>
          <p:nvPr/>
        </p:nvSpPr>
        <p:spPr>
          <a:xfrm>
            <a:off x="630936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18488"/>
            <a:ext cx="3200400" cy="274320"/>
          </a:xfrm>
          <a:prstGeom prst="rect">
            <a:avLst/>
          </a:prstGeom>
          <a:noFill/>
        </p:spPr>
        <p:txBody>
          <a:bodyPr wrap="square">
            <a:spAutoFit/>
          </a:bodyPr>
          <a:lstStyle/>
          <a:p>
            <a:pPr algn="l">
              <a:defRPr sz="1500" b="1">
                <a:solidFill>
                  <a:srgbClr val="10B981"/>
                </a:solidFill>
                <a:latin typeface="Aptos"/>
              </a:defRPr>
            </a:pPr>
            <a:r>
              <a:t>Doctor &amp; Patient</a:t>
            </a:r>
          </a:p>
        </p:txBody>
      </p:sp>
      <p:sp>
        <p:nvSpPr>
          <p:cNvPr id="11" name="TextBox 10"/>
          <p:cNvSpPr txBox="1"/>
          <p:nvPr/>
        </p:nvSpPr>
        <p:spPr>
          <a:xfrm>
            <a:off x="662940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Profile fetch/update APIs</a:t>
            </a:r>
          </a:p>
          <a:p>
            <a:pPr>
              <a:spcAft>
                <a:spcPts val="700"/>
              </a:spcAft>
              <a:defRPr sz="1120">
                <a:solidFill>
                  <a:srgbClr val="0F172A"/>
                </a:solidFill>
                <a:latin typeface="Aptos"/>
              </a:defRPr>
            </a:pPr>
            <a:r>
              <a:t>• Doctor search and details</a:t>
            </a:r>
          </a:p>
          <a:p>
            <a:pPr>
              <a:spcAft>
                <a:spcPts val="700"/>
              </a:spcAft>
              <a:defRPr sz="1120">
                <a:solidFill>
                  <a:srgbClr val="0F172A"/>
                </a:solidFill>
                <a:latin typeface="Aptos"/>
              </a:defRPr>
            </a:pPr>
            <a:r>
              <a:t>• Clinic location update</a:t>
            </a:r>
          </a:p>
        </p:txBody>
      </p:sp>
      <p:sp>
        <p:nvSpPr>
          <p:cNvPr id="12" name="Rounded Rectangle 11"/>
          <p:cNvSpPr/>
          <p:nvPr/>
        </p:nvSpPr>
        <p:spPr>
          <a:xfrm>
            <a:off x="68580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75887"/>
            <a:ext cx="3200400" cy="274320"/>
          </a:xfrm>
          <a:prstGeom prst="rect">
            <a:avLst/>
          </a:prstGeom>
          <a:noFill/>
        </p:spPr>
        <p:txBody>
          <a:bodyPr wrap="square">
            <a:spAutoFit/>
          </a:bodyPr>
          <a:lstStyle/>
          <a:p>
            <a:pPr algn="l">
              <a:defRPr sz="1500" b="1">
                <a:solidFill>
                  <a:srgbClr val="F97316"/>
                </a:solidFill>
                <a:latin typeface="Aptos"/>
              </a:defRPr>
            </a:pPr>
            <a:r>
              <a:t>Appointments</a:t>
            </a:r>
          </a:p>
        </p:txBody>
      </p:sp>
      <p:sp>
        <p:nvSpPr>
          <p:cNvPr id="14" name="TextBox 13"/>
          <p:cNvSpPr txBox="1"/>
          <p:nvPr/>
        </p:nvSpPr>
        <p:spPr>
          <a:xfrm>
            <a:off x="100584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Get available dates/slots</a:t>
            </a:r>
          </a:p>
          <a:p>
            <a:pPr>
              <a:spcAft>
                <a:spcPts val="700"/>
              </a:spcAft>
              <a:defRPr sz="1120">
                <a:solidFill>
                  <a:srgbClr val="0F172A"/>
                </a:solidFill>
                <a:latin typeface="Aptos"/>
              </a:defRPr>
            </a:pPr>
            <a:r>
              <a:t>• Book appointment</a:t>
            </a:r>
          </a:p>
          <a:p>
            <a:pPr>
              <a:spcAft>
                <a:spcPts val="700"/>
              </a:spcAft>
              <a:defRPr sz="1120">
                <a:solidFill>
                  <a:srgbClr val="0F172A"/>
                </a:solidFill>
                <a:latin typeface="Aptos"/>
              </a:defRPr>
            </a:pPr>
            <a:r>
              <a:t>• Patient/doctor appointment lists</a:t>
            </a:r>
          </a:p>
        </p:txBody>
      </p:sp>
      <p:sp>
        <p:nvSpPr>
          <p:cNvPr id="15" name="Rounded Rectangle 14"/>
          <p:cNvSpPr/>
          <p:nvPr/>
        </p:nvSpPr>
        <p:spPr>
          <a:xfrm>
            <a:off x="630936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675887"/>
            <a:ext cx="3200400" cy="274320"/>
          </a:xfrm>
          <a:prstGeom prst="rect">
            <a:avLst/>
          </a:prstGeom>
          <a:noFill/>
        </p:spPr>
        <p:txBody>
          <a:bodyPr wrap="square">
            <a:spAutoFit/>
          </a:bodyPr>
          <a:lstStyle/>
          <a:p>
            <a:pPr algn="l">
              <a:defRPr sz="1500" b="1">
                <a:solidFill>
                  <a:srgbClr val="7C3AED"/>
                </a:solidFill>
                <a:latin typeface="Aptos"/>
              </a:defRPr>
            </a:pPr>
            <a:r>
              <a:t>Communication</a:t>
            </a:r>
          </a:p>
        </p:txBody>
      </p:sp>
      <p:sp>
        <p:nvSpPr>
          <p:cNvPr id="17" name="TextBox 16"/>
          <p:cNvSpPr txBox="1"/>
          <p:nvPr/>
        </p:nvSpPr>
        <p:spPr>
          <a:xfrm>
            <a:off x="662940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Chat rooms/messages</a:t>
            </a:r>
          </a:p>
          <a:p>
            <a:pPr>
              <a:spcAft>
                <a:spcPts val="700"/>
              </a:spcAft>
              <a:defRPr sz="1120">
                <a:solidFill>
                  <a:srgbClr val="0F172A"/>
                </a:solidFill>
                <a:latin typeface="Aptos"/>
              </a:defRPr>
            </a:pPr>
            <a:r>
              <a:t>• File view URLs</a:t>
            </a:r>
          </a:p>
          <a:p>
            <a:pPr>
              <a:spcAft>
                <a:spcPts val="700"/>
              </a:spcAft>
              <a:defRPr sz="1120">
                <a:solidFill>
                  <a:srgbClr val="0F172A"/>
                </a:solidFill>
                <a:latin typeface="Aptos"/>
              </a:defRPr>
            </a:pPr>
            <a:r>
              <a:t>• Video WebSocket signalling</a:t>
            </a:r>
          </a:p>
          <a:p>
            <a:pPr>
              <a:spcAft>
                <a:spcPts val="700"/>
              </a:spcAft>
              <a:defRPr sz="1120">
                <a:solidFill>
                  <a:srgbClr val="0F172A"/>
                </a:solidFill>
                <a:latin typeface="Aptos"/>
              </a:defRPr>
            </a:pPr>
            <a:r>
              <a:t>• FCM notifications</a:t>
            </a:r>
          </a:p>
        </p:txBody>
      </p:sp>
      <p:sp>
        <p:nvSpPr>
          <p:cNvPr id="18" name="TextBox 1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9" name="TextBox 1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Database and Storage Design</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Structured data, files, and real-time support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286000" cy="320040"/>
          </a:xfrm>
          <a:prstGeom prst="rect">
            <a:avLst/>
          </a:prstGeom>
          <a:noFill/>
        </p:spPr>
        <p:txBody>
          <a:bodyPr wrap="square">
            <a:spAutoFit/>
          </a:bodyPr>
          <a:lstStyle/>
          <a:p>
            <a:pPr algn="l">
              <a:defRPr sz="1700" b="1">
                <a:solidFill>
                  <a:srgbClr val="0EA5E9"/>
                </a:solidFill>
                <a:latin typeface="Aptos"/>
              </a:defRPr>
            </a:pPr>
            <a:r>
              <a:t>PostgreSQL</a:t>
            </a:r>
          </a:p>
        </p:txBody>
      </p:sp>
      <p:sp>
        <p:nvSpPr>
          <p:cNvPr id="8" name="TextBox 7"/>
          <p:cNvSpPr txBox="1"/>
          <p:nvPr/>
        </p:nvSpPr>
        <p:spPr>
          <a:xfrm>
            <a:off x="100584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Users and roles</a:t>
            </a:r>
          </a:p>
          <a:p>
            <a:pPr>
              <a:spcAft>
                <a:spcPts val="700"/>
              </a:spcAft>
              <a:defRPr sz="1250">
                <a:solidFill>
                  <a:srgbClr val="0F172A"/>
                </a:solidFill>
                <a:latin typeface="Aptos"/>
              </a:defRPr>
            </a:pPr>
            <a:r>
              <a:t>• Profiles</a:t>
            </a:r>
          </a:p>
          <a:p>
            <a:pPr>
              <a:spcAft>
                <a:spcPts val="700"/>
              </a:spcAft>
              <a:defRPr sz="1250">
                <a:solidFill>
                  <a:srgbClr val="0F172A"/>
                </a:solidFill>
                <a:latin typeface="Aptos"/>
              </a:defRPr>
            </a:pPr>
            <a:r>
              <a:t>• Slots and appointments</a:t>
            </a:r>
          </a:p>
          <a:p>
            <a:pPr>
              <a:spcAft>
                <a:spcPts val="700"/>
              </a:spcAft>
              <a:defRPr sz="1250">
                <a:solidFill>
                  <a:srgbClr val="0F172A"/>
                </a:solidFill>
                <a:latin typeface="Aptos"/>
              </a:defRPr>
            </a:pPr>
            <a:r>
              <a:t>• Chat metadata</a:t>
            </a:r>
          </a:p>
          <a:p>
            <a:pPr>
              <a:spcAft>
                <a:spcPts val="700"/>
              </a:spcAft>
              <a:defRPr sz="1250">
                <a:solidFill>
                  <a:srgbClr val="0F172A"/>
                </a:solidFill>
                <a:latin typeface="Aptos"/>
              </a:defRPr>
            </a:pPr>
            <a:r>
              <a:t>• Reports and ratings</a:t>
            </a:r>
          </a:p>
        </p:txBody>
      </p:sp>
      <p:sp>
        <p:nvSpPr>
          <p:cNvPr id="9" name="Rounded Rectangle 8"/>
          <p:cNvSpPr/>
          <p:nvPr/>
        </p:nvSpPr>
        <p:spPr>
          <a:xfrm>
            <a:off x="443484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90872" y="1664208"/>
            <a:ext cx="2286000" cy="320040"/>
          </a:xfrm>
          <a:prstGeom prst="rect">
            <a:avLst/>
          </a:prstGeom>
          <a:noFill/>
        </p:spPr>
        <p:txBody>
          <a:bodyPr wrap="square">
            <a:spAutoFit/>
          </a:bodyPr>
          <a:lstStyle/>
          <a:p>
            <a:pPr algn="l">
              <a:defRPr sz="1700" b="1">
                <a:solidFill>
                  <a:srgbClr val="F97316"/>
                </a:solidFill>
                <a:latin typeface="Aptos"/>
              </a:defRPr>
            </a:pPr>
            <a:r>
              <a:t>MinIO</a:t>
            </a:r>
          </a:p>
        </p:txBody>
      </p:sp>
      <p:sp>
        <p:nvSpPr>
          <p:cNvPr id="11" name="TextBox 10"/>
          <p:cNvSpPr txBox="1"/>
          <p:nvPr/>
        </p:nvSpPr>
        <p:spPr>
          <a:xfrm>
            <a:off x="4709159"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Profile photos</a:t>
            </a:r>
          </a:p>
          <a:p>
            <a:pPr>
              <a:spcAft>
                <a:spcPts val="700"/>
              </a:spcAft>
              <a:defRPr sz="1250">
                <a:solidFill>
                  <a:srgbClr val="0F172A"/>
                </a:solidFill>
                <a:latin typeface="Aptos"/>
              </a:defRPr>
            </a:pPr>
            <a:r>
              <a:t>• Medical report files</a:t>
            </a:r>
          </a:p>
          <a:p>
            <a:pPr>
              <a:spcAft>
                <a:spcPts val="700"/>
              </a:spcAft>
              <a:defRPr sz="1250">
                <a:solidFill>
                  <a:srgbClr val="0F172A"/>
                </a:solidFill>
                <a:latin typeface="Aptos"/>
              </a:defRPr>
            </a:pPr>
            <a:r>
              <a:t>• Chat image/PDF files</a:t>
            </a:r>
          </a:p>
          <a:p>
            <a:pPr>
              <a:spcAft>
                <a:spcPts val="700"/>
              </a:spcAft>
              <a:defRPr sz="1250">
                <a:solidFill>
                  <a:srgbClr val="0F172A"/>
                </a:solidFill>
                <a:latin typeface="Aptos"/>
              </a:defRPr>
            </a:pPr>
            <a:r>
              <a:t>• Object keys stored in DB</a:t>
            </a:r>
          </a:p>
          <a:p>
            <a:pPr>
              <a:spcAft>
                <a:spcPts val="700"/>
              </a:spcAft>
              <a:defRPr sz="1250">
                <a:solidFill>
                  <a:srgbClr val="0F172A"/>
                </a:solidFill>
                <a:latin typeface="Aptos"/>
              </a:defRPr>
            </a:pPr>
            <a:r>
              <a:t>• Public/private bucket policies</a:t>
            </a:r>
          </a:p>
        </p:txBody>
      </p:sp>
      <p:sp>
        <p:nvSpPr>
          <p:cNvPr id="12" name="Rounded Rectangle 11"/>
          <p:cNvSpPr/>
          <p:nvPr/>
        </p:nvSpPr>
        <p:spPr>
          <a:xfrm>
            <a:off x="813816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1664208"/>
            <a:ext cx="2286000" cy="320040"/>
          </a:xfrm>
          <a:prstGeom prst="rect">
            <a:avLst/>
          </a:prstGeom>
          <a:noFill/>
        </p:spPr>
        <p:txBody>
          <a:bodyPr wrap="square">
            <a:spAutoFit/>
          </a:bodyPr>
          <a:lstStyle/>
          <a:p>
            <a:pPr algn="l">
              <a:defRPr sz="1700" b="1">
                <a:solidFill>
                  <a:srgbClr val="10B981"/>
                </a:solidFill>
                <a:latin typeface="Aptos"/>
              </a:defRPr>
            </a:pPr>
            <a:r>
              <a:t>Redis &amp; FCM</a:t>
            </a:r>
          </a:p>
        </p:txBody>
      </p:sp>
      <p:sp>
        <p:nvSpPr>
          <p:cNvPr id="14" name="TextBox 13"/>
          <p:cNvSpPr txBox="1"/>
          <p:nvPr/>
        </p:nvSpPr>
        <p:spPr>
          <a:xfrm>
            <a:off x="841248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WebSocket coordination</a:t>
            </a:r>
          </a:p>
          <a:p>
            <a:pPr>
              <a:spcAft>
                <a:spcPts val="700"/>
              </a:spcAft>
              <a:defRPr sz="1250">
                <a:solidFill>
                  <a:srgbClr val="0F172A"/>
                </a:solidFill>
                <a:latin typeface="Aptos"/>
              </a:defRPr>
            </a:pPr>
            <a:r>
              <a:t>• Pub-sub support</a:t>
            </a:r>
          </a:p>
          <a:p>
            <a:pPr>
              <a:spcAft>
                <a:spcPts val="700"/>
              </a:spcAft>
              <a:defRPr sz="1250">
                <a:solidFill>
                  <a:srgbClr val="0F172A"/>
                </a:solidFill>
                <a:latin typeface="Aptos"/>
              </a:defRPr>
            </a:pPr>
            <a:r>
              <a:t>• Offline notifications</a:t>
            </a:r>
          </a:p>
          <a:p>
            <a:pPr>
              <a:spcAft>
                <a:spcPts val="700"/>
              </a:spcAft>
              <a:defRPr sz="1250">
                <a:solidFill>
                  <a:srgbClr val="0F172A"/>
                </a:solidFill>
                <a:latin typeface="Aptos"/>
              </a:defRPr>
            </a:pPr>
            <a:r>
              <a:t>• Device token table</a:t>
            </a:r>
          </a:p>
          <a:p>
            <a:pPr>
              <a:spcAft>
                <a:spcPts val="700"/>
              </a:spcAft>
              <a:defRPr sz="1250">
                <a:solidFill>
                  <a:srgbClr val="0F172A"/>
                </a:solidFill>
                <a:latin typeface="Aptos"/>
              </a:defRPr>
            </a:pPr>
            <a:r>
              <a:t>• Doctor/patient alerts</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Testing Strategy</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the application was validated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10698480" cy="594360"/>
          </a:xfrm>
          <a:prstGeom prst="rect">
            <a:avLst/>
          </a:prstGeom>
          <a:noFill/>
        </p:spPr>
        <p:txBody>
          <a:bodyPr wrap="square">
            <a:spAutoFit/>
          </a:bodyPr>
          <a:lstStyle/>
          <a:p>
            <a:pPr algn="l">
              <a:defRPr sz="1500" b="0">
                <a:solidFill>
                  <a:srgbClr val="0F172A"/>
                </a:solidFill>
                <a:latin typeface="Aptos"/>
              </a:defRPr>
            </a:pPr>
            <a:r>
              <a:t>Testing focused on scenario-based validation because MediSync has many user-driven workflows such as login, booking, chat, record upload, map selection, and video call handling.</a:t>
            </a:r>
          </a:p>
        </p:txBody>
      </p:sp>
      <p:sp>
        <p:nvSpPr>
          <p:cNvPr id="7" name="Rounded Rectangle 6"/>
          <p:cNvSpPr/>
          <p:nvPr/>
        </p:nvSpPr>
        <p:spPr>
          <a:xfrm>
            <a:off x="82296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2412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4505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536192" y="2404872"/>
            <a:ext cx="4251959" cy="274320"/>
          </a:xfrm>
          <a:prstGeom prst="rect">
            <a:avLst/>
          </a:prstGeom>
          <a:noFill/>
        </p:spPr>
        <p:txBody>
          <a:bodyPr wrap="square">
            <a:spAutoFit/>
          </a:bodyPr>
          <a:lstStyle/>
          <a:p>
            <a:pPr algn="l">
              <a:defRPr sz="1350" b="1">
                <a:solidFill>
                  <a:srgbClr val="0F172A"/>
                </a:solidFill>
                <a:latin typeface="Aptos"/>
              </a:defRPr>
            </a:pPr>
            <a:r>
              <a:t>Functional Testing</a:t>
            </a:r>
          </a:p>
        </p:txBody>
      </p:sp>
      <p:sp>
        <p:nvSpPr>
          <p:cNvPr id="11" name="TextBox 10"/>
          <p:cNvSpPr txBox="1"/>
          <p:nvPr/>
        </p:nvSpPr>
        <p:spPr>
          <a:xfrm>
            <a:off x="1536192" y="2752344"/>
            <a:ext cx="4251959" cy="548640"/>
          </a:xfrm>
          <a:prstGeom prst="rect">
            <a:avLst/>
          </a:prstGeom>
          <a:noFill/>
        </p:spPr>
        <p:txBody>
          <a:bodyPr wrap="square">
            <a:spAutoFit/>
          </a:bodyPr>
          <a:lstStyle/>
          <a:p>
            <a:pPr algn="l">
              <a:defRPr sz="1080" b="0">
                <a:solidFill>
                  <a:srgbClr val="64748B"/>
                </a:solidFill>
                <a:latin typeface="Aptos"/>
              </a:defRPr>
            </a:pPr>
            <a:r>
              <a:t>Validated every major feature against expected user flows.</a:t>
            </a:r>
          </a:p>
        </p:txBody>
      </p:sp>
      <p:sp>
        <p:nvSpPr>
          <p:cNvPr id="12" name="Rounded Rectangle 11"/>
          <p:cNvSpPr/>
          <p:nvPr/>
        </p:nvSpPr>
        <p:spPr>
          <a:xfrm>
            <a:off x="640080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0196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84264" y="24505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7114032" y="2404872"/>
            <a:ext cx="4251959" cy="274320"/>
          </a:xfrm>
          <a:prstGeom prst="rect">
            <a:avLst/>
          </a:prstGeom>
          <a:noFill/>
        </p:spPr>
        <p:txBody>
          <a:bodyPr wrap="square">
            <a:spAutoFit/>
          </a:bodyPr>
          <a:lstStyle/>
          <a:p>
            <a:pPr algn="l">
              <a:defRPr sz="1350" b="1">
                <a:solidFill>
                  <a:srgbClr val="0F172A"/>
                </a:solidFill>
                <a:latin typeface="Aptos"/>
              </a:defRPr>
            </a:pPr>
            <a:r>
              <a:t>Integration Testing</a:t>
            </a:r>
          </a:p>
        </p:txBody>
      </p:sp>
      <p:sp>
        <p:nvSpPr>
          <p:cNvPr id="16" name="TextBox 15"/>
          <p:cNvSpPr txBox="1"/>
          <p:nvPr/>
        </p:nvSpPr>
        <p:spPr>
          <a:xfrm>
            <a:off x="7114032" y="2752344"/>
            <a:ext cx="4251959" cy="548640"/>
          </a:xfrm>
          <a:prstGeom prst="rect">
            <a:avLst/>
          </a:prstGeom>
          <a:noFill/>
        </p:spPr>
        <p:txBody>
          <a:bodyPr wrap="square">
            <a:spAutoFit/>
          </a:bodyPr>
          <a:lstStyle/>
          <a:p>
            <a:pPr algn="l">
              <a:defRPr sz="1080" b="0">
                <a:solidFill>
                  <a:srgbClr val="64748B"/>
                </a:solidFill>
                <a:latin typeface="Aptos"/>
              </a:defRPr>
            </a:pPr>
            <a:r>
              <a:t>Checked Android app, backend APIs, PostgreSQL, MinIO, Redis, and FCM together.</a:t>
            </a:r>
          </a:p>
        </p:txBody>
      </p:sp>
      <p:sp>
        <p:nvSpPr>
          <p:cNvPr id="17" name="Rounded Rectangle 16"/>
          <p:cNvSpPr/>
          <p:nvPr/>
        </p:nvSpPr>
        <p:spPr>
          <a:xfrm>
            <a:off x="82296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412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424" y="40507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0" name="TextBox 19"/>
          <p:cNvSpPr txBox="1"/>
          <p:nvPr/>
        </p:nvSpPr>
        <p:spPr>
          <a:xfrm>
            <a:off x="1536192" y="4005072"/>
            <a:ext cx="4251959" cy="274320"/>
          </a:xfrm>
          <a:prstGeom prst="rect">
            <a:avLst/>
          </a:prstGeom>
          <a:noFill/>
        </p:spPr>
        <p:txBody>
          <a:bodyPr wrap="square">
            <a:spAutoFit/>
          </a:bodyPr>
          <a:lstStyle/>
          <a:p>
            <a:pPr algn="l">
              <a:defRPr sz="1350" b="1">
                <a:solidFill>
                  <a:srgbClr val="0F172A"/>
                </a:solidFill>
                <a:latin typeface="Aptos"/>
              </a:defRPr>
            </a:pPr>
            <a:r>
              <a:t>Negative Testing</a:t>
            </a:r>
          </a:p>
        </p:txBody>
      </p:sp>
      <p:sp>
        <p:nvSpPr>
          <p:cNvPr id="21" name="TextBox 20"/>
          <p:cNvSpPr txBox="1"/>
          <p:nvPr/>
        </p:nvSpPr>
        <p:spPr>
          <a:xfrm>
            <a:off x="1536192" y="4352544"/>
            <a:ext cx="4251959" cy="548640"/>
          </a:xfrm>
          <a:prstGeom prst="rect">
            <a:avLst/>
          </a:prstGeom>
          <a:noFill/>
        </p:spPr>
        <p:txBody>
          <a:bodyPr wrap="square">
            <a:spAutoFit/>
          </a:bodyPr>
          <a:lstStyle/>
          <a:p>
            <a:pPr algn="l">
              <a:defRPr sz="1080" b="0">
                <a:solidFill>
                  <a:srgbClr val="64748B"/>
                </a:solidFill>
                <a:latin typeface="Aptos"/>
              </a:defRPr>
            </a:pPr>
            <a:r>
              <a:t>Tested invalid OTP, no network, booked slots, missing profile fields, and offline cases.</a:t>
            </a:r>
          </a:p>
        </p:txBody>
      </p:sp>
      <p:sp>
        <p:nvSpPr>
          <p:cNvPr id="22" name="Rounded Rectangle 21"/>
          <p:cNvSpPr/>
          <p:nvPr/>
        </p:nvSpPr>
        <p:spPr>
          <a:xfrm>
            <a:off x="640080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0196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84264" y="40507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5" name="TextBox 24"/>
          <p:cNvSpPr txBox="1"/>
          <p:nvPr/>
        </p:nvSpPr>
        <p:spPr>
          <a:xfrm>
            <a:off x="7114032" y="4005072"/>
            <a:ext cx="4251959" cy="274320"/>
          </a:xfrm>
          <a:prstGeom prst="rect">
            <a:avLst/>
          </a:prstGeom>
          <a:noFill/>
        </p:spPr>
        <p:txBody>
          <a:bodyPr wrap="square">
            <a:spAutoFit/>
          </a:bodyPr>
          <a:lstStyle/>
          <a:p>
            <a:pPr algn="l">
              <a:defRPr sz="1350" b="1">
                <a:solidFill>
                  <a:srgbClr val="0F172A"/>
                </a:solidFill>
                <a:latin typeface="Aptos"/>
              </a:defRPr>
            </a:pPr>
            <a:r>
              <a:t>UI Testing</a:t>
            </a:r>
          </a:p>
        </p:txBody>
      </p:sp>
      <p:sp>
        <p:nvSpPr>
          <p:cNvPr id="26" name="TextBox 25"/>
          <p:cNvSpPr txBox="1"/>
          <p:nvPr/>
        </p:nvSpPr>
        <p:spPr>
          <a:xfrm>
            <a:off x="7114032" y="4352544"/>
            <a:ext cx="4251959" cy="548640"/>
          </a:xfrm>
          <a:prstGeom prst="rect">
            <a:avLst/>
          </a:prstGeom>
          <a:noFill/>
        </p:spPr>
        <p:txBody>
          <a:bodyPr wrap="square">
            <a:spAutoFit/>
          </a:bodyPr>
          <a:lstStyle/>
          <a:p>
            <a:pPr algn="l">
              <a:defRPr sz="1080" b="0">
                <a:solidFill>
                  <a:srgbClr val="64748B"/>
                </a:solidFill>
                <a:latin typeface="Aptos"/>
              </a:defRPr>
            </a:pPr>
            <a:r>
              <a:t>Checked layout consistency, navigation, filters, lists, and screen responsiveness.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Sample Scenario-Based Test Cases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Representative test coverage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9601200" cy="5074920"/>
        </p:xfrm>
        <a:graphic>
          <a:graphicData uri="http://schemas.openxmlformats.org/drawingml/2006/table">
            <a:tbl>
              <a:tblPr firstRow="1" bandRow="1">
                <a:tableStyleId>{5C22544A-7EE6-4342-B048-85BDC9FD1C3A}</a:tableStyleId>
              </a:tblPr>
              <a:tblGrid>
                <a:gridCol w="914400"/>
                <a:gridCol w="1828800"/>
                <a:gridCol w="2880360"/>
                <a:gridCol w="2880360"/>
                <a:gridCol w="1097280"/>
              </a:tblGrid>
              <a:tr h="724988">
                <a:tc>
                  <a:txBody>
                    <a:bodyPr/>
                    <a:lstStyle/>
                    <a:p>
                      <a:pPr>
                        <a:defRPr b="1" sz="1000">
                          <a:solidFill>
                            <a:srgbClr val="FFFFFF"/>
                          </a:solidFill>
                        </a:defRPr>
                      </a:pPr>
                      <a:r>
                        <a:t>TC ID</a:t>
                      </a:r>
                    </a:p>
                  </a:txBody>
                  <a:tcPr>
                    <a:solidFill>
                      <a:srgbClr val="0EA5E9"/>
                    </a:solidFill>
                  </a:tcPr>
                </a:tc>
                <a:tc>
                  <a:txBody>
                    <a:bodyPr/>
                    <a:lstStyle/>
                    <a:p>
                      <a:pPr>
                        <a:defRPr b="1" sz="1000">
                          <a:solidFill>
                            <a:srgbClr val="FFFFFF"/>
                          </a:solidFill>
                        </a:defRPr>
                      </a:pPr>
                      <a:r>
                        <a:t>Module</a:t>
                      </a:r>
                    </a:p>
                  </a:txBody>
                  <a:tcPr>
                    <a:solidFill>
                      <a:srgbClr val="0EA5E9"/>
                    </a:solidFill>
                  </a:tcPr>
                </a:tc>
                <a:tc>
                  <a:txBody>
                    <a:bodyPr/>
                    <a:lstStyle/>
                    <a:p>
                      <a:pPr>
                        <a:defRPr b="1" sz="1000">
                          <a:solidFill>
                            <a:srgbClr val="FFFFFF"/>
                          </a:solidFill>
                        </a:defRPr>
                      </a:pPr>
                      <a:r>
                        <a:t>Scenario</a:t>
                      </a:r>
                    </a:p>
                  </a:txBody>
                  <a:tcPr>
                    <a:solidFill>
                      <a:srgbClr val="0EA5E9"/>
                    </a:solidFill>
                  </a:tcPr>
                </a:tc>
                <a:tc>
                  <a:txBody>
                    <a:bodyPr/>
                    <a:lstStyle/>
                    <a:p>
                      <a:pPr>
                        <a:defRPr b="1" sz="1000">
                          <a:solidFill>
                            <a:srgbClr val="FFFFFF"/>
                          </a:solidFill>
                        </a:defRPr>
                      </a:pPr>
                      <a:r>
                        <a:t>Expected Result</a:t>
                      </a:r>
                    </a:p>
                  </a:txBody>
                  <a:tcPr>
                    <a:solidFill>
                      <a:srgbClr val="0EA5E9"/>
                    </a:solidFill>
                  </a:tcPr>
                </a:tc>
                <a:tc>
                  <a:txBody>
                    <a:bodyPr/>
                    <a:lstStyle/>
                    <a:p>
                      <a:pPr>
                        <a:defRPr b="1" sz="1000">
                          <a:solidFill>
                            <a:srgbClr val="FFFFFF"/>
                          </a:solidFill>
                        </a:defRPr>
                      </a:pPr>
                      <a:r>
                        <a:t>Status</a:t>
                      </a:r>
                    </a:p>
                  </a:txBody>
                  <a:tcPr>
                    <a:solidFill>
                      <a:srgbClr val="0EA5E9"/>
                    </a:solidFill>
                  </a:tcPr>
                </a:tc>
              </a:tr>
              <a:tr h="724988">
                <a:tc>
                  <a:txBody>
                    <a:bodyPr/>
                    <a:lstStyle/>
                    <a:p>
                      <a:pPr>
                        <a:defRPr sz="880">
                          <a:solidFill>
                            <a:srgbClr val="0F172A"/>
                          </a:solidFill>
                        </a:defRPr>
                      </a:pPr>
                      <a:r>
                        <a:t>TC-01</a:t>
                      </a:r>
                    </a:p>
                  </a:txBody>
                  <a:tcPr>
                    <a:solidFill>
                      <a:srgbClr val="FFFFFF"/>
                    </a:solidFill>
                  </a:tcPr>
                </a:tc>
                <a:tc>
                  <a:txBody>
                    <a:bodyPr/>
                    <a:lstStyle/>
                    <a:p>
                      <a:pPr>
                        <a:defRPr sz="880">
                          <a:solidFill>
                            <a:srgbClr val="0F172A"/>
                          </a:solidFill>
                        </a:defRPr>
                      </a:pPr>
                      <a:r>
                        <a:t>Auth</a:t>
                      </a:r>
                    </a:p>
                  </a:txBody>
                  <a:tcPr>
                    <a:solidFill>
                      <a:srgbClr val="FFFFFF"/>
                    </a:solidFill>
                  </a:tcPr>
                </a:tc>
                <a:tc>
                  <a:txBody>
                    <a:bodyPr/>
                    <a:lstStyle/>
                    <a:p>
                      <a:pPr>
                        <a:defRPr sz="880">
                          <a:solidFill>
                            <a:srgbClr val="0F172A"/>
                          </a:solidFill>
                        </a:defRPr>
                      </a:pPr>
                      <a:r>
                        <a:t>Login with valid phone number and OTP.</a:t>
                      </a:r>
                    </a:p>
                  </a:txBody>
                  <a:tcPr>
                    <a:solidFill>
                      <a:srgbClr val="FFFFFF"/>
                    </a:solidFill>
                  </a:tcPr>
                </a:tc>
                <a:tc>
                  <a:txBody>
                    <a:bodyPr/>
                    <a:lstStyle/>
                    <a:p>
                      <a:pPr>
                        <a:defRPr sz="880">
                          <a:solidFill>
                            <a:srgbClr val="0F172A"/>
                          </a:solidFill>
                        </a:defRPr>
                      </a:pPr>
                      <a:r>
                        <a:t>User reaches correct role-based home screen.</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TC-02</a:t>
                      </a:r>
                    </a:p>
                  </a:txBody>
                  <a:tcPr>
                    <a:solidFill>
                      <a:srgbClr val="F8FAFC"/>
                    </a:solidFill>
                  </a:tcPr>
                </a:tc>
                <a:tc>
                  <a:txBody>
                    <a:bodyPr/>
                    <a:lstStyle/>
                    <a:p>
                      <a:pPr>
                        <a:defRPr sz="880">
                          <a:solidFill>
                            <a:srgbClr val="0F172A"/>
                          </a:solidFill>
                        </a:defRPr>
                      </a:pPr>
                      <a:r>
                        <a:t>Booking</a:t>
                      </a:r>
                    </a:p>
                  </a:txBody>
                  <a:tcPr>
                    <a:solidFill>
                      <a:srgbClr val="F8FAFC"/>
                    </a:solidFill>
                  </a:tcPr>
                </a:tc>
                <a:tc>
                  <a:txBody>
                    <a:bodyPr/>
                    <a:lstStyle/>
                    <a:p>
                      <a:pPr>
                        <a:defRPr sz="880">
                          <a:solidFill>
                            <a:srgbClr val="0F172A"/>
                          </a:solidFill>
                        </a:defRPr>
                      </a:pPr>
                      <a:r>
                        <a:t>Select available slot and confirm booking.</a:t>
                      </a:r>
                    </a:p>
                  </a:txBody>
                  <a:tcPr>
                    <a:solidFill>
                      <a:srgbClr val="F8FAFC"/>
                    </a:solidFill>
                  </a:tcPr>
                </a:tc>
                <a:tc>
                  <a:txBody>
                    <a:bodyPr/>
                    <a:lstStyle/>
                    <a:p>
                      <a:pPr>
                        <a:defRPr sz="880">
                          <a:solidFill>
                            <a:srgbClr val="0F172A"/>
                          </a:solidFill>
                        </a:defRPr>
                      </a:pPr>
                      <a:r>
                        <a:t>Appointment created and slot becomes booked.</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TC-03</a:t>
                      </a:r>
                    </a:p>
                  </a:txBody>
                  <a:tcPr>
                    <a:solidFill>
                      <a:srgbClr val="FFFFFF"/>
                    </a:solidFill>
                  </a:tcPr>
                </a:tc>
                <a:tc>
                  <a:txBody>
                    <a:bodyPr/>
                    <a:lstStyle/>
                    <a:p>
                      <a:pPr>
                        <a:defRPr sz="880">
                          <a:solidFill>
                            <a:srgbClr val="0F172A"/>
                          </a:solidFill>
                        </a:defRPr>
                      </a:pPr>
                      <a:r>
                        <a:t>Booking</a:t>
                      </a:r>
                    </a:p>
                  </a:txBody>
                  <a:tcPr>
                    <a:solidFill>
                      <a:srgbClr val="FFFFFF"/>
                    </a:solidFill>
                  </a:tcPr>
                </a:tc>
                <a:tc>
                  <a:txBody>
                    <a:bodyPr/>
                    <a:lstStyle/>
                    <a:p>
                      <a:pPr>
                        <a:defRPr sz="880">
                          <a:solidFill>
                            <a:srgbClr val="0F172A"/>
                          </a:solidFill>
                        </a:defRPr>
                      </a:pPr>
                      <a:r>
                        <a:t>Try booking an already booked slot.</a:t>
                      </a:r>
                    </a:p>
                  </a:txBody>
                  <a:tcPr>
                    <a:solidFill>
                      <a:srgbClr val="FFFFFF"/>
                    </a:solidFill>
                  </a:tcPr>
                </a:tc>
                <a:tc>
                  <a:txBody>
                    <a:bodyPr/>
                    <a:lstStyle/>
                    <a:p>
                      <a:pPr>
                        <a:defRPr sz="880">
                          <a:solidFill>
                            <a:srgbClr val="0F172A"/>
                          </a:solidFill>
                        </a:defRPr>
                      </a:pPr>
                      <a:r>
                        <a:t>Slot remains unavailable and duplicate booking is prevented.</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TC-04</a:t>
                      </a:r>
                    </a:p>
                  </a:txBody>
                  <a:tcPr>
                    <a:solidFill>
                      <a:srgbClr val="F8FAFC"/>
                    </a:solidFill>
                  </a:tcPr>
                </a:tc>
                <a:tc>
                  <a:txBody>
                    <a:bodyPr/>
                    <a:lstStyle/>
                    <a:p>
                      <a:pPr>
                        <a:defRPr sz="880">
                          <a:solidFill>
                            <a:srgbClr val="0F172A"/>
                          </a:solidFill>
                        </a:defRPr>
                      </a:pPr>
                      <a:r>
                        <a:t>Chat</a:t>
                      </a:r>
                    </a:p>
                  </a:txBody>
                  <a:tcPr>
                    <a:solidFill>
                      <a:srgbClr val="F8FAFC"/>
                    </a:solidFill>
                  </a:tcPr>
                </a:tc>
                <a:tc>
                  <a:txBody>
                    <a:bodyPr/>
                    <a:lstStyle/>
                    <a:p>
                      <a:pPr>
                        <a:defRPr sz="880">
                          <a:solidFill>
                            <a:srgbClr val="0F172A"/>
                          </a:solidFill>
                        </a:defRPr>
                      </a:pPr>
                      <a:r>
                        <a:t>Send message/file while receiver is offline.</a:t>
                      </a:r>
                    </a:p>
                  </a:txBody>
                  <a:tcPr>
                    <a:solidFill>
                      <a:srgbClr val="F8FAFC"/>
                    </a:solidFill>
                  </a:tcPr>
                </a:tc>
                <a:tc>
                  <a:txBody>
                    <a:bodyPr/>
                    <a:lstStyle/>
                    <a:p>
                      <a:pPr>
                        <a:defRPr sz="880">
                          <a:solidFill>
                            <a:srgbClr val="0F172A"/>
                          </a:solidFill>
                        </a:defRPr>
                      </a:pPr>
                      <a:r>
                        <a:t>Message stored and notification is sent when token exists.</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TC-05</a:t>
                      </a:r>
                    </a:p>
                  </a:txBody>
                  <a:tcPr>
                    <a:solidFill>
                      <a:srgbClr val="FFFFFF"/>
                    </a:solidFill>
                  </a:tcPr>
                </a:tc>
                <a:tc>
                  <a:txBody>
                    <a:bodyPr/>
                    <a:lstStyle/>
                    <a:p>
                      <a:pPr>
                        <a:defRPr sz="880">
                          <a:solidFill>
                            <a:srgbClr val="0F172A"/>
                          </a:solidFill>
                        </a:defRPr>
                      </a:pPr>
                      <a:r>
                        <a:t>Records</a:t>
                      </a:r>
                    </a:p>
                  </a:txBody>
                  <a:tcPr>
                    <a:solidFill>
                      <a:srgbClr val="FFFFFF"/>
                    </a:solidFill>
                  </a:tcPr>
                </a:tc>
                <a:tc>
                  <a:txBody>
                    <a:bodyPr/>
                    <a:lstStyle/>
                    <a:p>
                      <a:pPr>
                        <a:defRPr sz="880">
                          <a:solidFill>
                            <a:srgbClr val="0F172A"/>
                          </a:solidFill>
                        </a:defRPr>
                      </a:pPr>
                      <a:r>
                        <a:t>Open medical records without network after cache exists.</a:t>
                      </a:r>
                    </a:p>
                  </a:txBody>
                  <a:tcPr>
                    <a:solidFill>
                      <a:srgbClr val="FFFFFF"/>
                    </a:solidFill>
                  </a:tcPr>
                </a:tc>
                <a:tc>
                  <a:txBody>
                    <a:bodyPr/>
                    <a:lstStyle/>
                    <a:p>
                      <a:pPr>
                        <a:defRPr sz="880">
                          <a:solidFill>
                            <a:srgbClr val="0F172A"/>
                          </a:solidFill>
                        </a:defRPr>
                      </a:pPr>
                      <a:r>
                        <a:t>Previously cached record list remains visible.</a:t>
                      </a:r>
                    </a:p>
                  </a:txBody>
                  <a:tcPr>
                    <a:solidFill>
                      <a:srgbClr val="FFFFFF"/>
                    </a:solidFill>
                  </a:tcPr>
                </a:tc>
                <a:tc>
                  <a:txBody>
                    <a:bodyPr/>
                    <a:lstStyle/>
                    <a:p>
                      <a:pPr>
                        <a:defRPr sz="880">
                          <a:solidFill>
                            <a:srgbClr val="0F172A"/>
                          </a:solidFill>
                        </a:defRPr>
                      </a:pPr>
                      <a:r>
                        <a:t>Pass</a:t>
                      </a:r>
                    </a:p>
                  </a:txBody>
                  <a:tcPr>
                    <a:solidFill>
                      <a:srgbClr val="FFFFFF"/>
                    </a:solidFill>
                  </a:tcPr>
                </a:tc>
              </a:tr>
              <a:tr h="724992">
                <a:tc>
                  <a:txBody>
                    <a:bodyPr/>
                    <a:lstStyle/>
                    <a:p>
                      <a:pPr>
                        <a:defRPr sz="880">
                          <a:solidFill>
                            <a:srgbClr val="0F172A"/>
                          </a:solidFill>
                        </a:defRPr>
                      </a:pPr>
                      <a:r>
                        <a:t>TC-06</a:t>
                      </a:r>
                    </a:p>
                  </a:txBody>
                  <a:tcPr>
                    <a:solidFill>
                      <a:srgbClr val="F8FAFC"/>
                    </a:solidFill>
                  </a:tcPr>
                </a:tc>
                <a:tc>
                  <a:txBody>
                    <a:bodyPr/>
                    <a:lstStyle/>
                    <a:p>
                      <a:pPr>
                        <a:defRPr sz="880">
                          <a:solidFill>
                            <a:srgbClr val="0F172A"/>
                          </a:solidFill>
                        </a:defRPr>
                      </a:pPr>
                      <a:r>
                        <a:t>Video</a:t>
                      </a:r>
                    </a:p>
                  </a:txBody>
                  <a:tcPr>
                    <a:solidFill>
                      <a:srgbClr val="F8FAFC"/>
                    </a:solidFill>
                  </a:tcPr>
                </a:tc>
                <a:tc>
                  <a:txBody>
                    <a:bodyPr/>
                    <a:lstStyle/>
                    <a:p>
                      <a:pPr>
                        <a:defRPr sz="880">
                          <a:solidFill>
                            <a:srgbClr val="0F172A"/>
                          </a:solidFill>
                        </a:defRPr>
                      </a:pPr>
                      <a:r>
                        <a:t>Start video call from chat and join same room.</a:t>
                      </a:r>
                    </a:p>
                  </a:txBody>
                  <a:tcPr>
                    <a:solidFill>
                      <a:srgbClr val="F8FAFC"/>
                    </a:solidFill>
                  </a:tcPr>
                </a:tc>
                <a:tc>
                  <a:txBody>
                    <a:bodyPr/>
                    <a:lstStyle/>
                    <a:p>
                      <a:pPr>
                        <a:defRPr sz="880">
                          <a:solidFill>
                            <a:srgbClr val="0F172A"/>
                          </a:solidFill>
                        </a:defRPr>
                      </a:pPr>
                      <a:r>
                        <a:t>Local/remote video streams appear and controls work.</a:t>
                      </a:r>
                    </a:p>
                  </a:txBody>
                  <a:tcPr>
                    <a:solidFill>
                      <a:srgbClr val="F8FAFC"/>
                    </a:solidFill>
                  </a:tcPr>
                </a:tc>
                <a:tc>
                  <a:txBody>
                    <a:bodyPr/>
                    <a:lstStyle/>
                    <a:p>
                      <a:pPr>
                        <a:defRPr sz="880">
                          <a:solidFill>
                            <a:srgbClr val="0F172A"/>
                          </a:solidFill>
                        </a:defRPr>
                      </a:pPr>
                      <a:r>
                        <a:t>Pass</a:t>
                      </a:r>
                    </a:p>
                  </a:txBody>
                  <a:tcPr>
                    <a:solidFill>
                      <a:srgbClr val="F8FAFC"/>
                    </a:solidFill>
                  </a:tcPr>
                </a:tc>
              </a:tr>
            </a:tbl>
          </a:graphicData>
        </a:graphic>
      </p:graphicFrame>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Cost Estimation — COCOMO Model</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Using LOC method and Basic COCOMO Organic Mode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1208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00200"/>
            <a:ext cx="2011680" cy="320040"/>
          </a:xfrm>
          <a:prstGeom prst="rect">
            <a:avLst/>
          </a:prstGeom>
          <a:noFill/>
        </p:spPr>
        <p:txBody>
          <a:bodyPr wrap="square">
            <a:spAutoFit/>
          </a:bodyPr>
          <a:lstStyle/>
          <a:p>
            <a:pPr algn="l">
              <a:defRPr sz="1700" b="1">
                <a:solidFill>
                  <a:srgbClr val="0EA5E9"/>
                </a:solidFill>
                <a:latin typeface="Aptos"/>
              </a:defRPr>
            </a:pPr>
            <a:r>
              <a:t>LOC Method</a:t>
            </a:r>
          </a:p>
        </p:txBody>
      </p:sp>
      <p:sp>
        <p:nvSpPr>
          <p:cNvPr id="8" name="TextBox 7"/>
          <p:cNvSpPr txBox="1"/>
          <p:nvPr/>
        </p:nvSpPr>
        <p:spPr>
          <a:xfrm>
            <a:off x="960120" y="2057400"/>
            <a:ext cx="4617720" cy="3566160"/>
          </a:xfrm>
          <a:prstGeom prst="rect">
            <a:avLst/>
          </a:prstGeom>
          <a:noFill/>
        </p:spPr>
        <p:txBody>
          <a:bodyPr wrap="square">
            <a:spAutoFit/>
          </a:bodyPr>
          <a:lstStyle/>
          <a:p>
            <a:pPr>
              <a:spcAft>
                <a:spcPts val="500"/>
              </a:spcAft>
              <a:defRPr sz="1180">
                <a:solidFill>
                  <a:srgbClr val="0F172A"/>
                </a:solidFill>
                <a:latin typeface="Aptos"/>
              </a:defRPr>
            </a:pPr>
            <a:r>
              <a:t>• Total LOC: S = (7500 + 4×10000 + 13000) / 6 ≈ 10,083 LOC ≈ 10 KLOC</a:t>
            </a:r>
          </a:p>
          <a:p>
            <a:pPr>
              <a:spcAft>
                <a:spcPts val="500"/>
              </a:spcAft>
              <a:defRPr sz="1180">
                <a:solidFill>
                  <a:srgbClr val="0F172A"/>
                </a:solidFill>
                <a:latin typeface="Aptos"/>
              </a:defRPr>
            </a:pPr>
            <a:r>
              <a:t>• Cost per LOC = Labour rate / OAP = ₹80,000 / 620 LOC/month ≈ ₹129 per LOC</a:t>
            </a:r>
          </a:p>
          <a:p>
            <a:pPr>
              <a:spcAft>
                <a:spcPts val="500"/>
              </a:spcAft>
              <a:defRPr sz="1180">
                <a:solidFill>
                  <a:srgbClr val="0F172A"/>
                </a:solidFill>
                <a:latin typeface="Aptos"/>
              </a:defRPr>
            </a:pPr>
            <a:r>
              <a:t>• Total project cost = 10,000 × ₹129 = ₹12,90,000 (~$15,500)</a:t>
            </a:r>
          </a:p>
          <a:p>
            <a:pPr>
              <a:spcAft>
                <a:spcPts val="500"/>
              </a:spcAft>
              <a:defRPr sz="1180">
                <a:solidFill>
                  <a:srgbClr val="0F172A"/>
                </a:solidFill>
                <a:latin typeface="Aptos"/>
              </a:defRPr>
            </a:pPr>
            <a:r>
              <a:t>• Estimated effort = 10,000 / 620 ≈ 16.1 person-months</a:t>
            </a:r>
          </a:p>
          <a:p>
            <a:pPr>
              <a:spcAft>
                <a:spcPts val="500"/>
              </a:spcAft>
              <a:defRPr sz="1180">
                <a:solidFill>
                  <a:srgbClr val="0F172A"/>
                </a:solidFill>
                <a:latin typeface="Aptos"/>
              </a:defRPr>
            </a:pPr>
            <a:r>
              <a:t>• Infrastructure cost ≈ ₹1,000/month using VPS-hosted PostgreSQL, Redis and MinIO</a:t>
            </a:r>
          </a:p>
        </p:txBody>
      </p:sp>
      <p:sp>
        <p:nvSpPr>
          <p:cNvPr id="9" name="Rounded Rectangle 8"/>
          <p:cNvSpPr/>
          <p:nvPr/>
        </p:nvSpPr>
        <p:spPr>
          <a:xfrm>
            <a:off x="6172200" y="1325880"/>
            <a:ext cx="534924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00200"/>
            <a:ext cx="3657600" cy="320040"/>
          </a:xfrm>
          <a:prstGeom prst="rect">
            <a:avLst/>
          </a:prstGeom>
          <a:noFill/>
        </p:spPr>
        <p:txBody>
          <a:bodyPr wrap="square">
            <a:spAutoFit/>
          </a:bodyPr>
          <a:lstStyle/>
          <a:p>
            <a:pPr algn="l">
              <a:defRPr sz="1700" b="1">
                <a:solidFill>
                  <a:srgbClr val="0EA5E9"/>
                </a:solidFill>
                <a:latin typeface="Aptos"/>
              </a:defRPr>
            </a:pPr>
            <a:r>
              <a:t>Basic COCOMO - Organic Mode</a:t>
            </a:r>
          </a:p>
        </p:txBody>
      </p:sp>
      <p:graphicFrame>
        <p:nvGraphicFramePr>
          <p:cNvPr id="11" name="Table 10"/>
          <p:cNvGraphicFramePr>
            <a:graphicFrameLocks noGrp="1"/>
          </p:cNvGraphicFramePr>
          <p:nvPr/>
        </p:nvGraphicFramePr>
        <p:xfrm>
          <a:off x="6446520" y="2057400"/>
          <a:ext cx="4709159" cy="2331720"/>
        </p:xfrm>
        <a:graphic>
          <a:graphicData uri="http://schemas.openxmlformats.org/drawingml/2006/table">
            <a:tbl>
              <a:tblPr firstRow="1" bandRow="1">
                <a:tableStyleId>{5C22544A-7EE6-4342-B048-85BDC9FD1C3A}</a:tableStyleId>
              </a:tblPr>
              <a:tblGrid>
                <a:gridCol w="1371600"/>
                <a:gridCol w="1874519"/>
                <a:gridCol w="1463040"/>
              </a:tblGrid>
              <a:tr h="466344">
                <a:tc>
                  <a:txBody>
                    <a:bodyPr/>
                    <a:lstStyle/>
                    <a:p>
                      <a:pPr>
                        <a:defRPr b="1" sz="800">
                          <a:solidFill>
                            <a:srgbClr val="FFFFFF"/>
                          </a:solidFill>
                        </a:defRPr>
                      </a:pPr>
                      <a:r>
                        <a:t>Parameter</a:t>
                      </a:r>
                    </a:p>
                  </a:txBody>
                  <a:tcPr>
                    <a:solidFill>
                      <a:srgbClr val="0EA5E9"/>
                    </a:solidFill>
                  </a:tcPr>
                </a:tc>
                <a:tc>
                  <a:txBody>
                    <a:bodyPr/>
                    <a:lstStyle/>
                    <a:p>
                      <a:pPr>
                        <a:defRPr b="1" sz="800">
                          <a:solidFill>
                            <a:srgbClr val="FFFFFF"/>
                          </a:solidFill>
                        </a:defRPr>
                      </a:pPr>
                      <a:r>
                        <a:t>Formula / Value</a:t>
                      </a:r>
                    </a:p>
                  </a:txBody>
                  <a:tcPr>
                    <a:solidFill>
                      <a:srgbClr val="0EA5E9"/>
                    </a:solidFill>
                  </a:tcPr>
                </a:tc>
                <a:tc>
                  <a:txBody>
                    <a:bodyPr/>
                    <a:lstStyle/>
                    <a:p>
                      <a:pPr>
                        <a:defRPr b="1" sz="800">
                          <a:solidFill>
                            <a:srgbClr val="FFFFFF"/>
                          </a:solidFill>
                        </a:defRPr>
                      </a:pPr>
                      <a:r>
                        <a:t>MediSync Result</a:t>
                      </a:r>
                    </a:p>
                  </a:txBody>
                  <a:tcPr>
                    <a:solidFill>
                      <a:srgbClr val="0EA5E9"/>
                    </a:solidFill>
                  </a:tcPr>
                </a:tc>
              </a:tr>
              <a:tr h="466344">
                <a:tc>
                  <a:txBody>
                    <a:bodyPr/>
                    <a:lstStyle/>
                    <a:p>
                      <a:pPr>
                        <a:defRPr sz="800">
                          <a:solidFill>
                            <a:srgbClr val="0F172A"/>
                          </a:solidFill>
                        </a:defRPr>
                      </a:pPr>
                      <a:r>
                        <a:t>Size</a:t>
                      </a:r>
                    </a:p>
                  </a:txBody>
                  <a:tcPr>
                    <a:solidFill>
                      <a:srgbClr val="FFFFFF"/>
                    </a:solidFill>
                  </a:tcPr>
                </a:tc>
                <a:tc>
                  <a:txBody>
                    <a:bodyPr/>
                    <a:lstStyle/>
                    <a:p>
                      <a:pPr>
                        <a:defRPr sz="800">
                          <a:solidFill>
                            <a:srgbClr val="0F172A"/>
                          </a:solidFill>
                        </a:defRPr>
                      </a:pPr>
                      <a:r>
                        <a:t>S = 10 KLOC</a:t>
                      </a:r>
                    </a:p>
                  </a:txBody>
                  <a:tcPr>
                    <a:solidFill>
                      <a:srgbClr val="FFFFFF"/>
                    </a:solidFill>
                  </a:tcPr>
                </a:tc>
                <a:tc>
                  <a:txBody>
                    <a:bodyPr/>
                    <a:lstStyle/>
                    <a:p>
                      <a:pPr>
                        <a:defRPr sz="800">
                          <a:solidFill>
                            <a:srgbClr val="0F172A"/>
                          </a:solidFill>
                        </a:defRPr>
                      </a:pPr>
                      <a:r>
                        <a:t>~9,833 LOC</a:t>
                      </a:r>
                    </a:p>
                  </a:txBody>
                  <a:tcPr>
                    <a:solidFill>
                      <a:srgbClr val="FFFFFF"/>
                    </a:solidFill>
                  </a:tcPr>
                </a:tc>
              </a:tr>
              <a:tr h="466344">
                <a:tc>
                  <a:txBody>
                    <a:bodyPr/>
                    <a:lstStyle/>
                    <a:p>
                      <a:pPr>
                        <a:defRPr sz="800">
                          <a:solidFill>
                            <a:srgbClr val="0F172A"/>
                          </a:solidFill>
                        </a:defRPr>
                      </a:pPr>
                      <a:r>
                        <a:t>Effort</a:t>
                      </a:r>
                    </a:p>
                  </a:txBody>
                  <a:tcPr>
                    <a:solidFill>
                      <a:srgbClr val="F8FAFC"/>
                    </a:solidFill>
                  </a:tcPr>
                </a:tc>
                <a:tc>
                  <a:txBody>
                    <a:bodyPr/>
                    <a:lstStyle/>
                    <a:p>
                      <a:pPr>
                        <a:defRPr sz="800">
                          <a:solidFill>
                            <a:srgbClr val="0F172A"/>
                          </a:solidFill>
                        </a:defRPr>
                      </a:pPr>
                      <a:r>
                        <a:t>E = 2.4 × KLOC^1.05</a:t>
                      </a:r>
                    </a:p>
                  </a:txBody>
                  <a:tcPr>
                    <a:solidFill>
                      <a:srgbClr val="F8FAFC"/>
                    </a:solidFill>
                  </a:tcPr>
                </a:tc>
                <a:tc>
                  <a:txBody>
                    <a:bodyPr/>
                    <a:lstStyle/>
                    <a:p>
                      <a:pPr>
                        <a:defRPr sz="800">
                          <a:solidFill>
                            <a:srgbClr val="0F172A"/>
                          </a:solidFill>
                        </a:defRPr>
                      </a:pPr>
                      <a:r>
                        <a:t>≈ 27.2 PM</a:t>
                      </a:r>
                    </a:p>
                  </a:txBody>
                  <a:tcPr>
                    <a:solidFill>
                      <a:srgbClr val="F8FAFC"/>
                    </a:solidFill>
                  </a:tcPr>
                </a:tc>
              </a:tr>
              <a:tr h="466344">
                <a:tc>
                  <a:txBody>
                    <a:bodyPr/>
                    <a:lstStyle/>
                    <a:p>
                      <a:pPr>
                        <a:defRPr sz="800">
                          <a:solidFill>
                            <a:srgbClr val="0F172A"/>
                          </a:solidFill>
                        </a:defRPr>
                      </a:pPr>
                      <a:r>
                        <a:t>Dev. Time</a:t>
                      </a:r>
                    </a:p>
                  </a:txBody>
                  <a:tcPr>
                    <a:solidFill>
                      <a:srgbClr val="FFFFFF"/>
                    </a:solidFill>
                  </a:tcPr>
                </a:tc>
                <a:tc>
                  <a:txBody>
                    <a:bodyPr/>
                    <a:lstStyle/>
                    <a:p>
                      <a:pPr>
                        <a:defRPr sz="800">
                          <a:solidFill>
                            <a:srgbClr val="0F172A"/>
                          </a:solidFill>
                        </a:defRPr>
                      </a:pPr>
                      <a:r>
                        <a:t>T = 2.5 × E^0.38</a:t>
                      </a:r>
                    </a:p>
                  </a:txBody>
                  <a:tcPr>
                    <a:solidFill>
                      <a:srgbClr val="FFFFFF"/>
                    </a:solidFill>
                  </a:tcPr>
                </a:tc>
                <a:tc>
                  <a:txBody>
                    <a:bodyPr/>
                    <a:lstStyle/>
                    <a:p>
                      <a:pPr>
                        <a:defRPr sz="800">
                          <a:solidFill>
                            <a:srgbClr val="0F172A"/>
                          </a:solidFill>
                        </a:defRPr>
                      </a:pPr>
                      <a:r>
                        <a:t>≈ 8.1 months</a:t>
                      </a:r>
                    </a:p>
                  </a:txBody>
                  <a:tcPr>
                    <a:solidFill>
                      <a:srgbClr val="FFFFFF"/>
                    </a:solidFill>
                  </a:tcPr>
                </a:tc>
              </a:tr>
              <a:tr h="466344">
                <a:tc>
                  <a:txBody>
                    <a:bodyPr/>
                    <a:lstStyle/>
                    <a:p>
                      <a:pPr>
                        <a:defRPr sz="800">
                          <a:solidFill>
                            <a:srgbClr val="0F172A"/>
                          </a:solidFill>
                        </a:defRPr>
                      </a:pPr>
                      <a:r>
                        <a:t>Team Size</a:t>
                      </a:r>
                    </a:p>
                  </a:txBody>
                  <a:tcPr>
                    <a:solidFill>
                      <a:srgbClr val="F8FAFC"/>
                    </a:solidFill>
                  </a:tcPr>
                </a:tc>
                <a:tc>
                  <a:txBody>
                    <a:bodyPr/>
                    <a:lstStyle/>
                    <a:p>
                      <a:pPr>
                        <a:defRPr sz="800">
                          <a:solidFill>
                            <a:srgbClr val="0F172A"/>
                          </a:solidFill>
                        </a:defRPr>
                      </a:pPr>
                      <a:r>
                        <a:t>N = E / T</a:t>
                      </a:r>
                    </a:p>
                  </a:txBody>
                  <a:tcPr>
                    <a:solidFill>
                      <a:srgbClr val="F8FAFC"/>
                    </a:solidFill>
                  </a:tcPr>
                </a:tc>
                <a:tc>
                  <a:txBody>
                    <a:bodyPr/>
                    <a:lstStyle/>
                    <a:p>
                      <a:pPr>
                        <a:defRPr sz="800">
                          <a:solidFill>
                            <a:srgbClr val="0F172A"/>
                          </a:solidFill>
                        </a:defRPr>
                      </a:pPr>
                      <a:r>
                        <a:t>≈ 3–4 developers</a:t>
                      </a:r>
                    </a:p>
                  </a:txBody>
                  <a:tcPr>
                    <a:solidFill>
                      <a:srgbClr val="F8FAFC"/>
                    </a:solidFill>
                  </a:tcPr>
                </a:tc>
              </a:tr>
            </a:tbl>
          </a:graphicData>
        </a:graphic>
      </p:graphicFrame>
      <p:sp>
        <p:nvSpPr>
          <p:cNvPr id="12" name="TextBox 11"/>
          <p:cNvSpPr txBox="1"/>
          <p:nvPr/>
        </p:nvSpPr>
        <p:spPr>
          <a:xfrm>
            <a:off x="6446520" y="4800600"/>
            <a:ext cx="4572000" cy="457200"/>
          </a:xfrm>
          <a:prstGeom prst="rect">
            <a:avLst/>
          </a:prstGeom>
          <a:noFill/>
        </p:spPr>
        <p:txBody>
          <a:bodyPr wrap="square">
            <a:spAutoFit/>
          </a:bodyPr>
          <a:lstStyle/>
          <a:p>
            <a:pPr algn="l">
              <a:defRPr sz="1050" b="0">
                <a:solidFill>
                  <a:srgbClr val="64748B"/>
                </a:solidFill>
                <a:latin typeface="Aptos"/>
              </a:defRPr>
            </a:pPr>
            <a:r>
              <a:t>Reference: Pressman SE, Chapter 26 Empirical Estimation Models, as covered in Unit 4 SE course notes.</a:t>
            </a:r>
          </a:p>
        </p:txBody>
      </p:sp>
      <p:sp>
        <p:nvSpPr>
          <p:cNvPr id="13" name="TextBox 12"/>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4" name="TextBox 13"/>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Project Scheduling — Gantt Chart</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17-week implementation timeline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17320"/>
            <a:ext cx="11384280" cy="502920"/>
          </a:xfrm>
          <a:prstGeom prst="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63624"/>
            <a:ext cx="914400" cy="182880"/>
          </a:xfrm>
          <a:prstGeom prst="rect">
            <a:avLst/>
          </a:prstGeom>
          <a:noFill/>
        </p:spPr>
        <p:txBody>
          <a:bodyPr wrap="square">
            <a:spAutoFit/>
          </a:bodyPr>
          <a:lstStyle/>
          <a:p>
            <a:pPr algn="l">
              <a:defRPr sz="950" b="1">
                <a:solidFill>
                  <a:srgbClr val="0F172A"/>
                </a:solidFill>
                <a:latin typeface="Aptos"/>
              </a:defRPr>
            </a:pPr>
            <a:r>
              <a:t>Task</a:t>
            </a:r>
          </a:p>
        </p:txBody>
      </p:sp>
      <p:sp>
        <p:nvSpPr>
          <p:cNvPr id="8" name="TextBox 7"/>
          <p:cNvSpPr txBox="1"/>
          <p:nvPr/>
        </p:nvSpPr>
        <p:spPr>
          <a:xfrm>
            <a:off x="3364991" y="1563624"/>
            <a:ext cx="365760" cy="182880"/>
          </a:xfrm>
          <a:prstGeom prst="rect">
            <a:avLst/>
          </a:prstGeom>
          <a:noFill/>
        </p:spPr>
        <p:txBody>
          <a:bodyPr wrap="square">
            <a:spAutoFit/>
          </a:bodyPr>
          <a:lstStyle/>
          <a:p>
            <a:pPr algn="l">
              <a:defRPr sz="750" b="1">
                <a:solidFill>
                  <a:srgbClr val="64748B"/>
                </a:solidFill>
                <a:latin typeface="Aptos"/>
              </a:defRPr>
            </a:pPr>
            <a:r>
              <a:t>W1</a:t>
            </a:r>
          </a:p>
        </p:txBody>
      </p:sp>
      <p:sp>
        <p:nvSpPr>
          <p:cNvPr id="9" name="TextBox 8"/>
          <p:cNvSpPr txBox="1"/>
          <p:nvPr/>
        </p:nvSpPr>
        <p:spPr>
          <a:xfrm>
            <a:off x="3873290" y="1563624"/>
            <a:ext cx="365760" cy="182880"/>
          </a:xfrm>
          <a:prstGeom prst="rect">
            <a:avLst/>
          </a:prstGeom>
          <a:noFill/>
        </p:spPr>
        <p:txBody>
          <a:bodyPr wrap="square">
            <a:spAutoFit/>
          </a:bodyPr>
          <a:lstStyle/>
          <a:p>
            <a:pPr algn="l">
              <a:defRPr sz="750" b="1">
                <a:solidFill>
                  <a:srgbClr val="64748B"/>
                </a:solidFill>
                <a:latin typeface="Aptos"/>
              </a:defRPr>
            </a:pPr>
            <a:r>
              <a:t>W2</a:t>
            </a:r>
          </a:p>
        </p:txBody>
      </p:sp>
      <p:sp>
        <p:nvSpPr>
          <p:cNvPr id="10" name="TextBox 9"/>
          <p:cNvSpPr txBox="1"/>
          <p:nvPr/>
        </p:nvSpPr>
        <p:spPr>
          <a:xfrm>
            <a:off x="4381589" y="1563624"/>
            <a:ext cx="365760" cy="182880"/>
          </a:xfrm>
          <a:prstGeom prst="rect">
            <a:avLst/>
          </a:prstGeom>
          <a:noFill/>
        </p:spPr>
        <p:txBody>
          <a:bodyPr wrap="square">
            <a:spAutoFit/>
          </a:bodyPr>
          <a:lstStyle/>
          <a:p>
            <a:pPr algn="l">
              <a:defRPr sz="750" b="1">
                <a:solidFill>
                  <a:srgbClr val="64748B"/>
                </a:solidFill>
                <a:latin typeface="Aptos"/>
              </a:defRPr>
            </a:pPr>
            <a:r>
              <a:t>W3</a:t>
            </a:r>
          </a:p>
        </p:txBody>
      </p:sp>
      <p:sp>
        <p:nvSpPr>
          <p:cNvPr id="11" name="TextBox 10"/>
          <p:cNvSpPr txBox="1"/>
          <p:nvPr/>
        </p:nvSpPr>
        <p:spPr>
          <a:xfrm>
            <a:off x="4889888" y="1563624"/>
            <a:ext cx="365760" cy="182880"/>
          </a:xfrm>
          <a:prstGeom prst="rect">
            <a:avLst/>
          </a:prstGeom>
          <a:noFill/>
        </p:spPr>
        <p:txBody>
          <a:bodyPr wrap="square">
            <a:spAutoFit/>
          </a:bodyPr>
          <a:lstStyle/>
          <a:p>
            <a:pPr algn="l">
              <a:defRPr sz="750" b="1">
                <a:solidFill>
                  <a:srgbClr val="64748B"/>
                </a:solidFill>
                <a:latin typeface="Aptos"/>
              </a:defRPr>
            </a:pPr>
            <a:r>
              <a:t>W4</a:t>
            </a:r>
          </a:p>
        </p:txBody>
      </p:sp>
      <p:sp>
        <p:nvSpPr>
          <p:cNvPr id="12" name="TextBox 11"/>
          <p:cNvSpPr txBox="1"/>
          <p:nvPr/>
        </p:nvSpPr>
        <p:spPr>
          <a:xfrm>
            <a:off x="5398187" y="1563624"/>
            <a:ext cx="365760" cy="182880"/>
          </a:xfrm>
          <a:prstGeom prst="rect">
            <a:avLst/>
          </a:prstGeom>
          <a:noFill/>
        </p:spPr>
        <p:txBody>
          <a:bodyPr wrap="square">
            <a:spAutoFit/>
          </a:bodyPr>
          <a:lstStyle/>
          <a:p>
            <a:pPr algn="l">
              <a:defRPr sz="750" b="1">
                <a:solidFill>
                  <a:srgbClr val="64748B"/>
                </a:solidFill>
                <a:latin typeface="Aptos"/>
              </a:defRPr>
            </a:pPr>
            <a:r>
              <a:t>W5</a:t>
            </a:r>
          </a:p>
        </p:txBody>
      </p:sp>
      <p:sp>
        <p:nvSpPr>
          <p:cNvPr id="13" name="TextBox 12"/>
          <p:cNvSpPr txBox="1"/>
          <p:nvPr/>
        </p:nvSpPr>
        <p:spPr>
          <a:xfrm>
            <a:off x="5906486" y="1563624"/>
            <a:ext cx="365760" cy="182880"/>
          </a:xfrm>
          <a:prstGeom prst="rect">
            <a:avLst/>
          </a:prstGeom>
          <a:noFill/>
        </p:spPr>
        <p:txBody>
          <a:bodyPr wrap="square">
            <a:spAutoFit/>
          </a:bodyPr>
          <a:lstStyle/>
          <a:p>
            <a:pPr algn="l">
              <a:defRPr sz="750" b="1">
                <a:solidFill>
                  <a:srgbClr val="64748B"/>
                </a:solidFill>
                <a:latin typeface="Aptos"/>
              </a:defRPr>
            </a:pPr>
            <a:r>
              <a:t>W6</a:t>
            </a:r>
          </a:p>
        </p:txBody>
      </p:sp>
      <p:sp>
        <p:nvSpPr>
          <p:cNvPr id="14" name="TextBox 13"/>
          <p:cNvSpPr txBox="1"/>
          <p:nvPr/>
        </p:nvSpPr>
        <p:spPr>
          <a:xfrm>
            <a:off x="6414784" y="1563624"/>
            <a:ext cx="365760" cy="182880"/>
          </a:xfrm>
          <a:prstGeom prst="rect">
            <a:avLst/>
          </a:prstGeom>
          <a:noFill/>
        </p:spPr>
        <p:txBody>
          <a:bodyPr wrap="square">
            <a:spAutoFit/>
          </a:bodyPr>
          <a:lstStyle/>
          <a:p>
            <a:pPr algn="l">
              <a:defRPr sz="750" b="1">
                <a:solidFill>
                  <a:srgbClr val="64748B"/>
                </a:solidFill>
                <a:latin typeface="Aptos"/>
              </a:defRPr>
            </a:pPr>
            <a:r>
              <a:t>W7</a:t>
            </a:r>
          </a:p>
        </p:txBody>
      </p:sp>
      <p:sp>
        <p:nvSpPr>
          <p:cNvPr id="15" name="TextBox 14"/>
          <p:cNvSpPr txBox="1"/>
          <p:nvPr/>
        </p:nvSpPr>
        <p:spPr>
          <a:xfrm>
            <a:off x="6923083" y="1563624"/>
            <a:ext cx="365760" cy="182880"/>
          </a:xfrm>
          <a:prstGeom prst="rect">
            <a:avLst/>
          </a:prstGeom>
          <a:noFill/>
        </p:spPr>
        <p:txBody>
          <a:bodyPr wrap="square">
            <a:spAutoFit/>
          </a:bodyPr>
          <a:lstStyle/>
          <a:p>
            <a:pPr algn="l">
              <a:defRPr sz="750" b="1">
                <a:solidFill>
                  <a:srgbClr val="64748B"/>
                </a:solidFill>
                <a:latin typeface="Aptos"/>
              </a:defRPr>
            </a:pPr>
            <a:r>
              <a:t>W8</a:t>
            </a:r>
          </a:p>
        </p:txBody>
      </p:sp>
      <p:sp>
        <p:nvSpPr>
          <p:cNvPr id="16" name="TextBox 15"/>
          <p:cNvSpPr txBox="1"/>
          <p:nvPr/>
        </p:nvSpPr>
        <p:spPr>
          <a:xfrm>
            <a:off x="7431382" y="1563624"/>
            <a:ext cx="365760" cy="182880"/>
          </a:xfrm>
          <a:prstGeom prst="rect">
            <a:avLst/>
          </a:prstGeom>
          <a:noFill/>
        </p:spPr>
        <p:txBody>
          <a:bodyPr wrap="square">
            <a:spAutoFit/>
          </a:bodyPr>
          <a:lstStyle/>
          <a:p>
            <a:pPr algn="l">
              <a:defRPr sz="750" b="1">
                <a:solidFill>
                  <a:srgbClr val="64748B"/>
                </a:solidFill>
                <a:latin typeface="Aptos"/>
              </a:defRPr>
            </a:pPr>
            <a:r>
              <a:t>W9</a:t>
            </a:r>
          </a:p>
        </p:txBody>
      </p:sp>
      <p:sp>
        <p:nvSpPr>
          <p:cNvPr id="17" name="TextBox 16"/>
          <p:cNvSpPr txBox="1"/>
          <p:nvPr/>
        </p:nvSpPr>
        <p:spPr>
          <a:xfrm>
            <a:off x="7939681" y="1563624"/>
            <a:ext cx="365760" cy="182880"/>
          </a:xfrm>
          <a:prstGeom prst="rect">
            <a:avLst/>
          </a:prstGeom>
          <a:noFill/>
        </p:spPr>
        <p:txBody>
          <a:bodyPr wrap="square">
            <a:spAutoFit/>
          </a:bodyPr>
          <a:lstStyle/>
          <a:p>
            <a:pPr algn="l">
              <a:defRPr sz="750" b="1">
                <a:solidFill>
                  <a:srgbClr val="64748B"/>
                </a:solidFill>
                <a:latin typeface="Aptos"/>
              </a:defRPr>
            </a:pPr>
            <a:r>
              <a:t>W10</a:t>
            </a:r>
          </a:p>
        </p:txBody>
      </p:sp>
      <p:sp>
        <p:nvSpPr>
          <p:cNvPr id="18" name="TextBox 17"/>
          <p:cNvSpPr txBox="1"/>
          <p:nvPr/>
        </p:nvSpPr>
        <p:spPr>
          <a:xfrm>
            <a:off x="8447980" y="1563624"/>
            <a:ext cx="365760" cy="182880"/>
          </a:xfrm>
          <a:prstGeom prst="rect">
            <a:avLst/>
          </a:prstGeom>
          <a:noFill/>
        </p:spPr>
        <p:txBody>
          <a:bodyPr wrap="square">
            <a:spAutoFit/>
          </a:bodyPr>
          <a:lstStyle/>
          <a:p>
            <a:pPr algn="l">
              <a:defRPr sz="750" b="1">
                <a:solidFill>
                  <a:srgbClr val="64748B"/>
                </a:solidFill>
                <a:latin typeface="Aptos"/>
              </a:defRPr>
            </a:pPr>
            <a:r>
              <a:t>W11</a:t>
            </a:r>
          </a:p>
        </p:txBody>
      </p:sp>
      <p:sp>
        <p:nvSpPr>
          <p:cNvPr id="19" name="TextBox 18"/>
          <p:cNvSpPr txBox="1"/>
          <p:nvPr/>
        </p:nvSpPr>
        <p:spPr>
          <a:xfrm>
            <a:off x="8956279" y="1563624"/>
            <a:ext cx="365760" cy="182880"/>
          </a:xfrm>
          <a:prstGeom prst="rect">
            <a:avLst/>
          </a:prstGeom>
          <a:noFill/>
        </p:spPr>
        <p:txBody>
          <a:bodyPr wrap="square">
            <a:spAutoFit/>
          </a:bodyPr>
          <a:lstStyle/>
          <a:p>
            <a:pPr algn="l">
              <a:defRPr sz="750" b="1">
                <a:solidFill>
                  <a:srgbClr val="64748B"/>
                </a:solidFill>
                <a:latin typeface="Aptos"/>
              </a:defRPr>
            </a:pPr>
            <a:r>
              <a:t>W12</a:t>
            </a:r>
          </a:p>
        </p:txBody>
      </p:sp>
      <p:sp>
        <p:nvSpPr>
          <p:cNvPr id="20" name="TextBox 19"/>
          <p:cNvSpPr txBox="1"/>
          <p:nvPr/>
        </p:nvSpPr>
        <p:spPr>
          <a:xfrm>
            <a:off x="9464577" y="1563624"/>
            <a:ext cx="365760" cy="182880"/>
          </a:xfrm>
          <a:prstGeom prst="rect">
            <a:avLst/>
          </a:prstGeom>
          <a:noFill/>
        </p:spPr>
        <p:txBody>
          <a:bodyPr wrap="square">
            <a:spAutoFit/>
          </a:bodyPr>
          <a:lstStyle/>
          <a:p>
            <a:pPr algn="l">
              <a:defRPr sz="750" b="1">
                <a:solidFill>
                  <a:srgbClr val="64748B"/>
                </a:solidFill>
                <a:latin typeface="Aptos"/>
              </a:defRPr>
            </a:pPr>
            <a:r>
              <a:t>W13</a:t>
            </a:r>
          </a:p>
        </p:txBody>
      </p:sp>
      <p:sp>
        <p:nvSpPr>
          <p:cNvPr id="21" name="TextBox 20"/>
          <p:cNvSpPr txBox="1"/>
          <p:nvPr/>
        </p:nvSpPr>
        <p:spPr>
          <a:xfrm>
            <a:off x="9972876" y="1563624"/>
            <a:ext cx="365760" cy="182880"/>
          </a:xfrm>
          <a:prstGeom prst="rect">
            <a:avLst/>
          </a:prstGeom>
          <a:noFill/>
        </p:spPr>
        <p:txBody>
          <a:bodyPr wrap="square">
            <a:spAutoFit/>
          </a:bodyPr>
          <a:lstStyle/>
          <a:p>
            <a:pPr algn="l">
              <a:defRPr sz="750" b="1">
                <a:solidFill>
                  <a:srgbClr val="64748B"/>
                </a:solidFill>
                <a:latin typeface="Aptos"/>
              </a:defRPr>
            </a:pPr>
            <a:r>
              <a:t>W14</a:t>
            </a:r>
          </a:p>
        </p:txBody>
      </p:sp>
      <p:sp>
        <p:nvSpPr>
          <p:cNvPr id="22" name="TextBox 21"/>
          <p:cNvSpPr txBox="1"/>
          <p:nvPr/>
        </p:nvSpPr>
        <p:spPr>
          <a:xfrm>
            <a:off x="10481175" y="1563624"/>
            <a:ext cx="365760" cy="182880"/>
          </a:xfrm>
          <a:prstGeom prst="rect">
            <a:avLst/>
          </a:prstGeom>
          <a:noFill/>
        </p:spPr>
        <p:txBody>
          <a:bodyPr wrap="square">
            <a:spAutoFit/>
          </a:bodyPr>
          <a:lstStyle/>
          <a:p>
            <a:pPr algn="l">
              <a:defRPr sz="750" b="1">
                <a:solidFill>
                  <a:srgbClr val="64748B"/>
                </a:solidFill>
                <a:latin typeface="Aptos"/>
              </a:defRPr>
            </a:pPr>
            <a:r>
              <a:t>W15</a:t>
            </a:r>
          </a:p>
        </p:txBody>
      </p:sp>
      <p:sp>
        <p:nvSpPr>
          <p:cNvPr id="23" name="TextBox 22"/>
          <p:cNvSpPr txBox="1"/>
          <p:nvPr/>
        </p:nvSpPr>
        <p:spPr>
          <a:xfrm>
            <a:off x="10989474" y="1563624"/>
            <a:ext cx="365760" cy="182880"/>
          </a:xfrm>
          <a:prstGeom prst="rect">
            <a:avLst/>
          </a:prstGeom>
          <a:noFill/>
        </p:spPr>
        <p:txBody>
          <a:bodyPr wrap="square">
            <a:spAutoFit/>
          </a:bodyPr>
          <a:lstStyle/>
          <a:p>
            <a:pPr algn="l">
              <a:defRPr sz="750" b="1">
                <a:solidFill>
                  <a:srgbClr val="64748B"/>
                </a:solidFill>
                <a:latin typeface="Aptos"/>
              </a:defRPr>
            </a:pPr>
            <a:r>
              <a:t>W16</a:t>
            </a:r>
          </a:p>
        </p:txBody>
      </p:sp>
      <p:sp>
        <p:nvSpPr>
          <p:cNvPr id="24" name="TextBox 23"/>
          <p:cNvSpPr txBox="1"/>
          <p:nvPr/>
        </p:nvSpPr>
        <p:spPr>
          <a:xfrm>
            <a:off x="11497773" y="1563624"/>
            <a:ext cx="365760" cy="182880"/>
          </a:xfrm>
          <a:prstGeom prst="rect">
            <a:avLst/>
          </a:prstGeom>
          <a:noFill/>
        </p:spPr>
        <p:txBody>
          <a:bodyPr wrap="square">
            <a:spAutoFit/>
          </a:bodyPr>
          <a:lstStyle/>
          <a:p>
            <a:pPr algn="l">
              <a:defRPr sz="750" b="1">
                <a:solidFill>
                  <a:srgbClr val="64748B"/>
                </a:solidFill>
                <a:latin typeface="Aptos"/>
              </a:defRPr>
            </a:pPr>
            <a:r>
              <a:t>W17</a:t>
            </a:r>
          </a:p>
        </p:txBody>
      </p:sp>
      <p:sp>
        <p:nvSpPr>
          <p:cNvPr id="25" name="TextBox 24"/>
          <p:cNvSpPr txBox="1"/>
          <p:nvPr/>
        </p:nvSpPr>
        <p:spPr>
          <a:xfrm>
            <a:off x="704088" y="2103120"/>
            <a:ext cx="2560320" cy="182880"/>
          </a:xfrm>
          <a:prstGeom prst="rect">
            <a:avLst/>
          </a:prstGeom>
          <a:noFill/>
        </p:spPr>
        <p:txBody>
          <a:bodyPr wrap="square">
            <a:spAutoFit/>
          </a:bodyPr>
          <a:lstStyle/>
          <a:p>
            <a:pPr algn="l">
              <a:defRPr sz="919" b="0">
                <a:solidFill>
                  <a:srgbClr val="0F172A"/>
                </a:solidFill>
                <a:latin typeface="Aptos"/>
              </a:defRPr>
            </a:pPr>
            <a:r>
              <a:t>Requirements Elicitation</a:t>
            </a:r>
          </a:p>
        </p:txBody>
      </p:sp>
      <p:sp>
        <p:nvSpPr>
          <p:cNvPr id="26" name="Rectangle 25"/>
          <p:cNvSpPr/>
          <p:nvPr/>
        </p:nvSpPr>
        <p:spPr>
          <a:xfrm>
            <a:off x="3337560" y="2048256"/>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37560" y="2112264"/>
            <a:ext cx="970877" cy="219456"/>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2542032"/>
            <a:ext cx="2560320" cy="182880"/>
          </a:xfrm>
          <a:prstGeom prst="rect">
            <a:avLst/>
          </a:prstGeom>
          <a:noFill/>
        </p:spPr>
        <p:txBody>
          <a:bodyPr wrap="square">
            <a:spAutoFit/>
          </a:bodyPr>
          <a:lstStyle/>
          <a:p>
            <a:pPr algn="l">
              <a:defRPr sz="919" b="0">
                <a:solidFill>
                  <a:srgbClr val="0F172A"/>
                </a:solidFill>
                <a:latin typeface="Aptos"/>
              </a:defRPr>
            </a:pPr>
            <a:r>
              <a:t>System Design &amp; Architecture</a:t>
            </a:r>
          </a:p>
        </p:txBody>
      </p:sp>
      <p:sp>
        <p:nvSpPr>
          <p:cNvPr id="29" name="Rectangle 28"/>
          <p:cNvSpPr/>
          <p:nvPr/>
        </p:nvSpPr>
        <p:spPr>
          <a:xfrm>
            <a:off x="3337560" y="2487168"/>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845858" y="2551176"/>
            <a:ext cx="1479176" cy="219456"/>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2980944"/>
            <a:ext cx="2560320" cy="182880"/>
          </a:xfrm>
          <a:prstGeom prst="rect">
            <a:avLst/>
          </a:prstGeom>
          <a:noFill/>
        </p:spPr>
        <p:txBody>
          <a:bodyPr wrap="square">
            <a:spAutoFit/>
          </a:bodyPr>
          <a:lstStyle/>
          <a:p>
            <a:pPr algn="l">
              <a:defRPr sz="919" b="0">
                <a:solidFill>
                  <a:srgbClr val="0F172A"/>
                </a:solidFill>
                <a:latin typeface="Aptos"/>
              </a:defRPr>
            </a:pPr>
            <a:r>
              <a:t>Sprint 1: Auth + DB Schema</a:t>
            </a:r>
          </a:p>
        </p:txBody>
      </p:sp>
      <p:sp>
        <p:nvSpPr>
          <p:cNvPr id="32" name="Rectangle 31"/>
          <p:cNvSpPr/>
          <p:nvPr/>
        </p:nvSpPr>
        <p:spPr>
          <a:xfrm>
            <a:off x="3337560" y="2926080"/>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862456" y="2990088"/>
            <a:ext cx="1479176" cy="21945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3419856"/>
            <a:ext cx="2560320" cy="182880"/>
          </a:xfrm>
          <a:prstGeom prst="rect">
            <a:avLst/>
          </a:prstGeom>
          <a:noFill/>
        </p:spPr>
        <p:txBody>
          <a:bodyPr wrap="square">
            <a:spAutoFit/>
          </a:bodyPr>
          <a:lstStyle/>
          <a:p>
            <a:pPr algn="l">
              <a:defRPr sz="919" b="0">
                <a:solidFill>
                  <a:srgbClr val="0F172A"/>
                </a:solidFill>
                <a:latin typeface="Aptos"/>
              </a:defRPr>
            </a:pPr>
            <a:r>
              <a:t>Sprint 2: Booking + Slots + FCM</a:t>
            </a:r>
          </a:p>
        </p:txBody>
      </p:sp>
      <p:sp>
        <p:nvSpPr>
          <p:cNvPr id="35" name="Rectangle 34"/>
          <p:cNvSpPr/>
          <p:nvPr/>
        </p:nvSpPr>
        <p:spPr>
          <a:xfrm>
            <a:off x="3337560" y="3364992"/>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79054" y="3429000"/>
            <a:ext cx="1987475" cy="219456"/>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8" y="3858768"/>
            <a:ext cx="2560320" cy="182880"/>
          </a:xfrm>
          <a:prstGeom prst="rect">
            <a:avLst/>
          </a:prstGeom>
          <a:noFill/>
        </p:spPr>
        <p:txBody>
          <a:bodyPr wrap="square">
            <a:spAutoFit/>
          </a:bodyPr>
          <a:lstStyle/>
          <a:p>
            <a:pPr algn="l">
              <a:defRPr sz="919" b="0">
                <a:solidFill>
                  <a:srgbClr val="0F172A"/>
                </a:solidFill>
                <a:latin typeface="Aptos"/>
              </a:defRPr>
            </a:pPr>
            <a:r>
              <a:t>Sprint 3: Chat + Video + AI</a:t>
            </a:r>
          </a:p>
        </p:txBody>
      </p:sp>
      <p:sp>
        <p:nvSpPr>
          <p:cNvPr id="38" name="Rectangle 37"/>
          <p:cNvSpPr/>
          <p:nvPr/>
        </p:nvSpPr>
        <p:spPr>
          <a:xfrm>
            <a:off x="3337560" y="3803904"/>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403950" y="3867912"/>
            <a:ext cx="1987475" cy="219456"/>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4297679"/>
            <a:ext cx="2560320" cy="182880"/>
          </a:xfrm>
          <a:prstGeom prst="rect">
            <a:avLst/>
          </a:prstGeom>
          <a:noFill/>
        </p:spPr>
        <p:txBody>
          <a:bodyPr wrap="square">
            <a:spAutoFit/>
          </a:bodyPr>
          <a:lstStyle/>
          <a:p>
            <a:pPr algn="l">
              <a:defRPr sz="919" b="0">
                <a:solidFill>
                  <a:srgbClr val="0F172A"/>
                </a:solidFill>
                <a:latin typeface="Aptos"/>
              </a:defRPr>
            </a:pPr>
            <a:r>
              <a:t>Sprint 4: Records + Ratings</a:t>
            </a:r>
          </a:p>
        </p:txBody>
      </p:sp>
      <p:sp>
        <p:nvSpPr>
          <p:cNvPr id="41" name="Rectangle 40"/>
          <p:cNvSpPr/>
          <p:nvPr/>
        </p:nvSpPr>
        <p:spPr>
          <a:xfrm>
            <a:off x="3337560" y="4242816"/>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928847" y="4306824"/>
            <a:ext cx="1479176" cy="219456"/>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 y="4736592"/>
            <a:ext cx="2560320" cy="182880"/>
          </a:xfrm>
          <a:prstGeom prst="rect">
            <a:avLst/>
          </a:prstGeom>
          <a:noFill/>
        </p:spPr>
        <p:txBody>
          <a:bodyPr wrap="square">
            <a:spAutoFit/>
          </a:bodyPr>
          <a:lstStyle/>
          <a:p>
            <a:pPr algn="l">
              <a:defRPr sz="919" b="0">
                <a:solidFill>
                  <a:srgbClr val="0F172A"/>
                </a:solidFill>
                <a:latin typeface="Aptos"/>
              </a:defRPr>
            </a:pPr>
            <a:r>
              <a:t>Testing &amp; Bug Fixes</a:t>
            </a:r>
          </a:p>
        </p:txBody>
      </p:sp>
      <p:sp>
        <p:nvSpPr>
          <p:cNvPr id="44" name="Rectangle 43"/>
          <p:cNvSpPr/>
          <p:nvPr/>
        </p:nvSpPr>
        <p:spPr>
          <a:xfrm>
            <a:off x="3337560" y="4681728"/>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945444" y="4745736"/>
            <a:ext cx="1479176" cy="219456"/>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 y="5175504"/>
            <a:ext cx="2560320" cy="182880"/>
          </a:xfrm>
          <a:prstGeom prst="rect">
            <a:avLst/>
          </a:prstGeom>
          <a:noFill/>
        </p:spPr>
        <p:txBody>
          <a:bodyPr wrap="square">
            <a:spAutoFit/>
          </a:bodyPr>
          <a:lstStyle/>
          <a:p>
            <a:pPr algn="l">
              <a:defRPr sz="919" b="0">
                <a:solidFill>
                  <a:srgbClr val="0F172A"/>
                </a:solidFill>
                <a:latin typeface="Aptos"/>
              </a:defRPr>
            </a:pPr>
            <a:r>
              <a:t>Deployment &amp; Documentation</a:t>
            </a:r>
          </a:p>
        </p:txBody>
      </p:sp>
      <p:sp>
        <p:nvSpPr>
          <p:cNvPr id="47" name="Rectangle 46"/>
          <p:cNvSpPr/>
          <p:nvPr/>
        </p:nvSpPr>
        <p:spPr>
          <a:xfrm>
            <a:off x="3337560" y="5120640"/>
            <a:ext cx="8641080" cy="914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962042" y="5184648"/>
            <a:ext cx="970877" cy="219456"/>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444752"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17904" y="5833872"/>
            <a:ext cx="1965960" cy="137160"/>
          </a:xfrm>
          <a:prstGeom prst="rect">
            <a:avLst/>
          </a:prstGeom>
          <a:noFill/>
        </p:spPr>
        <p:txBody>
          <a:bodyPr wrap="square">
            <a:spAutoFit/>
          </a:bodyPr>
          <a:lstStyle/>
          <a:p>
            <a:pPr algn="ctr">
              <a:defRPr sz="819" b="1">
                <a:solidFill>
                  <a:srgbClr val="0284C7"/>
                </a:solidFill>
                <a:latin typeface="Aptos"/>
              </a:defRPr>
            </a:pPr>
            <a:r>
              <a:t>M1: Design Complete</a:t>
            </a:r>
          </a:p>
        </p:txBody>
      </p:sp>
      <p:sp>
        <p:nvSpPr>
          <p:cNvPr id="51" name="Rounded Rectangle 50"/>
          <p:cNvSpPr/>
          <p:nvPr/>
        </p:nvSpPr>
        <p:spPr>
          <a:xfrm>
            <a:off x="3372307"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45459" y="5833872"/>
            <a:ext cx="1965960" cy="137160"/>
          </a:xfrm>
          <a:prstGeom prst="rect">
            <a:avLst/>
          </a:prstGeom>
          <a:noFill/>
        </p:spPr>
        <p:txBody>
          <a:bodyPr wrap="square">
            <a:spAutoFit/>
          </a:bodyPr>
          <a:lstStyle/>
          <a:p>
            <a:pPr algn="ctr">
              <a:defRPr sz="819" b="1">
                <a:solidFill>
                  <a:srgbClr val="0284C7"/>
                </a:solidFill>
                <a:latin typeface="Aptos"/>
              </a:defRPr>
            </a:pPr>
            <a:r>
              <a:t>M2: MVP Release</a:t>
            </a:r>
          </a:p>
        </p:txBody>
      </p:sp>
      <p:sp>
        <p:nvSpPr>
          <p:cNvPr id="53" name="Rounded Rectangle 52"/>
          <p:cNvSpPr/>
          <p:nvPr/>
        </p:nvSpPr>
        <p:spPr>
          <a:xfrm>
            <a:off x="6170371"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43523" y="5833872"/>
            <a:ext cx="1965960" cy="137160"/>
          </a:xfrm>
          <a:prstGeom prst="rect">
            <a:avLst/>
          </a:prstGeom>
          <a:noFill/>
        </p:spPr>
        <p:txBody>
          <a:bodyPr wrap="square">
            <a:spAutoFit/>
          </a:bodyPr>
          <a:lstStyle/>
          <a:p>
            <a:pPr algn="ctr">
              <a:defRPr sz="819" b="1">
                <a:solidFill>
                  <a:srgbClr val="0284C7"/>
                </a:solidFill>
                <a:latin typeface="Aptos"/>
              </a:defRPr>
            </a:pPr>
            <a:r>
              <a:t>M3: Feature Complete</a:t>
            </a:r>
          </a:p>
        </p:txBody>
      </p:sp>
      <p:sp>
        <p:nvSpPr>
          <p:cNvPr id="55" name="Rounded Rectangle 54"/>
          <p:cNvSpPr/>
          <p:nvPr/>
        </p:nvSpPr>
        <p:spPr>
          <a:xfrm>
            <a:off x="8719718" y="5715000"/>
            <a:ext cx="2148840" cy="41148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92870" y="5833872"/>
            <a:ext cx="1965960" cy="137160"/>
          </a:xfrm>
          <a:prstGeom prst="rect">
            <a:avLst/>
          </a:prstGeom>
          <a:noFill/>
        </p:spPr>
        <p:txBody>
          <a:bodyPr wrap="square">
            <a:spAutoFit/>
          </a:bodyPr>
          <a:lstStyle/>
          <a:p>
            <a:pPr algn="ctr">
              <a:defRPr sz="819" b="1">
                <a:solidFill>
                  <a:srgbClr val="0284C7"/>
                </a:solidFill>
                <a:latin typeface="Aptos"/>
              </a:defRPr>
            </a:pPr>
            <a:r>
              <a:t>M4: Final Deployment</a:t>
            </a:r>
          </a:p>
        </p:txBody>
      </p:sp>
      <p:sp>
        <p:nvSpPr>
          <p:cNvPr id="57" name="TextBox 5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58" name="TextBox 5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Risk Analysis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Important risks and mitigations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Network Failure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Cache records and keep UI from clearing existing data when refresh fails.</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Double Booking</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Use database transactions and slot status checks before appointment creation.</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File Access Issues</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Use MinIO bucket policies and backend-generated view URLs correctly.</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Notification Failure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Store FCM tokens and handle missing/expired tokens without crashing.</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Video Call Instability</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Use WebRTC signalling and controlled room joining behaviour.</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Data Privacy</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Protect APIs with JWT and keep only required medical/file metadata in the database.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Results and Achievements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the project delivers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10515600" cy="4389120"/>
          </a:xfrm>
          <a:prstGeom prst="rect">
            <a:avLst/>
          </a:prstGeom>
          <a:noFill/>
        </p:spPr>
        <p:txBody>
          <a:bodyPr wrap="square">
            <a:spAutoFit/>
          </a:bodyPr>
          <a:lstStyle/>
          <a:p>
            <a:pPr>
              <a:spcAft>
                <a:spcPts val="700"/>
              </a:spcAft>
              <a:defRPr sz="1600">
                <a:solidFill>
                  <a:srgbClr val="0F172A"/>
                </a:solidFill>
                <a:latin typeface="Aptos"/>
              </a:defRPr>
            </a:pPr>
            <a:r>
              <a:t>• A working Android healthcare application with separate patient and doctor workflows.</a:t>
            </a:r>
          </a:p>
          <a:p>
            <a:pPr>
              <a:spcAft>
                <a:spcPts val="700"/>
              </a:spcAft>
              <a:defRPr sz="1600">
                <a:solidFill>
                  <a:srgbClr val="0F172A"/>
                </a:solidFill>
                <a:latin typeface="Aptos"/>
              </a:defRPr>
            </a:pPr>
            <a:r>
              <a:t>• End-to-end appointment booking from doctor slot creation to patient appointment details.</a:t>
            </a:r>
          </a:p>
          <a:p>
            <a:pPr>
              <a:spcAft>
                <a:spcPts val="700"/>
              </a:spcAft>
              <a:defRPr sz="1600">
                <a:solidFill>
                  <a:srgbClr val="0F172A"/>
                </a:solidFill>
                <a:latin typeface="Aptos"/>
              </a:defRPr>
            </a:pPr>
            <a:r>
              <a:t>• Real-time chat, file sharing, medical records, and notification support.</a:t>
            </a:r>
          </a:p>
          <a:p>
            <a:pPr>
              <a:spcAft>
                <a:spcPts val="700"/>
              </a:spcAft>
              <a:defRPr sz="1600">
                <a:solidFill>
                  <a:srgbClr val="0F172A"/>
                </a:solidFill>
                <a:latin typeface="Aptos"/>
              </a:defRPr>
            </a:pPr>
            <a:r>
              <a:t>• Clinic location selection and map display for offline consultations.</a:t>
            </a:r>
          </a:p>
          <a:p>
            <a:pPr>
              <a:spcAft>
                <a:spcPts val="700"/>
              </a:spcAft>
              <a:defRPr sz="1600">
                <a:solidFill>
                  <a:srgbClr val="0F172A"/>
                </a:solidFill>
                <a:latin typeface="Aptos"/>
              </a:defRPr>
            </a:pPr>
            <a:r>
              <a:t>• AI assistant screen for health questions and report/image analysis support.</a:t>
            </a:r>
          </a:p>
          <a:p>
            <a:pPr>
              <a:spcAft>
                <a:spcPts val="700"/>
              </a:spcAft>
              <a:defRPr sz="1600">
                <a:solidFill>
                  <a:srgbClr val="0F172A"/>
                </a:solidFill>
                <a:latin typeface="Aptos"/>
              </a:defRPr>
            </a:pPr>
            <a:r>
              <a:t>• Backend deployment with PostgreSQL, Redis, MinIO, WebSockets, and PM2 process management.</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Conclusion and Future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Final summary and possible improvements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71600"/>
            <a:ext cx="544068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64208"/>
            <a:ext cx="2743200" cy="320040"/>
          </a:xfrm>
          <a:prstGeom prst="rect">
            <a:avLst/>
          </a:prstGeom>
          <a:noFill/>
        </p:spPr>
        <p:txBody>
          <a:bodyPr wrap="square">
            <a:spAutoFit/>
          </a:bodyPr>
          <a:lstStyle/>
          <a:p>
            <a:pPr algn="l">
              <a:defRPr sz="1800" b="1">
                <a:solidFill>
                  <a:srgbClr val="0EA5E9"/>
                </a:solidFill>
                <a:latin typeface="Aptos"/>
              </a:defRPr>
            </a:pPr>
            <a:r>
              <a:t>Conclusion</a:t>
            </a:r>
          </a:p>
        </p:txBody>
      </p:sp>
      <p:sp>
        <p:nvSpPr>
          <p:cNvPr id="8" name="TextBox 7"/>
          <p:cNvSpPr txBox="1"/>
          <p:nvPr/>
        </p:nvSpPr>
        <p:spPr>
          <a:xfrm>
            <a:off x="1051560" y="2148840"/>
            <a:ext cx="4800600" cy="2560320"/>
          </a:xfrm>
          <a:prstGeom prst="rect">
            <a:avLst/>
          </a:prstGeom>
          <a:noFill/>
        </p:spPr>
        <p:txBody>
          <a:bodyPr wrap="square">
            <a:spAutoFit/>
          </a:bodyPr>
          <a:lstStyle/>
          <a:p>
            <a:pPr algn="l">
              <a:defRPr sz="1350" b="0">
                <a:solidFill>
                  <a:srgbClr val="0F172A"/>
                </a:solidFill>
                <a:latin typeface="Aptos"/>
              </a:defRPr>
            </a:pPr>
            <a:r>
              <a:t>MediSync successfully demonstrates how a mobile healthcare platform can combine appointment management, doctor-patient communication, medical record storage, and AI assistance in a single workflow. The project applies software engineering principles through modular design, layered architecture, scenario-based testing, and deployment-ready backend services.</a:t>
            </a:r>
          </a:p>
        </p:txBody>
      </p:sp>
      <p:sp>
        <p:nvSpPr>
          <p:cNvPr id="9" name="Rounded Rectangle 8"/>
          <p:cNvSpPr/>
          <p:nvPr/>
        </p:nvSpPr>
        <p:spPr>
          <a:xfrm>
            <a:off x="6446520" y="1371600"/>
            <a:ext cx="507492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664208"/>
            <a:ext cx="2743200" cy="320040"/>
          </a:xfrm>
          <a:prstGeom prst="rect">
            <a:avLst/>
          </a:prstGeom>
          <a:noFill/>
        </p:spPr>
        <p:txBody>
          <a:bodyPr wrap="square">
            <a:spAutoFit/>
          </a:bodyPr>
          <a:lstStyle/>
          <a:p>
            <a:pPr algn="l">
              <a:defRPr sz="1800" b="1">
                <a:solidFill>
                  <a:srgbClr val="10B981"/>
                </a:solidFill>
                <a:latin typeface="Aptos"/>
              </a:defRPr>
            </a:pPr>
            <a:r>
              <a:t>Future Scope</a:t>
            </a:r>
          </a:p>
        </p:txBody>
      </p:sp>
      <p:sp>
        <p:nvSpPr>
          <p:cNvPr id="11" name="TextBox 10"/>
          <p:cNvSpPr txBox="1"/>
          <p:nvPr/>
        </p:nvSpPr>
        <p:spPr>
          <a:xfrm>
            <a:off x="6720840" y="2148840"/>
            <a:ext cx="4480560" cy="3200400"/>
          </a:xfrm>
          <a:prstGeom prst="rect">
            <a:avLst/>
          </a:prstGeom>
          <a:noFill/>
        </p:spPr>
        <p:txBody>
          <a:bodyPr wrap="square">
            <a:spAutoFit/>
          </a:bodyPr>
          <a:lstStyle/>
          <a:p>
            <a:pPr>
              <a:spcAft>
                <a:spcPts val="700"/>
              </a:spcAft>
              <a:defRPr sz="1280">
                <a:solidFill>
                  <a:srgbClr val="0F172A"/>
                </a:solidFill>
                <a:latin typeface="Aptos"/>
              </a:defRPr>
            </a:pPr>
            <a:r>
              <a:t>• Payment gateway integration</a:t>
            </a:r>
          </a:p>
          <a:p>
            <a:pPr>
              <a:spcAft>
                <a:spcPts val="700"/>
              </a:spcAft>
              <a:defRPr sz="1280">
                <a:solidFill>
                  <a:srgbClr val="0F172A"/>
                </a:solidFill>
                <a:latin typeface="Aptos"/>
              </a:defRPr>
            </a:pPr>
            <a:r>
              <a:t>• E-prescription support</a:t>
            </a:r>
          </a:p>
          <a:p>
            <a:pPr>
              <a:spcAft>
                <a:spcPts val="700"/>
              </a:spcAft>
              <a:defRPr sz="1280">
                <a:solidFill>
                  <a:srgbClr val="0F172A"/>
                </a:solidFill>
                <a:latin typeface="Aptos"/>
              </a:defRPr>
            </a:pPr>
            <a:r>
              <a:t>• Advanced analytics for doctors</a:t>
            </a:r>
          </a:p>
          <a:p>
            <a:pPr>
              <a:spcAft>
                <a:spcPts val="700"/>
              </a:spcAft>
              <a:defRPr sz="1280">
                <a:solidFill>
                  <a:srgbClr val="0F172A"/>
                </a:solidFill>
                <a:latin typeface="Aptos"/>
              </a:defRPr>
            </a:pPr>
            <a:r>
              <a:t>• Improved video call PiP behaviour</a:t>
            </a:r>
          </a:p>
          <a:p>
            <a:pPr>
              <a:spcAft>
                <a:spcPts val="700"/>
              </a:spcAft>
              <a:defRPr sz="1280">
                <a:solidFill>
                  <a:srgbClr val="0F172A"/>
                </a:solidFill>
                <a:latin typeface="Aptos"/>
              </a:defRPr>
            </a:pPr>
            <a:r>
              <a:t>• Hospital/clinic admin dashboard</a:t>
            </a:r>
          </a:p>
          <a:p>
            <a:pPr>
              <a:spcAft>
                <a:spcPts val="700"/>
              </a:spcAft>
              <a:defRPr sz="1280">
                <a:solidFill>
                  <a:srgbClr val="0F172A"/>
                </a:solidFill>
                <a:latin typeface="Aptos"/>
              </a:defRPr>
            </a:pPr>
            <a:r>
              <a:t>• More secure AI workflow through backend proxy</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8229600" cy="411480"/>
          </a:xfrm>
          <a:prstGeom prst="rect">
            <a:avLst/>
          </a:prstGeom>
          <a:noFill/>
        </p:spPr>
        <p:txBody>
          <a:bodyPr wrap="square">
            <a:spAutoFit/>
          </a:bodyPr>
          <a:lstStyle/>
          <a:p>
            <a:pPr algn="l">
              <a:defRPr sz="2500" b="1">
                <a:solidFill>
                  <a:srgbClr val="0F172A"/>
                </a:solidFill>
                <a:latin typeface="Aptos"/>
              </a:defRPr>
            </a:pPr>
            <a:r>
              <a:t>LOC Estimation</a:t>
            </a:r>
          </a:p>
        </p:txBody>
      </p:sp>
      <p:sp>
        <p:nvSpPr>
          <p:cNvPr id="4" name="TextBox 3"/>
          <p:cNvSpPr txBox="1"/>
          <p:nvPr/>
        </p:nvSpPr>
        <p:spPr>
          <a:xfrm>
            <a:off x="612648" y="841248"/>
            <a:ext cx="8595360" cy="274320"/>
          </a:xfrm>
          <a:prstGeom prst="rect">
            <a:avLst/>
          </a:prstGeom>
          <a:noFill/>
        </p:spPr>
        <p:txBody>
          <a:bodyPr wrap="square">
            <a:spAutoFit/>
          </a:bodyPr>
          <a:lstStyle/>
          <a:p>
            <a:pPr algn="l">
              <a:defRPr sz="1050" b="0">
                <a:solidFill>
                  <a:srgbClr val="64748B"/>
                </a:solidFill>
                <a:latin typeface="Aptos"/>
              </a:defRPr>
            </a:pPr>
            <a:r>
              <a:t>Lines of Code estimation using SE course formula</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943600" cy="292608"/>
          </a:xfrm>
          <a:prstGeom prst="rect">
            <a:avLst/>
          </a:prstGeom>
          <a:noFill/>
        </p:spPr>
        <p:txBody>
          <a:bodyPr wrap="square">
            <a:spAutoFit/>
          </a:bodyPr>
          <a:lstStyle/>
          <a:p>
            <a:pPr algn="l">
              <a:defRPr sz="1400" b="1">
                <a:solidFill>
                  <a:srgbClr val="0284C7"/>
                </a:solidFill>
                <a:latin typeface="Aptos"/>
              </a:defRPr>
            </a:pPr>
            <a:r>
              <a:t>Formula: S = (Sopt + 4 × Sm + Spess) / 6</a:t>
            </a:r>
          </a:p>
        </p:txBody>
      </p:sp>
      <p:graphicFrame>
        <p:nvGraphicFramePr>
          <p:cNvPr id="7" name="Table 6"/>
          <p:cNvGraphicFramePr>
            <a:graphicFrameLocks noGrp="1"/>
          </p:cNvGraphicFramePr>
          <p:nvPr/>
        </p:nvGraphicFramePr>
        <p:xfrm>
          <a:off x="502920" y="1691640"/>
          <a:ext cx="8823960" cy="3977639"/>
        </p:xfrm>
        <a:graphic>
          <a:graphicData uri="http://schemas.openxmlformats.org/drawingml/2006/table">
            <a:tbl>
              <a:tblPr firstRow="1" bandRow="1">
                <a:tableStyleId>{5C22544A-7EE6-4342-B048-85BDC9FD1C3A}</a:tableStyleId>
              </a:tblPr>
              <a:tblGrid>
                <a:gridCol w="1325880"/>
                <a:gridCol w="2834640"/>
                <a:gridCol w="1143000"/>
                <a:gridCol w="1143000"/>
                <a:gridCol w="1143000"/>
                <a:gridCol w="1234440"/>
              </a:tblGrid>
              <a:tr h="305972">
                <a:tc>
                  <a:txBody>
                    <a:bodyPr/>
                    <a:lstStyle/>
                    <a:p>
                      <a:pPr>
                        <a:defRPr b="1" sz="850">
                          <a:solidFill>
                            <a:srgbClr val="FFFFFF"/>
                          </a:solidFill>
                        </a:defRPr>
                      </a:pPr>
                      <a:r>
                        <a:t>Module</a:t>
                      </a:r>
                    </a:p>
                  </a:txBody>
                  <a:tcPr>
                    <a:solidFill>
                      <a:srgbClr val="0EA5E9"/>
                    </a:solidFill>
                  </a:tcPr>
                </a:tc>
                <a:tc>
                  <a:txBody>
                    <a:bodyPr/>
                    <a:lstStyle/>
                    <a:p>
                      <a:pPr>
                        <a:defRPr b="1" sz="850">
                          <a:solidFill>
                            <a:srgbClr val="FFFFFF"/>
                          </a:solidFill>
                        </a:defRPr>
                      </a:pPr>
                      <a:r>
                        <a:t>Component</a:t>
                      </a:r>
                    </a:p>
                  </a:txBody>
                  <a:tcPr>
                    <a:solidFill>
                      <a:srgbClr val="0EA5E9"/>
                    </a:solidFill>
                  </a:tcPr>
                </a:tc>
                <a:tc>
                  <a:txBody>
                    <a:bodyPr/>
                    <a:lstStyle/>
                    <a:p>
                      <a:pPr>
                        <a:defRPr b="1" sz="850">
                          <a:solidFill>
                            <a:srgbClr val="FFFFFF"/>
                          </a:solidFill>
                        </a:defRPr>
                      </a:pPr>
                      <a:r>
                        <a:t>Optimistic</a:t>
                      </a:r>
                    </a:p>
                  </a:txBody>
                  <a:tcPr>
                    <a:solidFill>
                      <a:srgbClr val="0EA5E9"/>
                    </a:solidFill>
                  </a:tcPr>
                </a:tc>
                <a:tc>
                  <a:txBody>
                    <a:bodyPr/>
                    <a:lstStyle/>
                    <a:p>
                      <a:pPr>
                        <a:defRPr b="1" sz="850">
                          <a:solidFill>
                            <a:srgbClr val="FFFFFF"/>
                          </a:solidFill>
                        </a:defRPr>
                      </a:pPr>
                      <a:r>
                        <a:t>Most Likely</a:t>
                      </a:r>
                    </a:p>
                  </a:txBody>
                  <a:tcPr>
                    <a:solidFill>
                      <a:srgbClr val="0EA5E9"/>
                    </a:solidFill>
                  </a:tcPr>
                </a:tc>
                <a:tc>
                  <a:txBody>
                    <a:bodyPr/>
                    <a:lstStyle/>
                    <a:p>
                      <a:pPr>
                        <a:defRPr b="1" sz="850">
                          <a:solidFill>
                            <a:srgbClr val="FFFFFF"/>
                          </a:solidFill>
                        </a:defRPr>
                      </a:pPr>
                      <a:r>
                        <a:t>Pessimistic</a:t>
                      </a:r>
                    </a:p>
                  </a:txBody>
                  <a:tcPr>
                    <a:solidFill>
                      <a:srgbClr val="0EA5E9"/>
                    </a:solidFill>
                  </a:tcPr>
                </a:tc>
                <a:tc>
                  <a:txBody>
                    <a:bodyPr/>
                    <a:lstStyle/>
                    <a:p>
                      <a:pPr>
                        <a:defRPr b="1" sz="850">
                          <a:solidFill>
                            <a:srgbClr val="FFFFFF"/>
                          </a:solidFill>
                        </a:defRPr>
                      </a:pPr>
                      <a:r>
                        <a:t>Estimated LOC</a:t>
                      </a:r>
                    </a:p>
                  </a:txBody>
                  <a:tcPr>
                    <a:solidFill>
                      <a:srgbClr val="0EA5E9"/>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Auth + Onboarding</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1100</a:t>
                      </a:r>
                    </a:p>
                  </a:txBody>
                  <a:tcPr>
                    <a:solidFill>
                      <a:srgbClr val="FFFFFF"/>
                    </a:solidFill>
                  </a:tcPr>
                </a:tc>
                <a:tc>
                  <a:txBody>
                    <a:bodyPr/>
                    <a:lstStyle/>
                    <a:p>
                      <a:pPr>
                        <a:defRPr sz="740">
                          <a:solidFill>
                            <a:srgbClr val="0F172A"/>
                          </a:solidFill>
                        </a:defRPr>
                      </a:pPr>
                      <a:r>
                        <a:t>817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Patient Module</a:t>
                      </a:r>
                    </a:p>
                  </a:txBody>
                  <a:tcPr>
                    <a:solidFill>
                      <a:srgbClr val="F8FAFC"/>
                    </a:solidFill>
                  </a:tcPr>
                </a:tc>
                <a:tc>
                  <a:txBody>
                    <a:bodyPr/>
                    <a:lstStyle/>
                    <a:p>
                      <a:pPr>
                        <a:defRPr sz="740">
                          <a:solidFill>
                            <a:srgbClr val="0F172A"/>
                          </a:solidFill>
                        </a:defRPr>
                      </a:pPr>
                      <a:r>
                        <a:t>900</a:t>
                      </a:r>
                    </a:p>
                  </a:txBody>
                  <a:tcPr>
                    <a:solidFill>
                      <a:srgbClr val="F8FAFC"/>
                    </a:solidFill>
                  </a:tcPr>
                </a:tc>
                <a:tc>
                  <a:txBody>
                    <a:bodyPr/>
                    <a:lstStyle/>
                    <a:p>
                      <a:pPr>
                        <a:defRPr sz="740">
                          <a:solidFill>
                            <a:srgbClr val="0F172A"/>
                          </a:solidFill>
                        </a:defRPr>
                      </a:pPr>
                      <a:r>
                        <a:t>1300</a:t>
                      </a:r>
                    </a:p>
                  </a:txBody>
                  <a:tcPr>
                    <a:solidFill>
                      <a:srgbClr val="F8FAFC"/>
                    </a:solidFill>
                  </a:tcPr>
                </a:tc>
                <a:tc>
                  <a:txBody>
                    <a:bodyPr/>
                    <a:lstStyle/>
                    <a:p>
                      <a:pPr>
                        <a:defRPr sz="740">
                          <a:solidFill>
                            <a:srgbClr val="0F172A"/>
                          </a:solidFill>
                        </a:defRPr>
                      </a:pPr>
                      <a:r>
                        <a:t>1700</a:t>
                      </a:r>
                    </a:p>
                  </a:txBody>
                  <a:tcPr>
                    <a:solidFill>
                      <a:srgbClr val="F8FAFC"/>
                    </a:solidFill>
                  </a:tcPr>
                </a:tc>
                <a:tc>
                  <a:txBody>
                    <a:bodyPr/>
                    <a:lstStyle/>
                    <a:p>
                      <a:pPr>
                        <a:defRPr sz="740">
                          <a:solidFill>
                            <a:srgbClr val="0F172A"/>
                          </a:solidFill>
                        </a:defRPr>
                      </a:pPr>
                      <a:r>
                        <a:t>1300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Doctor Module</a:t>
                      </a:r>
                    </a:p>
                  </a:txBody>
                  <a:tcPr>
                    <a:solidFill>
                      <a:srgbClr val="FFFFFF"/>
                    </a:solidFill>
                  </a:tcPr>
                </a:tc>
                <a:tc>
                  <a:txBody>
                    <a:bodyPr/>
                    <a:lstStyle/>
                    <a:p>
                      <a:pPr>
                        <a:defRPr sz="740">
                          <a:solidFill>
                            <a:srgbClr val="0F172A"/>
                          </a:solidFill>
                        </a:defRPr>
                      </a:pPr>
                      <a:r>
                        <a:t>700</a:t>
                      </a:r>
                    </a:p>
                  </a:txBody>
                  <a:tcPr>
                    <a:solidFill>
                      <a:srgbClr val="FFFFFF"/>
                    </a:solidFill>
                  </a:tcPr>
                </a:tc>
                <a:tc>
                  <a:txBody>
                    <a:bodyPr/>
                    <a:lstStyle/>
                    <a:p>
                      <a:pPr>
                        <a:defRPr sz="740">
                          <a:solidFill>
                            <a:srgbClr val="0F172A"/>
                          </a:solidFill>
                        </a:defRPr>
                      </a:pPr>
                      <a:r>
                        <a:t>1000</a:t>
                      </a:r>
                    </a:p>
                  </a:txBody>
                  <a:tcPr>
                    <a:solidFill>
                      <a:srgbClr val="FFFFFF"/>
                    </a:solidFill>
                  </a:tcPr>
                </a:tc>
                <a:tc>
                  <a:txBody>
                    <a:bodyPr/>
                    <a:lstStyle/>
                    <a:p>
                      <a:pPr>
                        <a:defRPr sz="740">
                          <a:solidFill>
                            <a:srgbClr val="0F172A"/>
                          </a:solidFill>
                        </a:defRPr>
                      </a:pPr>
                      <a:r>
                        <a:t>1400</a:t>
                      </a:r>
                    </a:p>
                  </a:txBody>
                  <a:tcPr>
                    <a:solidFill>
                      <a:srgbClr val="FFFFFF"/>
                    </a:solidFill>
                  </a:tcPr>
                </a:tc>
                <a:tc>
                  <a:txBody>
                    <a:bodyPr/>
                    <a:lstStyle/>
                    <a:p>
                      <a:pPr>
                        <a:defRPr sz="740">
                          <a:solidFill>
                            <a:srgbClr val="0F172A"/>
                          </a:solidFill>
                        </a:defRPr>
                      </a:pPr>
                      <a:r>
                        <a:t>1017</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Chat + Video UI</a:t>
                      </a:r>
                    </a:p>
                  </a:txBody>
                  <a:tcPr>
                    <a:solidFill>
                      <a:srgbClr val="F8FAFC"/>
                    </a:solidFill>
                  </a:tcPr>
                </a:tc>
                <a:tc>
                  <a:txBody>
                    <a:bodyPr/>
                    <a:lstStyle/>
                    <a:p>
                      <a:pPr>
                        <a:defRPr sz="740">
                          <a:solidFill>
                            <a:srgbClr val="0F172A"/>
                          </a:solidFill>
                        </a:defRPr>
                      </a:pPr>
                      <a:r>
                        <a:t>800</a:t>
                      </a:r>
                    </a:p>
                  </a:txBody>
                  <a:tcPr>
                    <a:solidFill>
                      <a:srgbClr val="F8FAFC"/>
                    </a:solidFill>
                  </a:tcPr>
                </a:tc>
                <a:tc>
                  <a:txBody>
                    <a:bodyPr/>
                    <a:lstStyle/>
                    <a:p>
                      <a:pPr>
                        <a:defRPr sz="740">
                          <a:solidFill>
                            <a:srgbClr val="0F172A"/>
                          </a:solidFill>
                        </a:defRPr>
                      </a:pPr>
                      <a:r>
                        <a:t>1200</a:t>
                      </a:r>
                    </a:p>
                  </a:txBody>
                  <a:tcPr>
                    <a:solidFill>
                      <a:srgbClr val="F8FAFC"/>
                    </a:solidFill>
                  </a:tcPr>
                </a:tc>
                <a:tc>
                  <a:txBody>
                    <a:bodyPr/>
                    <a:lstStyle/>
                    <a:p>
                      <a:pPr>
                        <a:defRPr sz="740">
                          <a:solidFill>
                            <a:srgbClr val="0F172A"/>
                          </a:solidFill>
                        </a:defRPr>
                      </a:pPr>
                      <a:r>
                        <a:t>1600</a:t>
                      </a:r>
                    </a:p>
                  </a:txBody>
                  <a:tcPr>
                    <a:solidFill>
                      <a:srgbClr val="F8FAFC"/>
                    </a:solidFill>
                  </a:tcPr>
                </a:tc>
                <a:tc>
                  <a:txBody>
                    <a:bodyPr/>
                    <a:lstStyle/>
                    <a:p>
                      <a:pPr>
                        <a:defRPr sz="740">
                          <a:solidFill>
                            <a:srgbClr val="0F172A"/>
                          </a:solidFill>
                        </a:defRPr>
                      </a:pPr>
                      <a:r>
                        <a:t>1200</a:t>
                      </a:r>
                    </a:p>
                  </a:txBody>
                  <a:tcPr>
                    <a:solidFill>
                      <a:srgbClr val="F8FAFC"/>
                    </a:solidFill>
                  </a:tcPr>
                </a:tc>
              </a:tr>
              <a:tr h="305972">
                <a:tc>
                  <a:txBody>
                    <a:bodyPr/>
                    <a:lstStyle/>
                    <a:p>
                      <a:pPr>
                        <a:defRPr sz="740">
                          <a:solidFill>
                            <a:srgbClr val="0F172A"/>
                          </a:solidFill>
                        </a:defRPr>
                      </a:pPr>
                      <a:r>
                        <a:t>Android App</a:t>
                      </a:r>
                    </a:p>
                  </a:txBody>
                  <a:tcPr>
                    <a:solidFill>
                      <a:srgbClr val="FFFFFF"/>
                    </a:solidFill>
                  </a:tcPr>
                </a:tc>
                <a:tc>
                  <a:txBody>
                    <a:bodyPr/>
                    <a:lstStyle/>
                    <a:p>
                      <a:pPr>
                        <a:defRPr sz="740">
                          <a:solidFill>
                            <a:srgbClr val="0F172A"/>
                          </a:solidFill>
                        </a:defRPr>
                      </a:pPr>
                      <a:r>
                        <a:t>AI Chat + Records UI</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900</a:t>
                      </a:r>
                    </a:p>
                  </a:txBody>
                  <a:tcPr>
                    <a:solidFill>
                      <a:srgbClr val="FFFFFF"/>
                    </a:solidFill>
                  </a:tcPr>
                </a:tc>
                <a:tc>
                  <a:txBody>
                    <a:bodyPr/>
                    <a:lstStyle/>
                    <a:p>
                      <a:pPr>
                        <a:defRPr sz="740">
                          <a:solidFill>
                            <a:srgbClr val="0F172A"/>
                          </a:solidFill>
                        </a:defRPr>
                      </a:pPr>
                      <a:r>
                        <a:t>1200</a:t>
                      </a:r>
                    </a:p>
                  </a:txBody>
                  <a:tcPr>
                    <a:solidFill>
                      <a:srgbClr val="FFFFFF"/>
                    </a:solidFill>
                  </a:tcPr>
                </a:tc>
                <a:tc>
                  <a:txBody>
                    <a:bodyPr/>
                    <a:lstStyle/>
                    <a:p>
                      <a:pPr>
                        <a:defRPr sz="740">
                          <a:solidFill>
                            <a:srgbClr val="0F172A"/>
                          </a:solidFill>
                        </a:defRPr>
                      </a:pPr>
                      <a:r>
                        <a:t>900</a:t>
                      </a:r>
                    </a:p>
                  </a:txBody>
                  <a:tcPr>
                    <a:solidFill>
                      <a:srgbClr val="FFFFFF"/>
                    </a:solidFill>
                  </a:tcPr>
                </a:tc>
              </a:tr>
              <a:tr h="305972">
                <a:tc>
                  <a:txBody>
                    <a:bodyPr/>
                    <a:lstStyle/>
                    <a:p>
                      <a:pPr>
                        <a:defRPr sz="740">
                          <a:solidFill>
                            <a:srgbClr val="0F172A"/>
                          </a:solidFill>
                        </a:defRPr>
                      </a:pPr>
                      <a:r>
                        <a:t>Android App</a:t>
                      </a:r>
                    </a:p>
                  </a:txBody>
                  <a:tcPr>
                    <a:solidFill>
                      <a:srgbClr val="F8FAFC"/>
                    </a:solidFill>
                  </a:tcPr>
                </a:tc>
                <a:tc>
                  <a:txBody>
                    <a:bodyPr/>
                    <a:lstStyle/>
                    <a:p>
                      <a:pPr>
                        <a:defRPr sz="740">
                          <a:solidFill>
                            <a:srgbClr val="0F172A"/>
                          </a:solidFill>
                        </a:defRPr>
                      </a:pPr>
                      <a:r>
                        <a:t>Shared Components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717</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Auth + Middleware</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Doctor/Patient/Slot APIs</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750</a:t>
                      </a:r>
                    </a:p>
                  </a:txBody>
                  <a:tcPr>
                    <a:solidFill>
                      <a:srgbClr val="F8FAFC"/>
                    </a:solidFill>
                  </a:tcPr>
                </a:tc>
                <a:tc>
                  <a:txBody>
                    <a:bodyPr/>
                    <a:lstStyle/>
                    <a:p>
                      <a:pPr>
                        <a:defRPr sz="740">
                          <a:solidFill>
                            <a:srgbClr val="0F172A"/>
                          </a:solidFill>
                        </a:defRPr>
                      </a:pPr>
                      <a:r>
                        <a:t>1000</a:t>
                      </a:r>
                    </a:p>
                  </a:txBody>
                  <a:tcPr>
                    <a:solidFill>
                      <a:srgbClr val="F8FAFC"/>
                    </a:solidFill>
                  </a:tcPr>
                </a:tc>
                <a:tc>
                  <a:txBody>
                    <a:bodyPr/>
                    <a:lstStyle/>
                    <a:p>
                      <a:pPr>
                        <a:defRPr sz="740">
                          <a:solidFill>
                            <a:srgbClr val="0F172A"/>
                          </a:solidFill>
                        </a:defRPr>
                      </a:pPr>
                      <a:r>
                        <a:t>758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Appointments Logic</a:t>
                      </a:r>
                    </a:p>
                  </a:txBody>
                  <a:tcPr>
                    <a:solidFill>
                      <a:srgbClr val="FFFFFF"/>
                    </a:solidFill>
                  </a:tcPr>
                </a:tc>
                <a:tc>
                  <a:txBody>
                    <a:bodyPr/>
                    <a:lstStyle/>
                    <a:p>
                      <a:pPr>
                        <a:defRPr sz="740">
                          <a:solidFill>
                            <a:srgbClr val="0F172A"/>
                          </a:solidFill>
                        </a:defRPr>
                      </a:pPr>
                      <a:r>
                        <a:t>400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800</a:t>
                      </a:r>
                    </a:p>
                  </a:txBody>
                  <a:tcPr>
                    <a:solidFill>
                      <a:srgbClr val="FFFFFF"/>
                    </a:solidFill>
                  </a:tcPr>
                </a:tc>
                <a:tc>
                  <a:txBody>
                    <a:bodyPr/>
                    <a:lstStyle/>
                    <a:p>
                      <a:pPr>
                        <a:defRPr sz="740">
                          <a:solidFill>
                            <a:srgbClr val="0F172A"/>
                          </a:solidFill>
                        </a:defRPr>
                      </a:pPr>
                      <a:r>
                        <a:t>600</a:t>
                      </a:r>
                    </a:p>
                  </a:txBody>
                  <a:tcPr>
                    <a:solidFill>
                      <a:srgbClr val="FFFFFF"/>
                    </a:solidFill>
                  </a:tcPr>
                </a:tc>
              </a:tr>
              <a:tr h="305972">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Chat WS + Video Signaling</a:t>
                      </a:r>
                    </a:p>
                  </a:txBody>
                  <a:tcPr>
                    <a:solidFill>
                      <a:srgbClr val="F8FAFC"/>
                    </a:solidFill>
                  </a:tcPr>
                </a:tc>
                <a:tc>
                  <a:txBody>
                    <a:bodyPr/>
                    <a:lstStyle/>
                    <a:p>
                      <a:pPr>
                        <a:defRPr sz="740">
                          <a:solidFill>
                            <a:srgbClr val="0F172A"/>
                          </a:solidFill>
                        </a:defRPr>
                      </a:pPr>
                      <a:r>
                        <a:t>350</a:t>
                      </a:r>
                    </a:p>
                  </a:txBody>
                  <a:tcPr>
                    <a:solidFill>
                      <a:srgbClr val="F8FAFC"/>
                    </a:solidFill>
                  </a:tcPr>
                </a:tc>
                <a:tc>
                  <a:txBody>
                    <a:bodyPr/>
                    <a:lstStyle/>
                    <a:p>
                      <a:pPr>
                        <a:defRPr sz="740">
                          <a:solidFill>
                            <a:srgbClr val="0F172A"/>
                          </a:solidFill>
                        </a:defRPr>
                      </a:pPr>
                      <a:r>
                        <a:t>500</a:t>
                      </a:r>
                    </a:p>
                  </a:txBody>
                  <a:tcPr>
                    <a:solidFill>
                      <a:srgbClr val="F8FAFC"/>
                    </a:solidFill>
                  </a:tcPr>
                </a:tc>
                <a:tc>
                  <a:txBody>
                    <a:bodyPr/>
                    <a:lstStyle/>
                    <a:p>
                      <a:pPr>
                        <a:defRPr sz="740">
                          <a:solidFill>
                            <a:srgbClr val="0F172A"/>
                          </a:solidFill>
                        </a:defRPr>
                      </a:pPr>
                      <a:r>
                        <a:t>700</a:t>
                      </a:r>
                    </a:p>
                  </a:txBody>
                  <a:tcPr>
                    <a:solidFill>
                      <a:srgbClr val="F8FAFC"/>
                    </a:solidFill>
                  </a:tcPr>
                </a:tc>
                <a:tc>
                  <a:txBody>
                    <a:bodyPr/>
                    <a:lstStyle/>
                    <a:p>
                      <a:pPr>
                        <a:defRPr sz="740">
                          <a:solidFill>
                            <a:srgbClr val="0F172A"/>
                          </a:solidFill>
                        </a:defRPr>
                      </a:pPr>
                      <a:r>
                        <a:t>508</a:t>
                      </a:r>
                    </a:p>
                  </a:txBody>
                  <a:tcPr>
                    <a:solidFill>
                      <a:srgbClr val="F8FAFC"/>
                    </a:solidFill>
                  </a:tcPr>
                </a:tc>
              </a:tr>
              <a:tr h="305972">
                <a:tc>
                  <a:txBody>
                    <a:bodyPr/>
                    <a:lstStyle/>
                    <a:p>
                      <a:pPr>
                        <a:defRPr sz="740">
                          <a:solidFill>
                            <a:srgbClr val="0F172A"/>
                          </a:solidFill>
                        </a:defRPr>
                      </a:pPr>
                      <a:r>
                        <a:t>Server</a:t>
                      </a:r>
                    </a:p>
                  </a:txBody>
                  <a:tcPr>
                    <a:solidFill>
                      <a:srgbClr val="FFFFFF"/>
                    </a:solidFill>
                  </a:tcPr>
                </a:tc>
                <a:tc>
                  <a:txBody>
                    <a:bodyPr/>
                    <a:lstStyle/>
                    <a:p>
                      <a:pPr>
                        <a:defRPr sz="740">
                          <a:solidFill>
                            <a:srgbClr val="0F172A"/>
                          </a:solidFill>
                        </a:defRPr>
                      </a:pPr>
                      <a:r>
                        <a:t>Records, AI, Ratings</a:t>
                      </a:r>
                    </a:p>
                  </a:txBody>
                  <a:tcPr>
                    <a:solidFill>
                      <a:srgbClr val="FFFFFF"/>
                    </a:solidFill>
                  </a:tcPr>
                </a:tc>
                <a:tc>
                  <a:txBody>
                    <a:bodyPr/>
                    <a:lstStyle/>
                    <a:p>
                      <a:pPr>
                        <a:defRPr sz="740">
                          <a:solidFill>
                            <a:srgbClr val="0F172A"/>
                          </a:solidFill>
                        </a:defRPr>
                      </a:pPr>
                      <a:r>
                        <a:t>300</a:t>
                      </a:r>
                    </a:p>
                  </a:txBody>
                  <a:tcPr>
                    <a:solidFill>
                      <a:srgbClr val="FFFFFF"/>
                    </a:solidFill>
                  </a:tcPr>
                </a:tc>
                <a:tc>
                  <a:txBody>
                    <a:bodyPr/>
                    <a:lstStyle/>
                    <a:p>
                      <a:pPr>
                        <a:defRPr sz="740">
                          <a:solidFill>
                            <a:srgbClr val="0F172A"/>
                          </a:solidFill>
                        </a:defRPr>
                      </a:pPr>
                      <a:r>
                        <a:t>450</a:t>
                      </a:r>
                    </a:p>
                  </a:txBody>
                  <a:tcPr>
                    <a:solidFill>
                      <a:srgbClr val="FFFFFF"/>
                    </a:solidFill>
                  </a:tcPr>
                </a:tc>
                <a:tc>
                  <a:txBody>
                    <a:bodyPr/>
                    <a:lstStyle/>
                    <a:p>
                      <a:pPr>
                        <a:defRPr sz="740">
                          <a:solidFill>
                            <a:srgbClr val="0F172A"/>
                          </a:solidFill>
                        </a:defRPr>
                      </a:pPr>
                      <a:r>
                        <a:t>600</a:t>
                      </a:r>
                    </a:p>
                  </a:txBody>
                  <a:tcPr>
                    <a:solidFill>
                      <a:srgbClr val="FFFFFF"/>
                    </a:solidFill>
                  </a:tcPr>
                </a:tc>
                <a:tc>
                  <a:txBody>
                    <a:bodyPr/>
                    <a:lstStyle/>
                    <a:p>
                      <a:pPr>
                        <a:defRPr sz="740">
                          <a:solidFill>
                            <a:srgbClr val="0F172A"/>
                          </a:solidFill>
                        </a:defRPr>
                      </a:pPr>
                      <a:r>
                        <a:t>458</a:t>
                      </a:r>
                    </a:p>
                  </a:txBody>
                  <a:tcPr>
                    <a:solidFill>
                      <a:srgbClr val="FFFFFF"/>
                    </a:solidFill>
                  </a:tcPr>
                </a:tc>
              </a:tr>
              <a:tr h="305975">
                <a:tc>
                  <a:txBody>
                    <a:bodyPr/>
                    <a:lstStyle/>
                    <a:p>
                      <a:pPr>
                        <a:defRPr sz="740">
                          <a:solidFill>
                            <a:srgbClr val="0F172A"/>
                          </a:solidFill>
                        </a:defRPr>
                      </a:pPr>
                      <a:r>
                        <a:t>Server</a:t>
                      </a:r>
                    </a:p>
                  </a:txBody>
                  <a:tcPr>
                    <a:solidFill>
                      <a:srgbClr val="F8FAFC"/>
                    </a:solidFill>
                  </a:tcPr>
                </a:tc>
                <a:tc>
                  <a:txBody>
                    <a:bodyPr/>
                    <a:lstStyle/>
                    <a:p>
                      <a:pPr>
                        <a:defRPr sz="740">
                          <a:solidFill>
                            <a:srgbClr val="0F172A"/>
                          </a:solidFill>
                        </a:defRPr>
                      </a:pPr>
                      <a:r>
                        <a:t>Cron + Config + Utils</a:t>
                      </a:r>
                    </a:p>
                  </a:txBody>
                  <a:tcPr>
                    <a:solidFill>
                      <a:srgbClr val="F8FAFC"/>
                    </a:solidFill>
                  </a:tcPr>
                </a:tc>
                <a:tc>
                  <a:txBody>
                    <a:bodyPr/>
                    <a:lstStyle/>
                    <a:p>
                      <a:pPr>
                        <a:defRPr sz="740">
                          <a:solidFill>
                            <a:srgbClr val="0F172A"/>
                          </a:solidFill>
                        </a:defRPr>
                      </a:pPr>
                      <a:r>
                        <a:t>200</a:t>
                      </a:r>
                    </a:p>
                  </a:txBody>
                  <a:tcPr>
                    <a:solidFill>
                      <a:srgbClr val="F8FAFC"/>
                    </a:solidFill>
                  </a:tcPr>
                </a:tc>
                <a:tc>
                  <a:txBody>
                    <a:bodyPr/>
                    <a:lstStyle/>
                    <a:p>
                      <a:pPr>
                        <a:defRPr sz="740">
                          <a:solidFill>
                            <a:srgbClr val="0F172A"/>
                          </a:solidFill>
                        </a:defRPr>
                      </a:pPr>
                      <a:r>
                        <a:t>300</a:t>
                      </a:r>
                    </a:p>
                  </a:txBody>
                  <a:tcPr>
                    <a:solidFill>
                      <a:srgbClr val="F8FAFC"/>
                    </a:solidFill>
                  </a:tcPr>
                </a:tc>
                <a:tc>
                  <a:txBody>
                    <a:bodyPr/>
                    <a:lstStyle/>
                    <a:p>
                      <a:pPr>
                        <a:defRPr sz="740">
                          <a:solidFill>
                            <a:srgbClr val="0F172A"/>
                          </a:solidFill>
                        </a:defRPr>
                      </a:pPr>
                      <a:r>
                        <a:t>400</a:t>
                      </a:r>
                    </a:p>
                  </a:txBody>
                  <a:tcPr>
                    <a:solidFill>
                      <a:srgbClr val="F8FAFC"/>
                    </a:solidFill>
                  </a:tcPr>
                </a:tc>
                <a:tc>
                  <a:txBody>
                    <a:bodyPr/>
                    <a:lstStyle/>
                    <a:p>
                      <a:pPr>
                        <a:defRPr sz="740">
                          <a:solidFill>
                            <a:srgbClr val="0F172A"/>
                          </a:solidFill>
                        </a:defRPr>
                      </a:pPr>
                      <a:r>
                        <a:t>300</a:t>
                      </a:r>
                    </a:p>
                  </a:txBody>
                  <a:tcPr>
                    <a:solidFill>
                      <a:srgbClr val="F8FAFC"/>
                    </a:solidFill>
                  </a:tcPr>
                </a:tc>
              </a:tr>
            </a:tbl>
          </a:graphicData>
        </a:graphic>
      </p:graphicFrame>
      <p:sp>
        <p:nvSpPr>
          <p:cNvPr id="8" name="Rounded Rectangle 7"/>
          <p:cNvSpPr/>
          <p:nvPr/>
        </p:nvSpPr>
        <p:spPr>
          <a:xfrm>
            <a:off x="77724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943600"/>
            <a:ext cx="2560320" cy="182880"/>
          </a:xfrm>
          <a:prstGeom prst="rect">
            <a:avLst/>
          </a:prstGeom>
          <a:noFill/>
        </p:spPr>
        <p:txBody>
          <a:bodyPr wrap="square">
            <a:spAutoFit/>
          </a:bodyPr>
          <a:lstStyle/>
          <a:p>
            <a:pPr algn="l">
              <a:defRPr sz="1050" b="1">
                <a:solidFill>
                  <a:srgbClr val="0284C7"/>
                </a:solidFill>
                <a:latin typeface="Aptos"/>
              </a:defRPr>
            </a:pPr>
            <a:r>
              <a:t>Android App: ~5,951 LOC</a:t>
            </a:r>
          </a:p>
        </p:txBody>
      </p:sp>
      <p:sp>
        <p:nvSpPr>
          <p:cNvPr id="10" name="Rounded Rectangle 9"/>
          <p:cNvSpPr/>
          <p:nvPr/>
        </p:nvSpPr>
        <p:spPr>
          <a:xfrm>
            <a:off x="406908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5943600"/>
            <a:ext cx="2560320" cy="182880"/>
          </a:xfrm>
          <a:prstGeom prst="rect">
            <a:avLst/>
          </a:prstGeom>
          <a:noFill/>
        </p:spPr>
        <p:txBody>
          <a:bodyPr wrap="square">
            <a:spAutoFit/>
          </a:bodyPr>
          <a:lstStyle/>
          <a:p>
            <a:pPr algn="l">
              <a:defRPr sz="1050" b="1">
                <a:solidFill>
                  <a:srgbClr val="0284C7"/>
                </a:solidFill>
                <a:latin typeface="Aptos"/>
              </a:defRPr>
            </a:pPr>
            <a:r>
              <a:t>Server: ~3,082 LOC</a:t>
            </a:r>
          </a:p>
        </p:txBody>
      </p:sp>
      <p:sp>
        <p:nvSpPr>
          <p:cNvPr id="12" name="Rounded Rectangle 11"/>
          <p:cNvSpPr/>
          <p:nvPr/>
        </p:nvSpPr>
        <p:spPr>
          <a:xfrm>
            <a:off x="7360920" y="5806440"/>
            <a:ext cx="2971800" cy="502920"/>
          </a:xfrm>
          <a:prstGeom prst="round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5943600"/>
            <a:ext cx="2560320" cy="182880"/>
          </a:xfrm>
          <a:prstGeom prst="rect">
            <a:avLst/>
          </a:prstGeom>
          <a:noFill/>
        </p:spPr>
        <p:txBody>
          <a:bodyPr wrap="square">
            <a:spAutoFit/>
          </a:bodyPr>
          <a:lstStyle/>
          <a:p>
            <a:pPr algn="l">
              <a:defRPr sz="1050" b="1">
                <a:solidFill>
                  <a:srgbClr val="0284C7"/>
                </a:solidFill>
                <a:latin typeface="Aptos"/>
              </a:defRPr>
            </a:pPr>
            <a:r>
              <a:t>Total: ~9,833 LOC</a:t>
            </a:r>
          </a:p>
        </p:txBody>
      </p:sp>
      <p:sp>
        <p:nvSpPr>
          <p:cNvPr id="14" name="TextBox 13"/>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5" name="TextBox 14"/>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