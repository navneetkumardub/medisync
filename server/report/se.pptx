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76072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EA5E9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943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MediSync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1115568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Doctor-Patient Appointment and Healthcare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Aptos"/>
              </a:defRPr>
            </a:pPr>
            <a:r>
              <a:t>Software Engineering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Aptos"/>
              </a:defRPr>
            </a:pPr>
            <a:r>
              <a:t>Team Members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3611880"/>
          <a:ext cx="55321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USN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983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E82"/>
                </a:solidFill>
                <a:latin typeface="Aptos"/>
              </a:defRPr>
            </a:pPr>
            <a:r>
              <a:t>Course/Subject: 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218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E82"/>
                </a:solidFill>
                <a:latin typeface="Aptos"/>
              </a:defRPr>
            </a:pPr>
            <a:r>
              <a:t>Guide: ____________________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120640"/>
            <a:ext cx="4800600" cy="457200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5157216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Kotlin • Jetpack Compose • Node.js • PostgreSQL • MinIO • WebRTC • FCM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Presentation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9576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521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Project introduction and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09928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19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Technology stack and major technology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76856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860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Requirements engineering and SRS-style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43784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52927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Use case, sequence, activity and state diagrams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10712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47288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1985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Architecture, ER diagram and database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14215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86783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Implementation screens and testing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44568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81144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5537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Project estimation, scheduling and risk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11496"/>
            <a:ext cx="4114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48072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20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111827"/>
                </a:solidFill>
                <a:latin typeface="Aptos"/>
              </a:defRPr>
            </a:pPr>
            <a:r>
              <a:t>Conclusion, learning outcomes and 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78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E82"/>
                </a:solidFill>
                <a:latin typeface="Aptos"/>
              </a:defRPr>
            </a:pPr>
            <a:r>
              <a:t>A digital bridge between patient and doctor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1" y="139903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38074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Problem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288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Patients need one place to discover doctors, book appointments, consult, chat and store medical records.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Doctors need a practical system to manage their profile, clinic location, schedule, appointment load and patient communication.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Traditional coordination through calls or scattered messages makes records difficult to track and appointments difficult to manage.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349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39903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38074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MediSync is an Android-based healthcare platform with patient and doctor modules.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It combines appointment booking, slot management, chat, video consultation, report storage, AI support and notifications.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The system follows a client-server architecture with secure APIs, relational database, object storage and real-time communication.</a:t>
            </a:r>
          </a:p>
        </p:txBody>
      </p:sp>
      <p:pic>
        <p:nvPicPr>
          <p:cNvPr id="14" name="Picture 13" descr="pati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198" y="3703320"/>
            <a:ext cx="1070362" cy="23774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14400" y="3703320"/>
            <a:ext cx="1965960" cy="237744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1447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Patient Home</a:t>
            </a:r>
          </a:p>
        </p:txBody>
      </p:sp>
      <p:pic>
        <p:nvPicPr>
          <p:cNvPr id="17" name="Picture 16" descr="doctor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118" y="3703320"/>
            <a:ext cx="1070362" cy="23774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703320" y="3703320"/>
            <a:ext cx="1965960" cy="237744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61447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Doctor Home</a:t>
            </a:r>
          </a:p>
        </p:txBody>
      </p:sp>
      <p:pic>
        <p:nvPicPr>
          <p:cNvPr id="20" name="Picture 19" descr="chat_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038" y="3703320"/>
            <a:ext cx="1070362" cy="23774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92240" y="3703320"/>
            <a:ext cx="1965960" cy="237744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61447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Chat</a:t>
            </a:r>
          </a:p>
        </p:txBody>
      </p:sp>
      <p:pic>
        <p:nvPicPr>
          <p:cNvPr id="23" name="Picture 22" descr="medical_reco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8958" y="3703320"/>
            <a:ext cx="1070362" cy="23774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281159" y="3703320"/>
            <a:ext cx="1965960" cy="237744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61447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Technology Stack Used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84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in MediSync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Mobile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Kotlin, Jetpack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Android UI, navigation, state-driven screens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App Architecture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MVVM + Repository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Separates UI, ViewModel state and data sources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Local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Room / 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Offline cache for records/profile related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Node.js, Express.js, TypeScript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REST API, business logic and controllers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Relational schema, constraints and joins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Object Storage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Profile photos, chat files and medical records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WebSocket + WebRTC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Chat delivery and video consultation signaling/media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Notifications / AI / Maps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FCM, Gemini API, Google Maps SDK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Push alerts, AI health chat and clinic location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Major Technology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78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E82"/>
                </a:solidFill>
                <a:latin typeface="Aptos"/>
              </a:defRPr>
            </a:pPr>
            <a:r>
              <a:t>Why each major module is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30759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28930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MinIO Object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Stores uploaded profile photos, chat attachments, PDFs and medical records outside PostgreSQL. DB stores keys; MinIO stores file bytes.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30759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28930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WebRTC Video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373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Provides peer-to-peer audio/video consultation. WebSocket signaling is used to exchange offer, answer and ICE candidates.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2907792"/>
            <a:ext cx="128016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88950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Room / SQLite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375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Keeps important local data available when network is unavailable, especially records/cache screens.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432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28016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88950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PostgreSQL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3375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Maintains normalized application data: users, doctor profiles, slots, appointments, chats, reports and ratings.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3434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4507992"/>
            <a:ext cx="128016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48970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Firebase Cloud Messaging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377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Sends chat and appointment notifications when receiver is offline or outside the chat screen.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3434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4507992"/>
            <a:ext cx="128016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48970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Gemini AI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93776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Supports patient-side general health guidance and report/image discussion with safety boundaries.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66928" cy="329184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9576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61288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ptos"/>
              </a:defRPr>
            </a:pPr>
            <a:r>
              <a:t>Allow patients to find doctors by specialization and consultation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64792"/>
            <a:ext cx="566928" cy="329184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8308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ptos"/>
              </a:defRPr>
            </a:pPr>
            <a:r>
              <a:t>Allow doctors to create online/offline slots using weekly template and custom schedule.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86584"/>
            <a:ext cx="566928" cy="329184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O3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ptos"/>
              </a:defRPr>
            </a:pPr>
            <a:r>
              <a:t>Provide appointment lifecycle from booking to details, chat and 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08376"/>
            <a:ext cx="566928" cy="329184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44952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O4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26664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ptos"/>
              </a:defRPr>
            </a:pPr>
            <a:r>
              <a:t>Enable real-time chat, video consultation and offline notification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30168"/>
            <a:ext cx="566928" cy="329184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6674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O5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48456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ptos"/>
              </a:defRPr>
            </a:pPr>
            <a:r>
              <a:t>Store medical records and uploaded files safely using object storage and database references.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566928" cy="329184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88536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O6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70248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ptos"/>
              </a:defRPr>
            </a:pPr>
            <a:r>
              <a:t>Provide AI-based health guidance and report/image discussion for patient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73752"/>
            <a:ext cx="566928" cy="329184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10328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O7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92040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ptos"/>
              </a:defRPr>
            </a:pPr>
            <a:r>
              <a:t>Support deployment on cloud backend with Docker/PM2 and real device access.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135331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33502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8308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Patient and doctor registration/profile flows.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Doctor search, specialization filter and doctor detail screen.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Appointment booking, slot management, appointment list and appointment detail.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Doctor clinic location selection and map-based viewing.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Chat, file sharing, medical records and profile photos.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Video consultation, AI chat, ratings and notifications.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2512" y="1353312"/>
            <a:ext cx="128016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33502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78308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Online payment gateway and billing settlement.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Hospital administration panel and staff management.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Legal prescription signing and medicine inventory.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Emergency ambulance dispatch or critical-care automation.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Advanced diagnosis system replacing doctors.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Insurance claim processing.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Requirements Engineering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78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E82"/>
                </a:solidFill>
                <a:latin typeface="Aptos"/>
              </a:defRPr>
            </a:pPr>
            <a:r>
              <a:t>Based on Unit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417320" cy="59436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7967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Elicitation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3347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5E6E82"/>
                </a:solidFill>
                <a:latin typeface="Aptos"/>
              </a:defRPr>
            </a:pPr>
            <a:r>
              <a:t>Collected needs for patient, doctor, appointment, records, chat and video workflows.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121408"/>
            <a:ext cx="73152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828800"/>
            <a:ext cx="1417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97967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3347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5E6E82"/>
                </a:solidFill>
                <a:latin typeface="Aptos"/>
              </a:defRPr>
            </a:pPr>
            <a:r>
              <a:t>Classified functional needs, roles, constraints and relationships such as slot to appointment.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2121408"/>
            <a:ext cx="73152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828800"/>
            <a:ext cx="1417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97967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Specification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3347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5E6E82"/>
                </a:solidFill>
                <a:latin typeface="Aptos"/>
              </a:defRPr>
            </a:pPr>
            <a:r>
              <a:t>Converted requirements into screens, APIs, database schema and data flow.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2121408"/>
            <a:ext cx="73152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1828800"/>
            <a:ext cx="1417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97967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63347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5E6E82"/>
                </a:solidFill>
                <a:latin typeface="Aptos"/>
              </a:defRPr>
            </a:pPr>
            <a:r>
              <a:t>Checked whether flows work on emulator/phone and match expected user scenarios.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2121408"/>
            <a:ext cx="73152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828800"/>
            <a:ext cx="1417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97967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3347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5E6E82"/>
                </a:solidFill>
                <a:latin typeface="Aptos"/>
              </a:defRPr>
            </a:pPr>
            <a:r>
              <a:t>Handled changing needs such as search filters, refresh, cache, map and notification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4160520"/>
            <a:ext cx="9921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07592" y="432511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7048" y="4306824"/>
            <a:ext cx="9372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Requirement Traceability in MediSync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4754880"/>
            <a:ext cx="9464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Requirement -&gt; UI screen -&gt; API endpoint -&gt; database table -&gt; test scenario.</a:t>
            </a:r>
          </a:p>
          <a:p>
            <a:pPr>
              <a:spcAft>
                <a:spcPts val="300"/>
              </a:spcAft>
              <a:defRPr sz="1100">
                <a:solidFill>
                  <a:srgbClr val="111827"/>
                </a:solidFill>
                <a:latin typeface="Aptos"/>
              </a:defRPr>
            </a:pPr>
            <a:r>
              <a:t>Example: Book appointment -&gt; Slot picker -&gt; bookAppointment API -&gt; appointment_slots + appointments -&gt; double-booking test.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78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E82"/>
                </a:solidFill>
                <a:latin typeface="Aptos"/>
              </a:defRPr>
            </a:pPr>
            <a:r>
              <a:t>SRS-style requirement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30759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28930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Patient-Oriented Functional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50292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FR1: User shall login using phone OTP and select a role as Patient or Doctor.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FR2: Patient shall search doctors by name/specialization and open doctor profile.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FR3: Patient shall book available online/offline appointment slots.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FR4: Patient shall view appointment list, details, clinic location and chat option.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FR5: Patient shall view and search medical records by all/images/PDFs.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FR6: Patient shall use AI chat for health guidance and report/image discussion.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349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30759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28930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Doctor/System Functional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3736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FR7: Doctor shall edit personal, professional and clinic profile details.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FR8: Doctor shall set clinic location using a map picker.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FR9: Doctor shall create weekly template and custom schedule slots.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FR10: Doctor shall view upcoming appointments and patient details.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FR11: Both users shall exchange chat messages and file attachments.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FR12: System shall support video consultation and push notifications.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1280160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2618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0992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JWT shall protect private API routes.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Only authenticated users can access appointments, chats and records.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File access is controlled using MinIO bucket policy or generated URLs.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15568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280160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2618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70992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Chat and booking screens should load without heavy file bytes in API response.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Images/PDFs are stored externally in MinIO and referenced by key.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Search/filter operations should be responsive on mobile screens.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115568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280160"/>
            <a:ext cx="128016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12618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170992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Network errors should not crash the app.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Cached records should remain visible when refresh fails.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Slot booking must prevent duplicate bookings.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47287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3611879"/>
            <a:ext cx="128016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593591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4164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UI should use clear navigation, readable text and consistent patient/doctor workflows.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Search bars, filters and actions should be visible and predictable.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Screens should support common Android device sizes.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47287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53712" y="3611879"/>
            <a:ext cx="128016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593591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Maintainability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04164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MVVM and repository pattern should separate UI from data logic.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Backend controllers/routes should keep module boundaries clear.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Environment variables should configure deployment 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47287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39912" y="3611879"/>
            <a:ext cx="128016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8" y="3593591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404164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PostgreSQL, MinIO, Redis/WebSocket and app server can be scaled separately.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Object storage prevents database overload from large files.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Service separation supports future modules like payments or prescriptions.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Use Case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1234440" cy="548640"/>
          </a:xfrm>
          <a:prstGeom prst="roundRect">
            <a:avLst/>
          </a:prstGeom>
          <a:solidFill>
            <a:srgbClr val="E0F6FF"/>
          </a:solidFill>
          <a:ln w="15240">
            <a:solidFill>
              <a:srgbClr val="E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16935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Patient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2788920"/>
            <a:ext cx="1234440" cy="548640"/>
          </a:xfrm>
          <a:prstGeom prst="roundRect">
            <a:avLst/>
          </a:prstGeom>
          <a:solidFill>
            <a:srgbClr val="E0F6FF"/>
          </a:solidFill>
          <a:ln w="15240">
            <a:solidFill>
              <a:srgbClr val="E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2916935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Doctor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05156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161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Login/Register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182880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938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Search Doctor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0" y="260604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715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Book Appointment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338328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4930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Chat / Video Call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0" y="416052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270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View Records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105156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161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Manage Profile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182880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938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Manage Slots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260604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715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Set Clinic Location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38328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4930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View Appointments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160520"/>
            <a:ext cx="2011680" cy="51206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270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11827"/>
                </a:solidFill>
                <a:latin typeface="Aptos"/>
              </a:defRPr>
            </a:pPr>
            <a:r>
              <a:t>Upload Reports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920240" y="1307592"/>
            <a:ext cx="822960" cy="1755648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920240" y="2084831"/>
            <a:ext cx="822960" cy="978409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920240" y="2862072"/>
            <a:ext cx="822960" cy="201168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20240" y="3063240"/>
            <a:ext cx="822960" cy="576072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20240" y="3063240"/>
            <a:ext cx="822960" cy="1353312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641080" y="1307592"/>
            <a:ext cx="1554480" cy="1755648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641080" y="2084831"/>
            <a:ext cx="1554480" cy="978409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641080" y="2862072"/>
            <a:ext cx="1554480" cy="201168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641080" y="3063240"/>
            <a:ext cx="1554480" cy="576072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641080" y="3063240"/>
            <a:ext cx="1554480" cy="1353312"/>
          </a:xfrm>
          <a:prstGeom prst="line">
            <a:avLst/>
          </a:prstGeom>
          <a:ln w="12700">
            <a:solidFill>
              <a:srgbClr val="5E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Sequence Diagram: Appointment Booking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14173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7101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Patient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07592" y="1645920"/>
            <a:ext cx="0" cy="4251960"/>
          </a:xfrm>
          <a:prstGeom prst="line">
            <a:avLst/>
          </a:prstGeom>
          <a:ln>
            <a:solidFill>
              <a:srgbClr val="DAE8F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1188720"/>
            <a:ext cx="1417320" cy="45720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27101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Backend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47872" y="1645920"/>
            <a:ext cx="0" cy="4251960"/>
          </a:xfrm>
          <a:prstGeom prst="line">
            <a:avLst/>
          </a:prstGeom>
          <a:ln>
            <a:solidFill>
              <a:srgbClr val="DAE8F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188720"/>
            <a:ext cx="14173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27101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PostgreSQL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88152" y="1645920"/>
            <a:ext cx="0" cy="4251960"/>
          </a:xfrm>
          <a:prstGeom prst="line">
            <a:avLst/>
          </a:prstGeom>
          <a:ln>
            <a:solidFill>
              <a:srgbClr val="DAE8F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0" y="1188720"/>
            <a:ext cx="14173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27101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Chat Room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28431" y="1645920"/>
            <a:ext cx="0" cy="4251960"/>
          </a:xfrm>
          <a:prstGeom prst="line">
            <a:avLst/>
          </a:prstGeom>
          <a:ln>
            <a:solidFill>
              <a:srgbClr val="DAE8F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55480" y="1188720"/>
            <a:ext cx="14173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27101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Doctor/FCM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68711" y="1645920"/>
            <a:ext cx="0" cy="4251960"/>
          </a:xfrm>
          <a:prstGeom prst="line">
            <a:avLst/>
          </a:prstGeom>
          <a:ln>
            <a:solidFill>
              <a:srgbClr val="DAE8F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98448" y="2057400"/>
            <a:ext cx="1536192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44168" y="1856231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E6E82"/>
                </a:solidFill>
                <a:latin typeface="Aptos"/>
              </a:defRPr>
            </a:pPr>
            <a:r>
              <a:t>Select slot + confirm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47872" y="2514600"/>
            <a:ext cx="1527048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93591" y="2313432"/>
            <a:ext cx="2624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E6E82"/>
                </a:solidFill>
                <a:latin typeface="Aptos"/>
              </a:defRPr>
            </a:pPr>
            <a:r>
              <a:t>Validate JWT and slot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547872" y="2971800"/>
            <a:ext cx="1527048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93591" y="2770632"/>
            <a:ext cx="2624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E6E82"/>
                </a:solidFill>
                <a:latin typeface="Aptos"/>
              </a:defRPr>
            </a:pPr>
            <a:r>
              <a:t>Insert appointment, update slot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47872" y="3429000"/>
            <a:ext cx="3767328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93591" y="3227832"/>
            <a:ext cx="4864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E6E82"/>
                </a:solidFill>
                <a:latin typeface="Aptos"/>
              </a:defRPr>
            </a:pPr>
            <a:r>
              <a:t>Create/update chat room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28431" y="3886200"/>
            <a:ext cx="1527049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74152" y="3685032"/>
            <a:ext cx="2624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E6E82"/>
                </a:solidFill>
                <a:latin typeface="Aptos"/>
              </a:defRPr>
            </a:pPr>
            <a:r>
              <a:t>Notify doctor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298448" y="4572000"/>
            <a:ext cx="1536192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44168" y="437083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E6E82"/>
                </a:solidFill>
                <a:latin typeface="Aptos"/>
              </a:defRPr>
            </a:pPr>
            <a:r>
              <a:t>Return confirmation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Activity Diagram: Patient Booking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508760" cy="50292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675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7160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47675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Open Find Doctor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7675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Select Doctor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7675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Open Slot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37160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7675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Choose Slot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24612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351275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Confirm Booking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24612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3351275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Backend Validates Slot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24612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351275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Appointment Created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937760"/>
            <a:ext cx="15087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504291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Chat Room Available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37760"/>
            <a:ext cx="1508760" cy="50292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504291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23160" y="1627632"/>
            <a:ext cx="4572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77639" y="1627632"/>
            <a:ext cx="411481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97880" y="1627632"/>
            <a:ext cx="59436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001000" y="1627632"/>
            <a:ext cx="41148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389120" y="1874519"/>
            <a:ext cx="4754880" cy="1371601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66360" y="3493008"/>
            <a:ext cx="59436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69480" y="3493008"/>
            <a:ext cx="86868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583680" y="3749039"/>
            <a:ext cx="2286000" cy="1188721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69480" y="5193792"/>
            <a:ext cx="105156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State Diagram / Statechart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78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E82"/>
                </a:solidFill>
                <a:latin typeface="Aptos"/>
              </a:defRPr>
            </a:pPr>
            <a:r>
              <a:t>Appointment object states and event transitions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80360"/>
            <a:ext cx="256032" cy="256032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00200" y="2651760"/>
            <a:ext cx="15087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816351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Slot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651760"/>
            <a:ext cx="15087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816351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Booking Requested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651760"/>
            <a:ext cx="15087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816351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Accepted / Booked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15087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7335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Consultation 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1508760"/>
            <a:ext cx="15087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167335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794760"/>
            <a:ext cx="15087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5935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Cancelled / Expired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794760"/>
            <a:ext cx="15087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395935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Rated / Closed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24712" y="3008376"/>
            <a:ext cx="475488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7280" y="31821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5E6E82"/>
                </a:solidFill>
                <a:latin typeface="Aptos"/>
              </a:defRPr>
            </a:pPr>
            <a:r>
              <a:t>doctor creates slot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2962656"/>
            <a:ext cx="54864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35808" y="3127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5E6E82"/>
                </a:solidFill>
                <a:latin typeface="Aptos"/>
              </a:defRPr>
            </a:pPr>
            <a:r>
              <a:t>patient selects slot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66360" y="2962656"/>
            <a:ext cx="73152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92040" y="312724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5E6E82"/>
                </a:solidFill>
                <a:latin typeface="Aptos"/>
              </a:defRPr>
            </a:pPr>
            <a:r>
              <a:t>payment-free confirm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406640" y="1874519"/>
            <a:ext cx="731520" cy="868681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0" y="2084831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5E6E82"/>
                </a:solidFill>
                <a:latin typeface="Aptos"/>
              </a:defRPr>
            </a:pPr>
            <a:r>
              <a:t>join chat/video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46920" y="1819656"/>
            <a:ext cx="41148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09760" y="1993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5E6E82"/>
                </a:solidFill>
                <a:latin typeface="Aptos"/>
              </a:defRPr>
            </a:pPr>
            <a:r>
              <a:t>time over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06640" y="3182112"/>
            <a:ext cx="731520" cy="905256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69480" y="3657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5E6E82"/>
                </a:solidFill>
                <a:latin typeface="Aptos"/>
              </a:defRPr>
            </a:pPr>
            <a:r>
              <a:t>cancel/no-show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46920" y="4105656"/>
            <a:ext cx="41148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464040" y="42793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30" b="0">
                <a:solidFill>
                  <a:srgbClr val="5E6E82"/>
                </a:solidFill>
                <a:latin typeface="Aptos"/>
              </a:defRPr>
            </a:pPr>
            <a:r>
              <a:t>patient rates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80160" y="5166360"/>
            <a:ext cx="9966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44751" y="5330952"/>
            <a:ext cx="128016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64207" y="5312664"/>
            <a:ext cx="9418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Statechart Meaning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760720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A state machine model shows system response to events, as described in Unit 2/3.</a:t>
            </a:r>
          </a:p>
          <a:p>
            <a:pPr>
              <a:spcAft>
                <a:spcPts val="3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For MediSync, the appointment changes state when a doctor creates a slot, a patient books it, consultation happens, and the appointment is completed, cancelled or rated.</a:t>
            </a:r>
          </a:p>
          <a:p>
            <a:pPr>
              <a:spcAft>
                <a:spcPts val="300"/>
              </a:spcAft>
              <a:defRPr sz="950">
                <a:solidFill>
                  <a:srgbClr val="111827"/>
                </a:solidFill>
                <a:latin typeface="Aptos"/>
              </a:defRPr>
            </a:pPr>
            <a:r>
              <a:t>This helps identify valid and invalid transitions, such as preventing an already booked slot from being booked again.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78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E82"/>
                </a:solidFill>
                <a:latin typeface="Aptos"/>
              </a:defRPr>
            </a:pPr>
            <a:r>
              <a:t>Layered client-server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828800" cy="822960"/>
          </a:xfrm>
          <a:prstGeom prst="roundRect">
            <a:avLst/>
          </a:prstGeom>
          <a:solidFill>
            <a:srgbClr val="E0F6FF"/>
          </a:solidFill>
          <a:ln w="15240">
            <a:solidFill>
              <a:srgbClr val="E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40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Android App</a:t>
            </a:r>
            <a:br/>
            <a:r>
              <a:t>Compose + MVVM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148840"/>
            <a:ext cx="18288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4140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Repository Layer</a:t>
            </a:r>
            <a:br/>
            <a:r>
              <a:t>Retrofit + Room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508760"/>
            <a:ext cx="1828800" cy="73152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728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Node/Express API</a:t>
            </a:r>
            <a:br/>
            <a:r>
              <a:t>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743200"/>
            <a:ext cx="1828800" cy="77724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985515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WebSocket Server</a:t>
            </a:r>
            <a:br/>
            <a:r>
              <a:t>Chat + Video Signaling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143000"/>
            <a:ext cx="16459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27101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057400"/>
            <a:ext cx="16459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1854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MinIO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971800"/>
            <a:ext cx="16459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09981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Redis / PM2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057400"/>
            <a:ext cx="18288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22539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FCM / Gemini / Maps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68880" y="2560320"/>
            <a:ext cx="365760" cy="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63440" y="1874519"/>
            <a:ext cx="457200" cy="685801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63440" y="2560320"/>
            <a:ext cx="457200" cy="566928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49440" y="1417320"/>
            <a:ext cx="594360" cy="457199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2194560"/>
            <a:ext cx="594360" cy="137160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3127248"/>
            <a:ext cx="594360" cy="118872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89720" y="2331720"/>
            <a:ext cx="502920" cy="64008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" y="4572000"/>
            <a:ext cx="10241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8992" y="473659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8448" y="4718304"/>
            <a:ext cx="9692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Architectural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166360"/>
            <a:ext cx="97840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11827"/>
                </a:solidFill>
                <a:latin typeface="Aptos"/>
              </a:defRPr>
            </a:pPr>
            <a:r>
              <a:t>Use layered architecture because the app has separate UI, data, API, storage and real-time concerns.</a:t>
            </a:r>
          </a:p>
          <a:p>
            <a:pPr>
              <a:spcAft>
                <a:spcPts val="300"/>
              </a:spcAft>
              <a:defRPr sz="1000">
                <a:solidFill>
                  <a:srgbClr val="111827"/>
                </a:solidFill>
                <a:latin typeface="Aptos"/>
              </a:defRPr>
            </a:pPr>
            <a:r>
              <a:t>Use shared repository model through PostgreSQL for structured data and MinIO for files.</a:t>
            </a:r>
          </a:p>
          <a:p>
            <a:pPr>
              <a:spcAft>
                <a:spcPts val="300"/>
              </a:spcAft>
              <a:defRPr sz="1000">
                <a:solidFill>
                  <a:srgbClr val="111827"/>
                </a:solidFill>
                <a:latin typeface="Aptos"/>
              </a:defRPr>
            </a:pPr>
            <a:r>
              <a:t>Use external services only for specialized capabilities: FCM, Gemini and Maps.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ER Diagram / Database Design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27358"/>
            <a:ext cx="6537960" cy="36776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143000"/>
            <a:ext cx="6537960" cy="484632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60920" y="1143000"/>
            <a:ext cx="4251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25512" y="130759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28930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Core Tables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737360"/>
            <a:ext cx="37947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users: common patient/doctor identity.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appointments and appointment_slots: booking lifecycle.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chat_rooms and chat_messages: real-time communication.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medical_reports: files linked to patients and chats.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doctor_ratings: rating per appointment.</a:t>
            </a:r>
          </a:p>
          <a:p>
            <a:pPr>
              <a:spcAft>
                <a:spcPts val="300"/>
              </a:spcAft>
              <a:defRPr sz="1019">
                <a:solidFill>
                  <a:srgbClr val="111827"/>
                </a:solidFill>
                <a:latin typeface="Aptos"/>
              </a:defRPr>
            </a:pPr>
            <a:r>
              <a:t>doctor_clinic and doctor_professional: doctor details and clinic 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Data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280160" cy="594360"/>
          </a:xfrm>
          <a:prstGeom prst="roundRect">
            <a:avLst/>
          </a:prstGeom>
          <a:solidFill>
            <a:srgbClr val="E0F6FF"/>
          </a:solidFill>
          <a:ln w="15240">
            <a:solidFill>
              <a:srgbClr val="E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6255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Patient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1280160" cy="594360"/>
          </a:xfrm>
          <a:prstGeom prst="roundRect">
            <a:avLst/>
          </a:prstGeom>
          <a:solidFill>
            <a:srgbClr val="E0F6FF"/>
          </a:solidFill>
          <a:ln w="15240">
            <a:solidFill>
              <a:srgbClr val="E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9135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Doctor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651760"/>
            <a:ext cx="2194560" cy="86868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9397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MediSync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234440"/>
            <a:ext cx="19202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3395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PostgreSQL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148840"/>
            <a:ext cx="19202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2539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MinIO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063240"/>
            <a:ext cx="19202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31683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FCM Notification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977639"/>
            <a:ext cx="19202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0827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Gemini / Maps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892040"/>
            <a:ext cx="19202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49971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ptos"/>
              </a:defRPr>
            </a:pPr>
            <a:r>
              <a:t>Room Cache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40" y="2304288"/>
            <a:ext cx="2834640" cy="576072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20240" y="3291840"/>
            <a:ext cx="2834640" cy="841247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949440" y="1481328"/>
            <a:ext cx="2194560" cy="1399032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949440" y="2395728"/>
            <a:ext cx="2194560" cy="576072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9440" y="3063240"/>
            <a:ext cx="2194560" cy="246888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3154680"/>
            <a:ext cx="2194560" cy="1069848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3246120"/>
            <a:ext cx="2194560" cy="1892808"/>
          </a:xfrm>
          <a:prstGeom prst="line">
            <a:avLst/>
          </a:prstGeom>
          <a:ln w="190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E6E82"/>
                </a:solidFill>
                <a:latin typeface="Aptos"/>
              </a:defRPr>
            </a:pPr>
            <a:r>
              <a:t>Booking, chat, profile, records, reports and video events move through the backend. Structured data goes to PostgreSQL, large files go to MinIO, and local cache supports offline viewing.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Patient Module Screens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1481"/>
            <a:ext cx="1874519" cy="41635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Login</a:t>
            </a:r>
          </a:p>
        </p:txBody>
      </p:sp>
      <p:pic>
        <p:nvPicPr>
          <p:cNvPr id="8" name="Picture 7" descr="patient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39" y="1301481"/>
            <a:ext cx="1874519" cy="41635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83463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Home</a:t>
            </a:r>
          </a:p>
        </p:txBody>
      </p:sp>
      <p:pic>
        <p:nvPicPr>
          <p:cNvPr id="11" name="Picture 10" descr="special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59" y="1301481"/>
            <a:ext cx="1874519" cy="41635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16635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Specialities</a:t>
            </a:r>
          </a:p>
        </p:txBody>
      </p:sp>
      <p:pic>
        <p:nvPicPr>
          <p:cNvPr id="14" name="Picture 13" descr="doctor_profile_pat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301481"/>
            <a:ext cx="1874519" cy="416359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7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Doctor Profile</a:t>
            </a:r>
          </a:p>
        </p:txBody>
      </p:sp>
      <p:pic>
        <p:nvPicPr>
          <p:cNvPr id="17" name="Picture 16" descr="slot_pi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301481"/>
            <a:ext cx="1874519" cy="416359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829800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Slot Picker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Doctor Module Screens</a:t>
            </a:r>
          </a:p>
        </p:txBody>
      </p:sp>
      <p:pic>
        <p:nvPicPr>
          <p:cNvPr id="5" name="Picture 4" descr="docto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1481"/>
            <a:ext cx="1874519" cy="41635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Doctor Home</a:t>
            </a:r>
          </a:p>
        </p:txBody>
      </p:sp>
      <p:pic>
        <p:nvPicPr>
          <p:cNvPr id="8" name="Picture 7" descr="doctor_dra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39" y="1301481"/>
            <a:ext cx="1874519" cy="41635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83463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Drawer</a:t>
            </a:r>
          </a:p>
        </p:txBody>
      </p:sp>
      <p:pic>
        <p:nvPicPr>
          <p:cNvPr id="11" name="Picture 10" descr="doctor_profile_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59" y="1301481"/>
            <a:ext cx="1874519" cy="41635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16635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Profile Edit</a:t>
            </a:r>
          </a:p>
        </p:txBody>
      </p:sp>
      <p:pic>
        <p:nvPicPr>
          <p:cNvPr id="14" name="Picture 13" descr="weekly_temp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301481"/>
            <a:ext cx="1874519" cy="416359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7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Weekly Template</a:t>
            </a:r>
          </a:p>
        </p:txBody>
      </p:sp>
      <p:pic>
        <p:nvPicPr>
          <p:cNvPr id="17" name="Picture 16" descr="custom_schedu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301481"/>
            <a:ext cx="1874519" cy="416359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829800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Custom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Communication, Records and AI Screens</a:t>
            </a:r>
          </a:p>
        </p:txBody>
      </p:sp>
      <p:pic>
        <p:nvPicPr>
          <p:cNvPr id="5" name="Picture 4" descr="appointm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1481"/>
            <a:ext cx="1874519" cy="41635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Appointment List</a:t>
            </a:r>
          </a:p>
        </p:txBody>
      </p:sp>
      <p:pic>
        <p:nvPicPr>
          <p:cNvPr id="8" name="Picture 7" descr="appointmen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39" y="1301481"/>
            <a:ext cx="1874519" cy="41635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83463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Appointment Detail</a:t>
            </a:r>
          </a:p>
        </p:txBody>
      </p:sp>
      <p:pic>
        <p:nvPicPr>
          <p:cNvPr id="11" name="Picture 10" descr="chat_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59" y="1301481"/>
            <a:ext cx="1874519" cy="41635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16635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Chat Room</a:t>
            </a:r>
          </a:p>
        </p:txBody>
      </p:sp>
      <p:pic>
        <p:nvPicPr>
          <p:cNvPr id="14" name="Picture 13" descr="video_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394516"/>
            <a:ext cx="1874519" cy="397752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79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Video Call</a:t>
            </a:r>
          </a:p>
        </p:txBody>
      </p:sp>
      <p:pic>
        <p:nvPicPr>
          <p:cNvPr id="17" name="Picture 16" descr="ai_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301481"/>
            <a:ext cx="1874519" cy="416359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829800" y="1143000"/>
            <a:ext cx="1874519" cy="4480560"/>
          </a:xfrm>
          <a:prstGeom prst="roundRect">
            <a:avLst/>
          </a:prstGeom>
          <a:noFill/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5715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  <a:latin typeface="Aptos"/>
              </a:defRPr>
            </a:pPr>
            <a:r>
              <a:t>AI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Testing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257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35331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133502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Testing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Unit testing: validation helpers, ViewModel state and formatting logic.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API testing: auth, doctors, slots, appointments, chats, reports and ratings.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Integration testing: Android app + backend + PostgreSQL + MinIO + WebSocket + FCM.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System testing: full patient-doctor workflows on emulator and physical device.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Regression testing: re-check old flows after UI/backend fixes.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349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1353312"/>
            <a:ext cx="128016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33502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Important Test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783080"/>
            <a:ext cx="4892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No internet or backend unavailable.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Invalid OTP / expired token / unauthorized API call.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Slot already booked by another user.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Chat receiver offline and FCM token missing/invalid.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MinIO file access denied or missing object.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Video call peer waiting, joined, back pressed, or app backgrounded.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Scenario-Based Test Cases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842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57404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Wrong OTP entered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Show error; app should not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Patient filters by Mental Wellness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Only matching doctors shown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Two users try same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Only first booking succeeds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Appointments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Past appointment opened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Details, chat and rating behaviour visible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Refresh without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Cached old records remain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Chat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Receiver offline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Message saved and FCM sent if valid token exists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Other user not joined and back pressed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Call ends or returns safely without black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Map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Permission denied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Manual map selection still possible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Project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784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E82"/>
                </a:solidFill>
                <a:latin typeface="Aptos"/>
              </a:defRPr>
            </a:pPr>
            <a:r>
              <a:t>Unit 4: LOC/FP, process-based and use-case estimation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1" y="130759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28930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Estimation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37360"/>
            <a:ext cx="48463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The project was estimated using module decomposition because features are naturally divided into auth, profile, booking, chat, records, video, AI and deployment.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Use-case based estimation was suitable because each major screen represents a user goal.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Higher effort modules were WebRTC video, chat/file handling, MinIO deployment, FCM and offline cache.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234440"/>
          <a:ext cx="43891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403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 Area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Approx. Effort Share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Android UI + MVVM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Backend APIs + Database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Realtime Chat +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Storage, Maps, AI, FCM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Testing +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463040" y="3977639"/>
            <a:ext cx="9144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27632" y="4142231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088" y="4123944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COCOMO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4572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MediSync can be considered an organic/semi-detached academic software project.</a:t>
            </a:r>
          </a:p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Team size is small, requirements evolved iteratively, and integration risk is moderate.</a:t>
            </a:r>
          </a:p>
          <a:p>
            <a:pPr>
              <a:spcAft>
                <a:spcPts val="300"/>
              </a:spcAft>
              <a:defRPr sz="1050">
                <a:solidFill>
                  <a:srgbClr val="111827"/>
                </a:solidFill>
                <a:latin typeface="Aptos"/>
              </a:defRPr>
            </a:pPr>
            <a:r>
              <a:t>Effort is driven more by integration complexity than pure line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Project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325880" cy="50292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5316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353312"/>
            <a:ext cx="8138160" cy="347472"/>
          </a:xfrm>
          <a:prstGeom prst="roundRect">
            <a:avLst/>
          </a:prstGeom>
          <a:solidFill>
            <a:srgbClr val="E0F6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1353312"/>
            <a:ext cx="2011680" cy="34747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1051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5E6E82"/>
                </a:solidFill>
                <a:latin typeface="Aptos"/>
              </a:defRPr>
            </a:pPr>
            <a:r>
              <a:t>Authentication, role selection, base navigation and database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325880" cy="50292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1156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359152"/>
            <a:ext cx="8138160" cy="347472"/>
          </a:xfrm>
          <a:prstGeom prst="roundRect">
            <a:avLst/>
          </a:prstGeom>
          <a:solidFill>
            <a:srgbClr val="E0F6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2359152"/>
            <a:ext cx="3474720" cy="34747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8163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5E6E82"/>
                </a:solidFill>
                <a:latin typeface="Aptos"/>
              </a:defRPr>
            </a:pPr>
            <a:r>
              <a:t>Doctor discovery, profile screens, slot creation and booking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1325880" cy="50292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96996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Sprint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3364992"/>
            <a:ext cx="8138160" cy="347472"/>
          </a:xfrm>
          <a:prstGeom prst="roundRect">
            <a:avLst/>
          </a:prstGeom>
          <a:solidFill>
            <a:srgbClr val="E0F6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31720" y="3364992"/>
            <a:ext cx="4937760" cy="34747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822191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5E6E82"/>
                </a:solidFill>
                <a:latin typeface="Aptos"/>
              </a:defRPr>
            </a:pPr>
            <a:r>
              <a:t>Chat, records, reports, ratings and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1325880" cy="502920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02836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Sprint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4370832"/>
            <a:ext cx="8138160" cy="347472"/>
          </a:xfrm>
          <a:prstGeom prst="roundRect">
            <a:avLst/>
          </a:prstGeom>
          <a:solidFill>
            <a:srgbClr val="E0F6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31720" y="4370832"/>
            <a:ext cx="6400800" cy="34747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8280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0">
                <a:solidFill>
                  <a:srgbClr val="5E6E82"/>
                </a:solidFill>
                <a:latin typeface="Aptos"/>
              </a:defRPr>
            </a:pPr>
            <a:r>
              <a:t>Video call, AI chat, maps, caching, deployment and polishing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86400"/>
            <a:ext cx="10332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552" y="5650992"/>
            <a:ext cx="128016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563270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Schedule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6080760"/>
            <a:ext cx="98755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Progress was tracked feature by feature: screen, API, database, integration and test.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Risky integration tasks were tested repeatedly on real devices and deployed backend.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Risk Management and RMMM 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842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731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 / Monitoring / Management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DB password/env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Validate .env, Docker compose and PM2 restart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MinIO access denied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Check bucket policy, public host and object keys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Network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Show graceful error and keep cached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Invalid FCM token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Delete stale tokens and re-register after login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Video call rendering 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Device testing, fallback states and controlled back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Requirement changes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Use modular design and iterative sprint changes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35331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33502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Learning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4800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30">
                <a:solidFill>
                  <a:srgbClr val="111827"/>
                </a:solidFill>
                <a:latin typeface="Aptos"/>
              </a:defRPr>
            </a:pPr>
            <a:r>
              <a:t>Applied requirements engineering from elicitation to validation and change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135331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33502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Learning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783080"/>
            <a:ext cx="4800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30">
                <a:solidFill>
                  <a:srgbClr val="111827"/>
                </a:solidFill>
                <a:latin typeface="Aptos"/>
              </a:defRPr>
            </a:pPr>
            <a:r>
              <a:t>Used UML-style use case, sequence, activity and state diagrams for design thinking.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9748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286207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843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Learning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291840"/>
            <a:ext cx="4800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30">
                <a:solidFill>
                  <a:srgbClr val="111827"/>
                </a:solidFill>
                <a:latin typeface="Aptos"/>
              </a:defRPr>
            </a:pPr>
            <a:r>
              <a:t>Designed relational schema and understood entity relationships in a real 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69748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286207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843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Learning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291840"/>
            <a:ext cx="4800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30">
                <a:solidFill>
                  <a:srgbClr val="111827"/>
                </a:solidFill>
                <a:latin typeface="Aptos"/>
              </a:defRPr>
            </a:pPr>
            <a:r>
              <a:t>Integrated Android frontend with deployed backend, database, file storage and realtime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0624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4370831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35254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Learning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00600"/>
            <a:ext cx="4800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30">
                <a:solidFill>
                  <a:srgbClr val="111827"/>
                </a:solidFill>
                <a:latin typeface="Aptos"/>
              </a:defRPr>
            </a:pPr>
            <a:r>
              <a:t>Handled practical deployment issues such as env variables, bucket policies, DB auth and PM2 logs.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20624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36792" y="4370831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35254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Learning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800600"/>
            <a:ext cx="4800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30">
                <a:solidFill>
                  <a:srgbClr val="111827"/>
                </a:solidFill>
                <a:latin typeface="Aptos"/>
              </a:defRPr>
            </a:pPr>
            <a:r>
              <a:t>Improved scenario-based testing mindset for crash prevention and offline behaviour.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Conclusion and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353312"/>
            <a:ext cx="128016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133502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MediSync successfully demonstrates a full-stack healthcare application for doctors and patients.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It supports appointment booking, schedule management, records, chat, video consultation, AI assistance, map location and notifications.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The project shows how software engineering concepts can be applied from requirements to design, implementation, testing and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2512" y="1353312"/>
            <a:ext cx="12801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33502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111827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78308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Payment gateway and invoice generation.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Digital prescriptions and medicine reminders.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Admin dashboard for clinics or hospitals.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Advanced analytics for doctor workload and patient records.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Improved security with audit logs, encryption and role-based access policies.</a:t>
            </a:r>
          </a:p>
          <a:p>
            <a:pPr>
              <a:spcAft>
                <a:spcPts val="300"/>
              </a:spcAft>
              <a:defRPr sz="1080">
                <a:solidFill>
                  <a:srgbClr val="111827"/>
                </a:solidFill>
                <a:latin typeface="Aptos"/>
              </a:defRPr>
            </a:pPr>
            <a:r>
              <a:t>More robust production monitoring and automated testing.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411480" cy="320040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71016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34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Aptos"/>
              </a:defRPr>
            </a:pPr>
            <a:r>
              <a:t>Unit 2: Requirements Engineering, elicitation, validation, management, state machine models and use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411480" cy="320040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4767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Aptos"/>
              </a:defRPr>
            </a:pPr>
            <a:r>
              <a:t>Unit 3: Architectural design, layered architecture, object-oriented design, sequence models and statecharts.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60904"/>
            <a:ext cx="411480" cy="320040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6090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Aptos"/>
              </a:defRPr>
            </a:pPr>
            <a:r>
              <a:t>Unit 4: Project management, W5HH, estimation, scheduling, risk identification and RMMM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74136"/>
            <a:ext cx="411480" cy="320040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10712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74136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Aptos"/>
              </a:defRPr>
            </a:pPr>
            <a:r>
              <a:t>Android Developers documentation for Kotlin, Jetpack Compose, Room and app architecture.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87368"/>
            <a:ext cx="411480" cy="320040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23944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8736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Aptos"/>
              </a:defRPr>
            </a:pPr>
            <a:r>
              <a:t>Node.js, Express.js, PostgreSQL, MinIO, WebSocket and Docker documentation.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00600"/>
            <a:ext cx="411480" cy="320040"/>
          </a:xfrm>
          <a:prstGeom prst="roundRect">
            <a:avLst/>
          </a:prstGeom>
          <a:solidFill>
            <a:srgbClr val="E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37176"/>
            <a:ext cx="4114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006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Aptos"/>
              </a:defRPr>
            </a:pPr>
            <a:r>
              <a:t>Firebase Cloud Messaging, Google Maps SDK and Gemini API documentation.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64739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E6E82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E6E82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